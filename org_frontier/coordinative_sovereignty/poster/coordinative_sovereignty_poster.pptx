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4572000"/>
          </a:xfrm>
          <a:prstGeom prst="rect">
            <a:avLst/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420624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000" b="1">
                <a:solidFill>
                  <a:srgbClr val="FFFFFF"/>
                </a:solidFill>
                <a:latin typeface="Arial"/>
              </a:rPr>
              <a:t>Protected but Unstanding: Coordinative Sovereignty and the Limits of Platform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320040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300" b="0">
                <a:solidFill>
                  <a:srgbClr val="EDF1F4"/>
                </a:solidFill>
                <a:latin typeface="Georgia"/>
              </a:rPr>
              <a:t>The standing to shape, contest, and share in governing an algorithmic mediation you cannot exit — the autonomy proper to being irreducibly coordinated.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0" y="3063240"/>
            <a:ext cx="10058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Roger Hunt</a:t>
            </a:r>
          </a:p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EDF1F4"/>
                </a:solidFill>
                <a:latin typeface="Arial"/>
              </a:rPr>
              <a:t>Bentley University · rhunt@bentley.edu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10104120" cy="694944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937760"/>
            <a:ext cx="10104120" cy="105156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04748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1 · The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6172200"/>
            <a:ext cx="9464040" cy="5486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16202E"/>
                </a:solidFill>
                <a:latin typeface="Georgia"/>
              </a:rPr>
              <a:t>Most coordination now runs through platforms. A driver reaches riders through an app, a seller reaches buyers through a marketplace, a developer reaches users through a store.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16202E"/>
                </a:solidFill>
                <a:latin typeface="Georgia"/>
              </a:rPr>
              <a:t>The platform stands between the parties and sets terms no one negotiated — it can rank, gate, price, and suspend. It is an </a:t>
            </a:r>
            <a:r>
              <a:rPr sz="2500" b="1">
                <a:solidFill>
                  <a:srgbClr val="C0692B"/>
                </a:solidFill>
                <a:latin typeface="Georgia"/>
              </a:rPr>
              <a:t>interested</a:t>
            </a:r>
            <a:r>
              <a:rPr sz="2500" b="0">
                <a:solidFill>
                  <a:srgbClr val="16202E"/>
                </a:solidFill>
                <a:latin typeface="Georgia"/>
              </a:rPr>
              <a:t> third party that reads both sides and commits outcomes neither controls.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2344400"/>
            <a:ext cx="10104120" cy="7955279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2344400"/>
            <a:ext cx="10104120" cy="105156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245412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2 · Compliance is not 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3578840"/>
            <a:ext cx="9464040" cy="6492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16202E"/>
                </a:solidFill>
                <a:latin typeface="Georgia"/>
              </a:rPr>
              <a:t>The reflex is to want the old autonomy back — to deal directly, unmediated. But the mediator often does integrating work the parties cannot reproduce alone. Remove it and you do not get an unmediated world; you dissolve the coordination.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16202E"/>
                </a:solidFill>
                <a:latin typeface="Georgia"/>
              </a:rPr>
              <a:t>So a firm can satisfy GDPR, the DMA, and the AI Act and remain strategically captured: </a:t>
            </a:r>
            <a:r>
              <a:rPr sz="2500" b="1">
                <a:solidFill>
                  <a:srgbClr val="C0692B"/>
                </a:solidFill>
                <a:latin typeface="Georgia"/>
              </a:rPr>
              <a:t>protected but unstanding.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16202E"/>
                </a:solidFill>
                <a:latin typeface="Georgia"/>
              </a:rPr>
              <a:t>Transparency shows a developer how it is ranked; it still cannot contest the algorithm that ranks it. The missing thing is not disclosure. It is </a:t>
            </a:r>
            <a:r>
              <a:rPr sz="2500" b="1">
                <a:solidFill>
                  <a:srgbClr val="1D6A96"/>
                </a:solidFill>
                <a:latin typeface="Georgia"/>
              </a:rPr>
              <a:t>standing.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0756880"/>
            <a:ext cx="10104120" cy="384048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0756880"/>
            <a:ext cx="10104120" cy="105156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086660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Where it stands in theory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1991320"/>
            <a:ext cx="94640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16202E"/>
                </a:solidFill>
                <a:latin typeface="Georgia"/>
              </a:rPr>
              <a:t>Builds on Pettit (non-domination), Nedelsky (relational autonomy), Markell (involvement), Ostrom (commons self-governance), and Hirschman (exit / voice).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16202E"/>
                </a:solidFill>
                <a:latin typeface="Georgia"/>
              </a:rPr>
              <a:t>It departs from each by making one question decidable: </a:t>
            </a:r>
            <a:r>
              <a:rPr sz="2200" b="1">
                <a:solidFill>
                  <a:srgbClr val="0E2A3F"/>
                </a:solidFill>
                <a:latin typeface="Georgia"/>
              </a:rPr>
              <a:t>which mediations can actually be exited.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67160" y="4937760"/>
            <a:ext cx="10104120" cy="676656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67160" y="4937760"/>
            <a:ext cx="10104120" cy="105156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41480" y="504748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3 · What coordinative sovereignty 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6172200"/>
            <a:ext cx="9464040" cy="5303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16202E"/>
                </a:solidFill>
                <a:latin typeface="Georgia"/>
              </a:rPr>
              <a:t>Not independence from the mediator, nor command of the infrastructure. It is </a:t>
            </a:r>
            <a:r>
              <a:rPr sz="2500" b="1">
                <a:solidFill>
                  <a:srgbClr val="1D6A96"/>
                </a:solidFill>
                <a:latin typeface="Georgia"/>
              </a:rPr>
              <a:t>standing within</a:t>
            </a:r>
            <a:r>
              <a:rPr sz="2500" b="0">
                <a:solidFill>
                  <a:srgbClr val="16202E"/>
                </a:solidFill>
                <a:latin typeface="Georgia"/>
              </a:rPr>
              <a:t> the coordination: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16202E"/>
                </a:solidFill>
                <a:latin typeface="Georgia"/>
              </a:rPr>
              <a:t>the power to shape the terms on which one is mediated, to contest the mediator’s arbitrary power, and to hold a share in governing the arrangement one cannot leave.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16202E"/>
                </a:solidFill>
                <a:latin typeface="Georgia"/>
              </a:rPr>
              <a:t>Its currency is </a:t>
            </a:r>
            <a:r>
              <a:rPr sz="2500" b="1">
                <a:solidFill>
                  <a:srgbClr val="1D6A96"/>
                </a:solidFill>
                <a:latin typeface="Georgia"/>
              </a:rPr>
              <a:t>voice made effective</a:t>
            </a:r>
            <a:r>
              <a:rPr sz="2500" b="0">
                <a:solidFill>
                  <a:srgbClr val="16202E"/>
                </a:solidFill>
                <a:latin typeface="Georgia"/>
              </a:rPr>
              <a:t> — terms that hold because coordinated actors have the standing to make them hold.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67160" y="12161520"/>
            <a:ext cx="10104120" cy="969264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67160" y="12161520"/>
            <a:ext cx="10104120" cy="105156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41480" y="1227124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4 · Not digital sovereignty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0" y="13395960"/>
            <a:ext cx="946404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16202E"/>
                </a:solidFill>
                <a:latin typeface="Georgia"/>
              </a:rPr>
              <a:t>Digital sovereignty asks who </a:t>
            </a:r>
            <a:r>
              <a:rPr sz="2200" b="1">
                <a:solidFill>
                  <a:srgbClr val="16202E"/>
                </a:solidFill>
                <a:latin typeface="Georgia"/>
              </a:rPr>
              <a:t>owns the infrastructure</a:t>
            </a:r>
            <a:r>
              <a:rPr sz="2200" b="0">
                <a:solidFill>
                  <a:srgbClr val="16202E"/>
                </a:solidFill>
                <a:latin typeface="Georgia"/>
              </a:rPr>
              <a:t>; coordinative sovereignty asks what </a:t>
            </a:r>
            <a:r>
              <a:rPr sz="2200" b="1">
                <a:solidFill>
                  <a:srgbClr val="1D6A96"/>
                </a:solidFill>
                <a:latin typeface="Georgia"/>
              </a:rPr>
              <a:t>standing</a:t>
            </a:r>
            <a:r>
              <a:rPr sz="2200" b="0">
                <a:solidFill>
                  <a:srgbClr val="16202E"/>
                </a:solidFill>
                <a:latin typeface="Georgia"/>
              </a:rPr>
              <a:t> the actor holds. They vary independently.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441680" y="15224759"/>
            <a:ext cx="3845052" cy="2496312"/>
          </a:xfrm>
          <a:prstGeom prst="rect">
            <a:avLst/>
          </a:prstGeom>
          <a:solidFill>
            <a:srgbClr val="EDF1F4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78840" y="15361919"/>
            <a:ext cx="3589020" cy="2240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16202E"/>
                </a:solidFill>
                <a:latin typeface="Arial"/>
              </a:rPr>
              <a:t>Firm on its own stack
(enterprise B2B)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96460" y="15224759"/>
            <a:ext cx="3845052" cy="2496312"/>
          </a:xfrm>
          <a:prstGeom prst="rect">
            <a:avLst/>
          </a:prstGeom>
          <a:solidFill>
            <a:srgbClr val="EDF1F4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533619" y="15361919"/>
            <a:ext cx="3589020" cy="2240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16202E"/>
                </a:solidFill>
                <a:latin typeface="Arial"/>
              </a:rPr>
              <a:t>EU Dir. 2024/2831 workers;
CoopCycle courier-members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441680" y="17830800"/>
            <a:ext cx="3845052" cy="2496312"/>
          </a:xfrm>
          <a:prstGeom prst="rect">
            <a:avLst/>
          </a:prstGeom>
          <a:solidFill>
            <a:srgbClr val="F3EFE7"/>
          </a:solidFill>
          <a:ln w="38100">
            <a:solidFill>
              <a:srgbClr val="C06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578840" y="17967960"/>
            <a:ext cx="3589020" cy="2240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C0692B"/>
                </a:solidFill>
                <a:latin typeface="Arial"/>
              </a:rPr>
              <a:t>App Store developer;
Amazon Marketplace seller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96460" y="17830800"/>
            <a:ext cx="3845052" cy="2496312"/>
          </a:xfrm>
          <a:prstGeom prst="rect">
            <a:avLst/>
          </a:prstGeom>
          <a:solidFill>
            <a:srgbClr val="EDF1F4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533619" y="17967960"/>
            <a:ext cx="3589020" cy="2240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16202E"/>
                </a:solidFill>
                <a:latin typeface="Arial"/>
              </a:rPr>
              <a:t>Solo gig courier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578840" y="17967960"/>
            <a:ext cx="3497580" cy="640080"/>
          </a:xfrm>
          <a:prstGeom prst="rect">
            <a:avLst/>
          </a:prstGeom>
          <a:solidFill>
            <a:srgbClr val="C06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578840" y="17995392"/>
            <a:ext cx="34975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← “protected but unstanding”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1680" y="20482560"/>
            <a:ext cx="7909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5A6B7B"/>
                </a:solidFill>
                <a:latin typeface="Arial"/>
              </a:rPr>
              <a:t>Digital sovereignty  →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11795760" y="15224759"/>
            <a:ext cx="1463040" cy="5212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5A6B7B"/>
                </a:solidFill>
                <a:latin typeface="Arial"/>
              </a:rPr>
              <a:t>Coordinative sovereignty  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567160" y="22311360"/>
            <a:ext cx="10104120" cy="283464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67160" y="22311360"/>
            <a:ext cx="10104120" cy="105156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41480" y="2242108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The precedent, enclosed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23545800"/>
            <a:ext cx="946404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16202E"/>
                </a:solidFill>
                <a:latin typeface="Georgia"/>
              </a:rPr>
              <a:t>Ostrom showed interdependent actors can govern a shared resource themselves. The platform is the shared resource — but </a:t>
            </a:r>
            <a:r>
              <a:rPr sz="2200" b="1">
                <a:solidFill>
                  <a:srgbClr val="C0692B"/>
                </a:solidFill>
                <a:latin typeface="Georgia"/>
              </a:rPr>
              <a:t>owned and enclosed.</a:t>
            </a:r>
            <a:r>
              <a:rPr sz="2200" b="0">
                <a:solidFill>
                  <a:srgbClr val="16202E"/>
                </a:solidFill>
                <a:latin typeface="Georgia"/>
              </a:rPr>
              <a:t> Coordinative sovereignty extends the precedent to a shared mediation.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219920" y="4937760"/>
            <a:ext cx="10104120" cy="585216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219920" y="4937760"/>
            <a:ext cx="10104120" cy="105156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494240" y="504748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5 · The mediated triad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260300" y="6263640"/>
            <a:ext cx="4023360" cy="1371600"/>
          </a:xfrm>
          <a:prstGeom prst="roundRect">
            <a:avLst/>
          </a:prstGeom>
          <a:solidFill>
            <a:srgbClr val="1D6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51740" y="6309360"/>
            <a:ext cx="384048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MEDIATOR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500" b="0">
                <a:solidFill>
                  <a:srgbClr val="EDF1F4"/>
                </a:solidFill>
                <a:latin typeface="Arial"/>
              </a:rPr>
              <a:t>reads both sides,
commits the outcome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631400" y="9464040"/>
            <a:ext cx="3291840" cy="123444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631400" y="9464040"/>
            <a:ext cx="32918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6202E"/>
                </a:solidFill>
                <a:latin typeface="Arial"/>
              </a:rPr>
              <a:t>WORKER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620720" y="9464040"/>
            <a:ext cx="3291840" cy="1234440"/>
          </a:xfrm>
          <a:prstGeom prst="roundRect">
            <a:avLst/>
          </a:prstGeom>
          <a:solidFill>
            <a:srgbClr val="EDF1F4"/>
          </a:solidFill>
          <a:ln w="12700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620720" y="9464040"/>
            <a:ext cx="329184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16202E"/>
                </a:solidFill>
                <a:latin typeface="Arial"/>
              </a:rPr>
              <a:t>COUNTERPART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24277320" y="7635240"/>
            <a:ext cx="1897380" cy="1828800"/>
          </a:xfrm>
          <a:prstGeom prst="line">
            <a:avLst/>
          </a:prstGeom>
          <a:ln w="31750">
            <a:solidFill>
              <a:srgbClr val="162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8369260" y="7635240"/>
            <a:ext cx="1897380" cy="1828800"/>
          </a:xfrm>
          <a:prstGeom prst="line">
            <a:avLst/>
          </a:prstGeom>
          <a:ln w="31750">
            <a:solidFill>
              <a:srgbClr val="162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5923240" y="10076688"/>
            <a:ext cx="2697480" cy="0"/>
          </a:xfrm>
          <a:prstGeom prst="line">
            <a:avLst/>
          </a:prstGeom>
          <a:ln w="31750">
            <a:solidFill>
              <a:srgbClr val="B6BEC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5923240" y="10149840"/>
            <a:ext cx="2697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5A6B7B"/>
                </a:solidFill>
                <a:latin typeface="Arial"/>
              </a:rPr>
              <a:t>direct tie the platform forbids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219920" y="11155680"/>
            <a:ext cx="10104120" cy="1243584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219920" y="11155680"/>
            <a:ext cx="10104120" cy="105156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494240" y="11265407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The test: necessary vs contingent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539960" y="12390119"/>
            <a:ext cx="946404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16202E"/>
                </a:solidFill>
                <a:latin typeface="Georgia"/>
              </a:rPr>
              <a:t>Run the </a:t>
            </a:r>
            <a:r>
              <a:rPr sz="2400" b="1">
                <a:solidFill>
                  <a:srgbClr val="16202E"/>
                </a:solidFill>
                <a:latin typeface="Georgia"/>
              </a:rPr>
              <a:t>bypass counterfactual</a:t>
            </a:r>
            <a:r>
              <a:rPr sz="2400" b="0">
                <a:solidFill>
                  <a:srgbClr val="16202E"/>
                </a:solidFill>
                <a:latin typeface="Georgia"/>
              </a:rPr>
              <a:t>: restore the forbidden direct tie and recompute. What happens to the coordination tells you which sovereignty is even available.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163020" y="14859000"/>
            <a:ext cx="6217920" cy="1097280"/>
          </a:xfrm>
          <a:prstGeom prst="roundRect">
            <a:avLst/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163020" y="14859000"/>
            <a:ext cx="62179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Restore the forbidden tie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271980" y="15956280"/>
            <a:ext cx="0" cy="640079"/>
          </a:xfrm>
          <a:prstGeom prst="line">
            <a:avLst/>
          </a:prstGeom>
          <a:ln w="31750">
            <a:solidFill>
              <a:srgbClr val="162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5000610" y="16596359"/>
            <a:ext cx="2271370" cy="0"/>
          </a:xfrm>
          <a:prstGeom prst="line">
            <a:avLst/>
          </a:prstGeom>
          <a:ln w="31750">
            <a:solidFill>
              <a:srgbClr val="162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271980" y="16596359"/>
            <a:ext cx="2271369" cy="0"/>
          </a:xfrm>
          <a:prstGeom prst="line">
            <a:avLst/>
          </a:prstGeom>
          <a:ln w="31750">
            <a:solidFill>
              <a:srgbClr val="162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5000610" y="16596359"/>
            <a:ext cx="0" cy="457201"/>
          </a:xfrm>
          <a:prstGeom prst="line">
            <a:avLst/>
          </a:prstGeom>
          <a:ln w="31750">
            <a:solidFill>
              <a:srgbClr val="1D6A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9543349" y="16596359"/>
            <a:ext cx="0" cy="457201"/>
          </a:xfrm>
          <a:prstGeom prst="line">
            <a:avLst/>
          </a:prstGeom>
          <a:ln w="31750">
            <a:solidFill>
              <a:srgbClr val="C06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22714610" y="17145000"/>
            <a:ext cx="4572000" cy="1371600"/>
          </a:xfrm>
          <a:prstGeom prst="roundRect">
            <a:avLst/>
          </a:prstGeom>
          <a:solidFill>
            <a:srgbClr val="1D6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714610" y="17145000"/>
            <a:ext cx="457200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800" b="0">
                <a:solidFill>
                  <a:srgbClr val="EDF1F4"/>
                </a:solidFill>
                <a:latin typeface="Arial"/>
              </a:rPr>
              <a:t>Still binds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NECESSARY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5000610" y="18516600"/>
            <a:ext cx="0" cy="457200"/>
          </a:xfrm>
          <a:prstGeom prst="line">
            <a:avLst/>
          </a:prstGeom>
          <a:ln w="31750">
            <a:solidFill>
              <a:srgbClr val="1D6A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22623170" y="19065240"/>
            <a:ext cx="4754880" cy="2011680"/>
          </a:xfrm>
          <a:prstGeom prst="roundRect">
            <a:avLst/>
          </a:prstGeom>
          <a:solidFill>
            <a:srgbClr val="FCFBF8"/>
          </a:solidFill>
          <a:ln w="31750">
            <a:solidFill>
              <a:srgbClr val="1D6A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760330" y="19156680"/>
            <a:ext cx="4480560" cy="1828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1D6A96"/>
                </a:solidFill>
                <a:latin typeface="Arial"/>
              </a:rPr>
              <a:t>Only VOICE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0">
                <a:solidFill>
                  <a:srgbClr val="16202E"/>
                </a:solidFill>
                <a:latin typeface="Arial"/>
              </a:rPr>
              <a:t>contest the terms · share the governance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257349" y="17145000"/>
            <a:ext cx="4572000" cy="1371600"/>
          </a:xfrm>
          <a:prstGeom prst="roundRect">
            <a:avLst/>
          </a:prstGeom>
          <a:solidFill>
            <a:srgbClr val="C06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257349" y="17145000"/>
            <a:ext cx="457200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800" b="0">
                <a:solidFill>
                  <a:srgbClr val="F3EFE7"/>
                </a:solidFill>
                <a:latin typeface="Arial"/>
              </a:rPr>
              <a:t>Dissolves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CONTINGENT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9543349" y="18516600"/>
            <a:ext cx="0" cy="457200"/>
          </a:xfrm>
          <a:prstGeom prst="line">
            <a:avLst/>
          </a:prstGeom>
          <a:ln w="31750">
            <a:solidFill>
              <a:srgbClr val="C06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7165909" y="19065240"/>
            <a:ext cx="4754880" cy="2011680"/>
          </a:xfrm>
          <a:prstGeom prst="roundRect">
            <a:avLst/>
          </a:prstGeom>
          <a:solidFill>
            <a:srgbClr val="FCFBF8"/>
          </a:solidFill>
          <a:ln w="31750">
            <a:solidFill>
              <a:srgbClr val="C06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303069" y="19156680"/>
            <a:ext cx="4480560" cy="1828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C0692B"/>
                </a:solidFill>
                <a:latin typeface="Arial"/>
              </a:rPr>
              <a:t>EXIT available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0">
                <a:solidFill>
                  <a:srgbClr val="16202E"/>
                </a:solidFill>
                <a:latin typeface="Arial"/>
              </a:rPr>
              <a:t>interoperate · sideload · deregulate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539960" y="21259800"/>
            <a:ext cx="9464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5A6B7B"/>
                </a:solidFill>
                <a:latin typeface="Arial"/>
              </a:rPr>
              <a:t>Partial → mixed remedy. </a:t>
            </a:r>
            <a:r>
              <a:rPr sz="1800" b="0">
                <a:solidFill>
                  <a:srgbClr val="5A6B7B"/>
                </a:solidFill>
                <a:latin typeface="Arial"/>
              </a:rPr>
              <a:t>Exit maps to bypassability; voice, to necessity (Hirschman).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219920" y="23957280"/>
            <a:ext cx="10104120" cy="585216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2219920" y="23957280"/>
            <a:ext cx="10104120" cy="105156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494240" y="2406700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6 · Receipts, on formal models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539960" y="25191720"/>
            <a:ext cx="310896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000" b="1">
                <a:solidFill>
                  <a:srgbClr val="1D6A96"/>
                </a:solidFill>
                <a:latin typeface="Arial"/>
              </a:rPr>
              <a:t>115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2400" b="1">
                <a:solidFill>
                  <a:srgbClr val="1D6A96"/>
                </a:solidFill>
                <a:latin typeface="Arial"/>
              </a:rPr>
              <a:t>of 115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740360" y="25283160"/>
            <a:ext cx="62636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16202E"/>
                </a:solidFill>
                <a:latin typeface="Georgia"/>
              </a:rPr>
              <a:t>sampled coordination forms: the single mediator is the pivotal party — the veto player and Shapley-argmax.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539960" y="27477720"/>
            <a:ext cx="94640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16202E"/>
                </a:solidFill>
                <a:latin typeface="Georgia"/>
              </a:rPr>
              <a:t>Mediator’s Shapley share ≈ </a:t>
            </a:r>
            <a:r>
              <a:rPr sz="2100" b="1">
                <a:solidFill>
                  <a:srgbClr val="1D6A96"/>
                </a:solidFill>
                <a:latin typeface="Georgia"/>
              </a:rPr>
              <a:t>two-thirds</a:t>
            </a:r>
            <a:r>
              <a:rPr sz="2100" b="0">
                <a:solidFill>
                  <a:srgbClr val="16202E"/>
                </a:solidFill>
                <a:latin typeface="Georgia"/>
              </a:rPr>
              <a:t> (read-recipient triad), a little over </a:t>
            </a:r>
            <a:r>
              <a:rPr sz="2100" b="1">
                <a:solidFill>
                  <a:srgbClr val="1D6A96"/>
                </a:solidFill>
                <a:latin typeface="Georgia"/>
              </a:rPr>
              <a:t>half</a:t>
            </a:r>
            <a:r>
              <a:rPr sz="2100" b="0">
                <a:solidFill>
                  <a:srgbClr val="16202E"/>
                </a:solidFill>
                <a:latin typeface="Georgia"/>
              </a:rPr>
              <a:t> (structured triads). Standing = Shapley pivotality; security = core membership.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539960" y="28849320"/>
            <a:ext cx="94640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5A6B7B"/>
                </a:solidFill>
                <a:latin typeface="Georgia"/>
              </a:rPr>
              <a:t>Computed on Boolean / integrated-information coordination games — not firms or workers. The apparatus explores irreducibility; the open next step is a case where the causal test and a cheap substitutability check diverge.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872680" y="4937760"/>
            <a:ext cx="10104120" cy="1042416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2872680" y="4937760"/>
            <a:ext cx="10104120" cy="105156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3147000" y="504748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7 · Four platforms, decomposed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192720" y="6172200"/>
            <a:ext cx="946404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16202E"/>
                </a:solidFill>
                <a:latin typeface="Georgia"/>
              </a:rPr>
              <a:t>Dependence is not monolithic. Split a platform into </a:t>
            </a:r>
            <a:r>
              <a:rPr sz="2400" b="1">
                <a:solidFill>
                  <a:srgbClr val="16202E"/>
                </a:solidFill>
                <a:latin typeface="Georgia"/>
              </a:rPr>
              <a:t>functions</a:t>
            </a:r>
            <a:r>
              <a:rPr sz="2400" b="0">
                <a:solidFill>
                  <a:srgbClr val="16202E"/>
                </a:solidFill>
                <a:latin typeface="Georgia"/>
              </a:rPr>
              <a:t>, classify each, and aim remedies </a:t>
            </a:r>
            <a:r>
              <a:rPr sz="2400" b="1">
                <a:solidFill>
                  <a:srgbClr val="C0692B"/>
                </a:solidFill>
                <a:latin typeface="Georgia"/>
              </a:rPr>
              <a:t>function, not firm.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192720" y="7726679"/>
            <a:ext cx="2839212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5A6B7B"/>
                </a:solidFill>
                <a:latin typeface="Arial"/>
              </a:rPr>
              <a:t>Actor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031932" y="7726679"/>
            <a:ext cx="340705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1D6A96"/>
                </a:solidFill>
                <a:latin typeface="Arial"/>
              </a:rPr>
              <a:t>Necessary → VOICE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438986" y="7726679"/>
            <a:ext cx="3217773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C0692B"/>
                </a:solidFill>
                <a:latin typeface="Arial"/>
              </a:rPr>
              <a:t>Contingent → EXIT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192720" y="8366759"/>
            <a:ext cx="9464040" cy="1371600"/>
          </a:xfrm>
          <a:prstGeom prst="rect">
            <a:avLst/>
          </a:prstGeom>
          <a:noFill/>
          <a:ln w="952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3284160" y="8458199"/>
            <a:ext cx="2747772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6202E"/>
                </a:solidFill>
                <a:latin typeface="Arial"/>
              </a:rPr>
              <a:t>Gig / ride-hail driver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123372" y="8458199"/>
            <a:ext cx="3269894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1D6A96"/>
                </a:solidFill>
                <a:latin typeface="Georgia"/>
              </a:rPr>
              <a:t>real-time matching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530426" y="8458199"/>
            <a:ext cx="3080613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C0692B"/>
                </a:solidFill>
                <a:latin typeface="Georgia"/>
              </a:rPr>
              <a:t>the rider–driver relationship gate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3192720" y="9738359"/>
            <a:ext cx="9464040" cy="1371600"/>
          </a:xfrm>
          <a:prstGeom prst="rect">
            <a:avLst/>
          </a:prstGeom>
          <a:noFill/>
          <a:ln w="952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3284160" y="9829799"/>
            <a:ext cx="2747772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6202E"/>
                </a:solidFill>
                <a:latin typeface="Arial"/>
              </a:rPr>
              <a:t>App developer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123372" y="9829799"/>
            <a:ext cx="3269894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1D6A96"/>
                </a:solidFill>
                <a:latin typeface="Georgia"/>
              </a:rPr>
              <a:t>distribution + review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530426" y="9829799"/>
            <a:ext cx="3080613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C0692B"/>
                </a:solidFill>
                <a:latin typeface="Georgia"/>
              </a:rPr>
              <a:t>in-app-payment gate (Apple fined €500M, 2025)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192720" y="11109959"/>
            <a:ext cx="9464040" cy="1371600"/>
          </a:xfrm>
          <a:prstGeom prst="rect">
            <a:avLst/>
          </a:prstGeom>
          <a:noFill/>
          <a:ln w="952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284160" y="11201399"/>
            <a:ext cx="2747772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6202E"/>
                </a:solidFill>
                <a:latin typeface="Arial"/>
              </a:rPr>
              <a:t>Marketplace seller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123372" y="11201399"/>
            <a:ext cx="3269894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1D6A96"/>
                </a:solidFill>
                <a:latin typeface="Georgia"/>
              </a:rPr>
              <a:t>fulfillment; demand-match (partial)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530426" y="11201399"/>
            <a:ext cx="3080613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C0692B"/>
                </a:solidFill>
                <a:latin typeface="Georgia"/>
              </a:rPr>
              <a:t>placement / Buy-Box toll; resale reducible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192720" y="12481559"/>
            <a:ext cx="9464040" cy="1371600"/>
          </a:xfrm>
          <a:prstGeom prst="rect">
            <a:avLst/>
          </a:prstGeom>
          <a:noFill/>
          <a:ln w="952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3284160" y="12572999"/>
            <a:ext cx="2747772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6202E"/>
                </a:solidFill>
                <a:latin typeface="Arial"/>
              </a:rPr>
              <a:t>Citizen in a feed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123372" y="12572999"/>
            <a:ext cx="3269894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1D6A96"/>
                </a:solidFill>
                <a:latin typeface="Georgia"/>
              </a:rPr>
              <a:t>engagement-tuned ranking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530426" y="12572999"/>
            <a:ext cx="3080613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C0692B"/>
                </a:solidFill>
                <a:latin typeface="Georgia"/>
              </a:rPr>
              <a:t>(least developed — open)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192720" y="14173199"/>
            <a:ext cx="9464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16202E"/>
                </a:solidFill>
                <a:latin typeface="Arial"/>
              </a:rPr>
              <a:t>One platform, one bar (App Store):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3192720" y="14721839"/>
            <a:ext cx="2225649" cy="1005840"/>
          </a:xfrm>
          <a:prstGeom prst="rect">
            <a:avLst/>
          </a:prstGeom>
          <a:solidFill>
            <a:srgbClr val="1D6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192720" y="14767559"/>
            <a:ext cx="2225649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Distribution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5464089" y="14721839"/>
            <a:ext cx="1468526" cy="1005840"/>
          </a:xfrm>
          <a:prstGeom prst="rect">
            <a:avLst/>
          </a:prstGeom>
          <a:solidFill>
            <a:srgbClr val="1D6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5464089" y="14767559"/>
            <a:ext cx="1468526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978336" y="14721839"/>
            <a:ext cx="2225649" cy="1005840"/>
          </a:xfrm>
          <a:prstGeom prst="rect">
            <a:avLst/>
          </a:prstGeom>
          <a:solidFill>
            <a:srgbClr val="C06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978336" y="14767559"/>
            <a:ext cx="2225649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Payment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9249705" y="14721839"/>
            <a:ext cx="2036368" cy="1005840"/>
          </a:xfrm>
          <a:prstGeom prst="rect">
            <a:avLst/>
          </a:prstGeom>
          <a:solidFill>
            <a:srgbClr val="C06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9249705" y="14767559"/>
            <a:ext cx="2036368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Buy-Box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331794" y="14721839"/>
            <a:ext cx="1279245" cy="1005840"/>
          </a:xfrm>
          <a:prstGeom prst="rect">
            <a:avLst/>
          </a:prstGeom>
          <a:solidFill>
            <a:srgbClr val="B6B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331794" y="14767559"/>
            <a:ext cx="1279245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Resale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192720" y="15819119"/>
            <a:ext cx="9464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1D6A96"/>
                </a:solidFill>
                <a:latin typeface="Arial"/>
              </a:rPr>
              <a:t>■ voice </a:t>
            </a:r>
            <a:r>
              <a:rPr sz="1600" b="0">
                <a:solidFill>
                  <a:srgbClr val="5A6B7B"/>
                </a:solidFill>
                <a:latin typeface="Arial"/>
              </a:rPr>
              <a:t>(necessary)   </a:t>
            </a:r>
            <a:r>
              <a:rPr sz="1600" b="1">
                <a:solidFill>
                  <a:srgbClr val="C0692B"/>
                </a:solidFill>
                <a:latin typeface="Arial"/>
              </a:rPr>
              <a:t>■ exit </a:t>
            </a:r>
            <a:r>
              <a:rPr sz="1600" b="0">
                <a:solidFill>
                  <a:srgbClr val="5A6B7B"/>
                </a:solidFill>
                <a:latin typeface="Arial"/>
              </a:rPr>
              <a:t>(contingent)   </a:t>
            </a:r>
            <a:r>
              <a:rPr sz="1600" b="1">
                <a:solidFill>
                  <a:srgbClr val="B6BEC6"/>
                </a:solidFill>
                <a:latin typeface="Arial"/>
              </a:rPr>
              <a:t>■ drop </a:t>
            </a:r>
            <a:r>
              <a:rPr sz="1600" b="0">
                <a:solidFill>
                  <a:srgbClr val="5A6B7B"/>
                </a:solidFill>
                <a:latin typeface="Arial"/>
              </a:rPr>
              <a:t>(reducible)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872680" y="15819120"/>
            <a:ext cx="10104120" cy="713232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2872680" y="15819120"/>
            <a:ext cx="10104120" cy="105156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147000" y="1592884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8 · For business ethics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192720" y="17053560"/>
            <a:ext cx="9464040" cy="56692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C0692B"/>
                </a:solidFill>
                <a:latin typeface="Georgia"/>
              </a:rPr>
              <a:t>Platform governance: </a:t>
            </a:r>
            <a:r>
              <a:rPr sz="2400" b="0">
                <a:solidFill>
                  <a:srgbClr val="16202E"/>
                </a:solidFill>
                <a:latin typeface="Georgia"/>
              </a:rPr>
              <a:t>shift the target from transparency to </a:t>
            </a:r>
            <a:r>
              <a:rPr sz="2400" b="1">
                <a:solidFill>
                  <a:srgbClr val="1D6A96"/>
                </a:solidFill>
                <a:latin typeface="Georgia"/>
              </a:rPr>
              <a:t>standing and contestability.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C0692B"/>
                </a:solidFill>
                <a:latin typeface="Georgia"/>
              </a:rPr>
              <a:t>Stakeholder theory: </a:t>
            </a:r>
            <a:r>
              <a:rPr sz="2400" b="0">
                <a:solidFill>
                  <a:srgbClr val="16202E"/>
                </a:solidFill>
                <a:latin typeface="Georgia"/>
              </a:rPr>
              <a:t>disaggregate a platform’s power into necessary and contingent functions, then aim exit and voice where each can work.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C0692B"/>
                </a:solidFill>
                <a:latin typeface="Georgia"/>
              </a:rPr>
              <a:t>Worker voice: </a:t>
            </a:r>
            <a:r>
              <a:rPr sz="2400" b="0">
                <a:solidFill>
                  <a:srgbClr val="16202E"/>
                </a:solidFill>
                <a:latin typeface="Georgia"/>
              </a:rPr>
              <a:t>grounds the EU Platform Work Directive 2024/2831 as coordinative sovereignty — and says when co-ops, bargaining, and data trusts actually raise standing.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2872680" y="23408640"/>
            <a:ext cx="10104120" cy="3108960"/>
          </a:xfrm>
          <a:prstGeom prst="rect">
            <a:avLst/>
          </a:prstGeom>
          <a:solidFill>
            <a:srgbClr val="FCFBF8"/>
          </a:solidFill>
          <a:ln w="15875">
            <a:solidFill>
              <a:srgbClr val="C9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2872680" y="23408640"/>
            <a:ext cx="10104120" cy="1051560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3147000" y="23518368"/>
            <a:ext cx="95554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0E2A3F"/>
                </a:solidFill>
                <a:latin typeface="Arial"/>
              </a:rPr>
              <a:t>9 · Status &amp; next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192720" y="24643080"/>
            <a:ext cx="9464040" cy="164591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16202E"/>
                </a:solidFill>
                <a:latin typeface="Georgia"/>
              </a:rPr>
              <a:t>A construct, a diagnostic validated on coordination </a:t>
            </a:r>
            <a:r>
              <a:rPr sz="2000" b="1">
                <a:solidFill>
                  <a:srgbClr val="16202E"/>
                </a:solidFill>
                <a:latin typeface="Georgia"/>
              </a:rPr>
              <a:t>models</a:t>
            </a:r>
            <a:r>
              <a:rPr sz="2000" b="0">
                <a:solidFill>
                  <a:srgbClr val="16202E"/>
                </a:solidFill>
                <a:latin typeface="Georgia"/>
              </a:rPr>
              <a:t>, and a </a:t>
            </a:r>
            <a:r>
              <a:rPr sz="2000" b="1">
                <a:solidFill>
                  <a:srgbClr val="C0692B"/>
                </a:solidFill>
                <a:latin typeface="Georgia"/>
              </a:rPr>
              <a:t>proposed</a:t>
            </a:r>
            <a:r>
              <a:rPr sz="2000" b="0">
                <a:solidFill>
                  <a:srgbClr val="16202E"/>
                </a:solidFill>
                <a:latin typeface="Georgia"/>
              </a:rPr>
              <a:t> 18-item voice scale (non-domination · effective voice · governance share) awaiting validation. Next: field the scale; find the case that separates the causal test from mere substitutability.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31089600"/>
            <a:ext cx="43891200" cy="1828800"/>
          </a:xfrm>
          <a:prstGeom prst="rect">
            <a:avLst/>
          </a:prstGeom>
          <a:solidFill>
            <a:srgbClr val="0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14400" y="31226760"/>
            <a:ext cx="36118800" cy="1645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EDF1F4"/>
                </a:solidFill>
                <a:latin typeface="Arial"/>
              </a:rPr>
              <a:t>Selected references: </a:t>
            </a:r>
            <a:r>
              <a:rPr sz="1700" b="0">
                <a:solidFill>
                  <a:srgbClr val="FFFFFF"/>
                </a:solidFill>
                <a:latin typeface="Arial"/>
              </a:rPr>
              <a:t>Hirschman 1970 · Pettit 1997 · Nedelsky 2011 · Markell 2003 · Ostrom 1990 · Spreitzer 1995 · EU Directive 2024/2831.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EDF1F4"/>
                </a:solidFill>
                <a:latin typeface="Arial"/>
              </a:rPr>
              <a:t>Full paper + formal appendix on request · rhunt@bentley.edu</a:t>
            </a:r>
          </a:p>
        </p:txBody>
      </p:sp>
      <p:pic>
        <p:nvPicPr>
          <p:cNvPr id="130" name="Picture 129" descr="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0" y="31318200"/>
            <a:ext cx="1371600" cy="137160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37124640" y="31546800"/>
            <a:ext cx="4297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EDF1F4"/>
                </a:solidFill>
                <a:latin typeface="Arial"/>
              </a:rPr>
              <a:t>scan for the paper</a:t>
            </a:r>
          </a:p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Arial"/>
              </a:rPr>
              <a:t>(placeholder — replace)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