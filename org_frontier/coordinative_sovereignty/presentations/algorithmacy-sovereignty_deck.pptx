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paper: compliance with Europe's digital regulation does not secure a firm's strategic position on platforms. The chapter proposes a new competence, algorithmacy, and a new form of autonomy, coordinative sovereignty.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firm can meet every requirement of GDPR, the AI Act, the DMA, the DSA, and NIS2 and still be strategically helpless. Compliance governs data handling; market position is determined inside algorithmic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historical form of sovereignty was paired with a communicative sensibility. Oracy for the oral order, literacy for the literate state, and now algorithmacy for the platform era. Each sensibility is nested on the last.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Digital sovereignty is the literate sensibility carried into the digital domain. Its instruments render objects legible. The chapter's claim: platform coordination is a change in kind that reading cannot govern.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coordination logic is old, the topology is old. What is new is the conjunction: the mediator is opaque, and it is interested and adaptive. The coordinated actor is co-opted — enrolled without delegated authority or negotiated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structural reasons: opacity survives disclosure; transparency without standing produces no accountability; the dependent actors have no leverage; and text-driven law stops short of the layer where the platform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Algorithmacy has three parts: inferential, translational, temporal. It is what algorithmic literacy becomes when your own conduct is a variable the system optimizes. The competence is unevenly held, and opacity is a rent-preserving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Restore the forbidden direct tie and recompute. A mediator that loses its grip is contingent — exit is available. One that keeps its grip is necessary — only voice remains. A platform is a portfolio of both kinds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definition: coordinative sovereignty is the autonomy proper to being irreducibly coordinated. Its currency is effective voice. It rests on non-domination, relational autonomy, involvement, and commons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scholars: two constructs, measured separately. For managers: diagnose each platform function — exit against contingent gates, voice against necessary ones. For policymakers: build standing, not just legibility.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framing question: whether algorithmacy can be democratized as literacy was, or stays concentrated among a new constitutive priesthood. Point the audience to the full paper at www.algorithmacy.org.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4500" y="3102769"/>
            <a:ext cx="163449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34" kern="0" dirty="0">
                <a:solidFill>
                  <a:srgbClr val="B208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SOCIETY OF BUSINESS ETHICS · ANNUAL MEETING 2026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1714500" y="5669756"/>
            <a:ext cx="14859000" cy="28575"/>
          </a:xfrm>
          <a:prstGeom prst="rect">
            <a:avLst/>
          </a:prstGeom>
          <a:solidFill>
            <a:srgbClr val="162C4A"/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3650456"/>
            <a:ext cx="15304770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149"/>
              </a:lnSpc>
              <a:buNone/>
            </a:pPr>
            <a:r>
              <a:rPr lang="en-US" sz="5700" b="1" dirty="0">
                <a:solidFill>
                  <a:srgbClr val="162C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Algorithmacy and Sovereignty: Toward a Coordinative Sovereignty for the Platform Era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714500" y="6403181"/>
            <a:ext cx="755296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92"/>
              </a:lnSpc>
              <a:buNone/>
            </a:pPr>
            <a:r>
              <a:rPr lang="en-US" sz="2550" i="1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Roger Hunt · Bentley University · rhunt@bentley.edu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808223" y="6472238"/>
            <a:ext cx="263304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2C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www.algorithmacy.org</a:t>
            </a:r>
            <a:endParaRPr lang="en-US" sz="1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0500" y="6041231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1638300"/>
            <a:ext cx="15240000" cy="9525"/>
          </a:xfrm>
          <a:prstGeom prst="rect">
            <a:avLst/>
          </a:prstGeom>
          <a:solidFill>
            <a:srgbClr val="162C4A"/>
          </a:solidFill>
          <a:ln/>
        </p:spPr>
      </p:sp>
      <p:sp>
        <p:nvSpPr>
          <p:cNvPr id="3" name="Text 1"/>
          <p:cNvSpPr/>
          <p:nvPr/>
        </p:nvSpPr>
        <p:spPr>
          <a:xfrm>
            <a:off x="1524000" y="857250"/>
            <a:ext cx="167640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62C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The gap: compliant, yet strategically helpless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1524000" y="2066925"/>
            <a:ext cx="15697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24"/>
              </a:lnSpc>
              <a:buNone/>
            </a:pPr>
            <a:r>
              <a:rPr lang="en-US" sz="2400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firm can satisfy every requirement of Europe's digital regulation — GDPR, AI Act, DMA, DSA, NIS2 — and remain strategically helpless.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24000" y="3248025"/>
            <a:ext cx="1683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373"/>
              </a:lnSpc>
              <a:buNone/>
            </a:pPr>
            <a:r>
              <a:rPr lang="en-US" sz="2175" b="1" dirty="0">
                <a:solidFill>
                  <a:srgbClr val="B208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1806625" y="3248025"/>
            <a:ext cx="989673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373"/>
              </a:lnSpc>
              <a:buNone/>
            </a:pPr>
            <a:r>
              <a:rPr lang="en-US" sz="2175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compliant marketplace seller watches sales collapse when the ranking changes.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1524000" y="3876675"/>
            <a:ext cx="1683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373"/>
              </a:lnSpc>
              <a:buNone/>
            </a:pPr>
            <a:r>
              <a:rPr lang="en-US" sz="2175" b="1" dirty="0">
                <a:solidFill>
                  <a:srgbClr val="B208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1806625" y="3876675"/>
            <a:ext cx="1407357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373"/>
              </a:lnSpc>
              <a:buNone/>
            </a:pPr>
            <a:r>
              <a:rPr lang="en-US" sz="2175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developer in full compliance cannot see, predict, or contest the store decisions that determine its customer access.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1524000" y="4505325"/>
            <a:ext cx="1683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373"/>
              </a:lnSpc>
              <a:buNone/>
            </a:pPr>
            <a:r>
              <a:rPr lang="en-US" sz="2175" b="1" dirty="0">
                <a:solidFill>
                  <a:srgbClr val="B208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806625" y="4505325"/>
            <a:ext cx="1237695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373"/>
              </a:lnSpc>
              <a:buNone/>
            </a:pPr>
            <a:r>
              <a:rPr lang="en-US" sz="2175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creator obeys every policy and loses an audience to a recommendation change announced nowhere.</a:t>
            </a:r>
            <a:endParaRPr lang="en-US" sz="2175" dirty="0"/>
          </a:p>
        </p:txBody>
      </p:sp>
      <p:sp>
        <p:nvSpPr>
          <p:cNvPr id="11" name="Shape 9"/>
          <p:cNvSpPr/>
          <p:nvPr/>
        </p:nvSpPr>
        <p:spPr>
          <a:xfrm>
            <a:off x="1524000" y="5286375"/>
            <a:ext cx="38100" cy="876300"/>
          </a:xfrm>
          <a:prstGeom prst="rect">
            <a:avLst/>
          </a:prstGeom>
          <a:solidFill>
            <a:srgbClr val="B20812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5286375"/>
            <a:ext cx="153924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24"/>
              </a:lnSpc>
              <a:buNone/>
            </a:pPr>
            <a:r>
              <a:rPr lang="en-US" sz="2400" b="1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Compliance governs how actors handle data. </a:t>
            </a:r>
            <a:pPr algn="l" indent="0" marL="0">
              <a:lnSpc>
                <a:spcPct val="124324"/>
              </a:lnSpc>
              <a:buNone/>
            </a:pPr>
            <a:r>
              <a:rPr lang="en-US" sz="2400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Their market positions are determined inside algorithmic systems that decide what to surface and what to bury.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1543050"/>
            <a:ext cx="15240000" cy="9525"/>
          </a:xfrm>
          <a:prstGeom prst="rect">
            <a:avLst/>
          </a:prstGeom>
          <a:solidFill>
            <a:srgbClr val="162C4A"/>
          </a:solidFill>
          <a:ln/>
        </p:spPr>
      </p:sp>
      <p:sp>
        <p:nvSpPr>
          <p:cNvPr id="3" name="Text 1"/>
          <p:cNvSpPr/>
          <p:nvPr/>
        </p:nvSpPr>
        <p:spPr>
          <a:xfrm>
            <a:off x="1524000" y="762000"/>
            <a:ext cx="167640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62C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sensibilities, three sovereignties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1524000" y="1743075"/>
            <a:ext cx="15697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historical form of sovereignty was paired with a </a:t>
            </a:r>
            <a:pPr algn="l" indent="0" marL="0">
              <a:lnSpc>
                <a:spcPct val="125000"/>
              </a:lnSpc>
              <a:buNone/>
            </a:pPr>
            <a:r>
              <a:rPr lang="en-US" sz="2100" i="1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communicative sensibility 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a competence for handling the medium through which authority is exercised and contested.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38500" y="2619375"/>
            <a:ext cx="11811000" cy="69056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3548063"/>
            <a:ext cx="15240000" cy="9525"/>
          </a:xfrm>
          <a:prstGeom prst="rect">
            <a:avLst/>
          </a:prstGeom>
          <a:solidFill>
            <a:srgbClr val="162C4A"/>
          </a:solidFill>
          <a:ln/>
        </p:spPr>
      </p:sp>
      <p:sp>
        <p:nvSpPr>
          <p:cNvPr id="3" name="Text 1"/>
          <p:cNvSpPr/>
          <p:nvPr/>
        </p:nvSpPr>
        <p:spPr>
          <a:xfrm>
            <a:off x="1524000" y="2767013"/>
            <a:ext cx="167640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62C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Digital sovereignty is extended literacy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1524000" y="3976687"/>
            <a:ext cx="156972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Its instruments — classification, documentation, disclosure, data-subject rights — govern by rendering the digital object </a:t>
            </a:r>
            <a:pPr algn="l" indent="0" marL="0">
              <a:lnSpc>
                <a:spcPct val="129730"/>
              </a:lnSpc>
              <a:buNone/>
            </a:pPr>
            <a:r>
              <a:rPr lang="en-US" sz="2400" i="1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legible </a:t>
            </a:r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 attaching consequences to what it reveals.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24000" y="5195888"/>
            <a:ext cx="156972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Faced with platform coordination, the literate response is to demand more disclosure, more rights to read. That addresses the layer the sensibility can grasp — and leaves untouched the layer it cannot.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524000" y="6567488"/>
            <a:ext cx="38100" cy="952500"/>
          </a:xfrm>
          <a:prstGeom prst="rect">
            <a:avLst/>
          </a:prstGeom>
          <a:solidFill>
            <a:srgbClr val="B20812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6567488"/>
            <a:ext cx="153924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82"/>
              </a:lnSpc>
              <a:buNone/>
            </a:pPr>
            <a:r>
              <a:rPr lang="en-US" sz="2550" b="1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Claim. </a:t>
            </a:r>
            <a:pPr algn="l" indent="0" marL="0">
              <a:lnSpc>
                <a:spcPct val="126582"/>
              </a:lnSpc>
              <a:buNone/>
            </a:pPr>
            <a:r>
              <a:rPr lang="en-US" sz="2550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Platform coordination is a further change in kind: a situation that reading, however extended, cannot govern — and therefore a sovereignty that literacy cannot supply.</a:t>
            </a: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1543050"/>
            <a:ext cx="15240000" cy="9525"/>
          </a:xfrm>
          <a:prstGeom prst="rect">
            <a:avLst/>
          </a:prstGeom>
          <a:solidFill>
            <a:srgbClr val="162C4A"/>
          </a:solidFill>
          <a:ln/>
        </p:spPr>
      </p:sp>
      <p:sp>
        <p:nvSpPr>
          <p:cNvPr id="3" name="Text 1"/>
          <p:cNvSpPr/>
          <p:nvPr/>
        </p:nvSpPr>
        <p:spPr>
          <a:xfrm>
            <a:off x="1524000" y="762000"/>
            <a:ext cx="167640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62C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The platform turn: the mediated triad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1524000" y="1704975"/>
            <a:ext cx="156972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81"/>
              </a:lnSpc>
              <a:buNone/>
            </a:pPr>
            <a:r>
              <a:rPr lang="en-US" sz="2025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new is a conjunction: the mediator is </a:t>
            </a:r>
            <a:pPr algn="l" indent="0" marL="0">
              <a:lnSpc>
                <a:spcPct val="122581"/>
              </a:lnSpc>
              <a:buNone/>
            </a:pPr>
            <a:r>
              <a:rPr lang="en-US" sz="2025" b="1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opaque </a:t>
            </a:r>
            <a:pPr algn="l" indent="0" marL="0">
              <a:lnSpc>
                <a:spcPct val="122581"/>
              </a:lnSpc>
              <a:buNone/>
            </a:pPr>
            <a:r>
              <a:rPr lang="en-US" sz="2025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(high-dimensional systems that resist interpretation) and </a:t>
            </a:r>
            <a:pPr algn="l" indent="0" marL="0">
              <a:lnSpc>
                <a:spcPct val="122581"/>
              </a:lnSpc>
              <a:buNone/>
            </a:pPr>
            <a:r>
              <a:rPr lang="en-US" sz="2025" b="1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interested and adaptive </a:t>
            </a:r>
            <a:pPr algn="l" indent="0" marL="0">
              <a:lnSpc>
                <a:spcPct val="122581"/>
              </a:lnSpc>
              <a:buNone/>
            </a:pPr>
            <a:r>
              <a:rPr lang="en-US" sz="2025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(it pursues its own objectives and revises its rules to achieve them). The coordinated actor is </a:t>
            </a:r>
            <a:pPr algn="l" indent="0" marL="0">
              <a:lnSpc>
                <a:spcPct val="122581"/>
              </a:lnSpc>
              <a:buNone/>
            </a:pPr>
            <a:r>
              <a:rPr lang="en-US" sz="2025" i="1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co-opted</a:t>
            </a:r>
            <a:pPr algn="l" indent="0" marL="0">
              <a:lnSpc>
                <a:spcPct val="122581"/>
              </a:lnSpc>
              <a:buNone/>
            </a:pPr>
            <a:r>
              <a:rPr lang="en-US" sz="2025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202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19500" y="2505075"/>
            <a:ext cx="11049000" cy="70199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3376613"/>
            <a:ext cx="15240000" cy="9525"/>
          </a:xfrm>
          <a:prstGeom prst="rect">
            <a:avLst/>
          </a:prstGeom>
          <a:solidFill>
            <a:srgbClr val="162C4A"/>
          </a:solidFill>
          <a:ln/>
        </p:spPr>
      </p:sp>
      <p:sp>
        <p:nvSpPr>
          <p:cNvPr id="3" name="Text 1"/>
          <p:cNvSpPr/>
          <p:nvPr/>
        </p:nvSpPr>
        <p:spPr>
          <a:xfrm>
            <a:off x="1524000" y="2595563"/>
            <a:ext cx="167640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62C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literacy cannot reach it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1524000" y="3843338"/>
            <a:ext cx="609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36"/>
              </a:lnSpc>
              <a:buNone/>
            </a:pPr>
            <a:r>
              <a:rPr lang="en-US" sz="2250" b="1" dirty="0">
                <a:solidFill>
                  <a:srgbClr val="162C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324100" y="3843338"/>
            <a:ext cx="1331035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36"/>
              </a:lnSpc>
              <a:buNone/>
            </a:pPr>
            <a:r>
              <a:rPr lang="en-US" sz="2250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object resists reading — machine-learning opacity survives the release of source code (Burrell 2016).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24000" y="4567238"/>
            <a:ext cx="6096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36"/>
              </a:lnSpc>
              <a:buNone/>
            </a:pPr>
            <a:r>
              <a:rPr lang="en-US" sz="2250" b="1" dirty="0">
                <a:solidFill>
                  <a:srgbClr val="162C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2324100" y="4567238"/>
            <a:ext cx="14873097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36"/>
              </a:lnSpc>
              <a:buNone/>
            </a:pPr>
            <a:r>
              <a:rPr lang="en-US" sz="2250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without a channel to act yields no accountability — a disclosure no one can contest is a fact without a consequence (Ananny &amp; Crawford 2018).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524000" y="5710238"/>
            <a:ext cx="6096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36"/>
              </a:lnSpc>
              <a:buNone/>
            </a:pPr>
            <a:r>
              <a:rPr lang="en-US" sz="2250" b="1" dirty="0">
                <a:solidFill>
                  <a:srgbClr val="162C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324100" y="5710238"/>
            <a:ext cx="14873097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36"/>
              </a:lnSpc>
              <a:buNone/>
            </a:pPr>
            <a:r>
              <a:rPr lang="en-US" sz="2250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actors who most need to contest the system have no leverage — the "invisible cage" of platform dependence (Rahman 2021; Cutolo &amp; Kenney 2021).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524000" y="6853238"/>
            <a:ext cx="6096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36"/>
              </a:lnSpc>
              <a:buNone/>
            </a:pPr>
            <a:r>
              <a:rPr lang="en-US" sz="2250" b="1" dirty="0">
                <a:solidFill>
                  <a:srgbClr val="162C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2324100" y="6853238"/>
            <a:ext cx="14873097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36"/>
              </a:lnSpc>
              <a:buNone/>
            </a:pPr>
            <a:r>
              <a:rPr lang="en-US" sz="2250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Text-driven law confronts code- and data-driven coordination and stops short of the layer where the platform decides (Hildebrandt 2015).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3638550"/>
            <a:ext cx="15240000" cy="9525"/>
          </a:xfrm>
          <a:prstGeom prst="rect">
            <a:avLst/>
          </a:prstGeom>
          <a:solidFill>
            <a:srgbClr val="162C4A"/>
          </a:solidFill>
          <a:ln/>
        </p:spPr>
      </p:sp>
      <p:sp>
        <p:nvSpPr>
          <p:cNvPr id="3" name="Text 1"/>
          <p:cNvSpPr/>
          <p:nvPr/>
        </p:nvSpPr>
        <p:spPr>
          <a:xfrm>
            <a:off x="1524000" y="2857500"/>
            <a:ext cx="167640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62C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Algorithmacy: the sensibility for the platform era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1524000" y="4067175"/>
            <a:ext cx="27241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36"/>
              </a:lnSpc>
              <a:buNone/>
            </a:pPr>
            <a:r>
              <a:rPr lang="en-US" sz="2250" b="1" i="1" dirty="0">
                <a:solidFill>
                  <a:srgbClr val="B208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Inferential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267200" y="4067175"/>
            <a:ext cx="809206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36"/>
              </a:lnSpc>
              <a:buNone/>
            </a:pPr>
            <a:r>
              <a:rPr lang="en-US" sz="2250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the behavior of a system one cannot see, from its outputs.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24000" y="4752975"/>
            <a:ext cx="27241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36"/>
              </a:lnSpc>
              <a:buNone/>
            </a:pPr>
            <a:r>
              <a:rPr lang="en-US" sz="2250" b="1" i="1" dirty="0">
                <a:solidFill>
                  <a:srgbClr val="B208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Translational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267200" y="4752975"/>
            <a:ext cx="1322808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36"/>
              </a:lnSpc>
              <a:buNone/>
            </a:pPr>
            <a:r>
              <a:rPr lang="en-US" sz="2250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render one's conduct into the terms the system reads, and read its determinations back into consequences.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524000" y="5438775"/>
            <a:ext cx="27241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36"/>
              </a:lnSpc>
              <a:buNone/>
            </a:pPr>
            <a:r>
              <a:rPr lang="en-US" sz="2250" b="1" i="1" dirty="0">
                <a:solidFill>
                  <a:srgbClr val="B208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Temporal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267200" y="5438775"/>
            <a:ext cx="916576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36"/>
              </a:lnSpc>
              <a:buNone/>
            </a:pPr>
            <a:r>
              <a:rPr lang="en-US" sz="2250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hold a strategy together across a system whose rules shift without notice.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524000" y="6276975"/>
            <a:ext cx="15240000" cy="9525"/>
          </a:xfrm>
          <a:prstGeom prst="rect">
            <a:avLst/>
          </a:prstGeom>
          <a:solidFill>
            <a:srgbClr val="C7CED6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6591300"/>
            <a:ext cx="156972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36"/>
              </a:lnSpc>
              <a:buNone/>
            </a:pPr>
            <a:r>
              <a:rPr lang="en-US" sz="2250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what algorithmic literacy becomes when your own conduct is a variable the system optimizes. The competence is unevenly held — and opacity is a rent-preserving strategy of the mediator itself.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1543050"/>
            <a:ext cx="15240000" cy="9525"/>
          </a:xfrm>
          <a:prstGeom prst="rect">
            <a:avLst/>
          </a:prstGeom>
          <a:solidFill>
            <a:srgbClr val="162C4A"/>
          </a:solidFill>
          <a:ln/>
        </p:spPr>
      </p:sp>
      <p:sp>
        <p:nvSpPr>
          <p:cNvPr id="3" name="Text 1"/>
          <p:cNvSpPr/>
          <p:nvPr/>
        </p:nvSpPr>
        <p:spPr>
          <a:xfrm>
            <a:off x="1524000" y="762000"/>
            <a:ext cx="167640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62C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The bypass test: exit or voice</a:t>
            </a:r>
            <a:endParaRPr lang="en-US" sz="4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0" y="1704975"/>
            <a:ext cx="11430000" cy="69818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24000" y="8801100"/>
            <a:ext cx="156972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14"/>
              </a:lnSpc>
              <a:buNone/>
            </a:pPr>
            <a:r>
              <a:rPr lang="en-US" sz="1950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platform is a </a:t>
            </a:r>
            <a:pPr algn="l" indent="0" marL="0">
              <a:lnSpc>
                <a:spcPct val="128814"/>
              </a:lnSpc>
              <a:buNone/>
            </a:pPr>
            <a:r>
              <a:rPr lang="en-US" sz="1950" b="1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portfolio of mediators </a:t>
            </a:r>
            <a:pPr algn="l" indent="0" marL="0">
              <a:lnSpc>
                <a:spcPct val="128814"/>
              </a:lnSpc>
              <a:buNone/>
            </a:pPr>
            <a:r>
              <a:rPr lang="en-US" sz="1950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necessary in one function, contingent in another. Treating a necessary mediator as contingent wastes effort on an exit that cannot be had; treating a contingent one as necessary concedes a bypass that could be opened.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0" y="2845594"/>
            <a:ext cx="159258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34" kern="0" dirty="0">
                <a:solidFill>
                  <a:srgbClr val="E59CA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DEFINITION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905000" y="3431381"/>
            <a:ext cx="14912340" cy="2476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733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Coordinative sovereignty </a:t>
            </a:r>
            <a:pPr algn="l" indent="0" marL="0">
              <a:lnSpc>
                <a:spcPct val="126733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the autonomy proper to being irreducibly coordinated: the power to shape the terms on which one is mediated, to contest the mediator's arbitrary power, and to hold a share in the governance of an arrangement one cannot leave.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905000" y="6288881"/>
            <a:ext cx="14478000" cy="9525"/>
          </a:xfrm>
          <a:prstGeom prst="rect">
            <a:avLst/>
          </a:prstGeom>
          <a:solidFill>
            <a:srgbClr val="2D5793"/>
          </a:solidFill>
          <a:ln/>
        </p:spPr>
      </p:sp>
      <p:sp>
        <p:nvSpPr>
          <p:cNvPr id="5" name="Text 3"/>
          <p:cNvSpPr/>
          <p:nvPr/>
        </p:nvSpPr>
        <p:spPr>
          <a:xfrm>
            <a:off x="1905000" y="6603206"/>
            <a:ext cx="1491234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36"/>
              </a:lnSpc>
              <a:buNone/>
            </a:pPr>
            <a:r>
              <a:rPr lang="en-US" sz="2250" dirty="0">
                <a:solidFill>
                  <a:srgbClr val="AECC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Its currency is </a:t>
            </a:r>
            <a:pPr algn="l" indent="0" marL="0">
              <a:lnSpc>
                <a:spcPct val="127536"/>
              </a:lnSpc>
              <a:buNone/>
            </a:pPr>
            <a:r>
              <a:rPr lang="en-US" sz="2250" i="1" dirty="0">
                <a:solidFill>
                  <a:srgbClr val="AECC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effective voice </a:t>
            </a:r>
            <a:pPr algn="l" indent="0" marL="0">
              <a:lnSpc>
                <a:spcPct val="127536"/>
              </a:lnSpc>
              <a:buNone/>
            </a:pPr>
            <a:r>
              <a:rPr lang="en-US" sz="2250" dirty="0">
                <a:solidFill>
                  <a:srgbClr val="AECC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It rests on non-domination (Pettit), relational autonomy (Nedelsky), involvement (Markell), and commons governance (Ostrom).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3700463"/>
            <a:ext cx="15240000" cy="9525"/>
          </a:xfrm>
          <a:prstGeom prst="rect">
            <a:avLst/>
          </a:prstGeom>
          <a:solidFill>
            <a:srgbClr val="162C4A"/>
          </a:solidFill>
          <a:ln/>
        </p:spPr>
      </p:sp>
      <p:sp>
        <p:nvSpPr>
          <p:cNvPr id="3" name="Text 1"/>
          <p:cNvSpPr/>
          <p:nvPr/>
        </p:nvSpPr>
        <p:spPr>
          <a:xfrm>
            <a:off x="1524000" y="2919413"/>
            <a:ext cx="167640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62C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Implications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1524000" y="4167188"/>
            <a:ext cx="294322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36"/>
              </a:lnSpc>
              <a:buNone/>
            </a:pPr>
            <a:r>
              <a:rPr lang="en-US" sz="2250" b="1" i="1" dirty="0">
                <a:solidFill>
                  <a:srgbClr val="162C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Scholars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686300" y="4167188"/>
            <a:ext cx="12440031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36"/>
              </a:lnSpc>
              <a:buNone/>
            </a:pPr>
            <a:r>
              <a:rPr lang="en-US" sz="2250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Digital sovereignty (a literacy construct) and coordinative sovereignty (an algorithmacy construct) vary independently and call for separate measurement.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24000" y="5348288"/>
            <a:ext cx="294322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36"/>
              </a:lnSpc>
              <a:buNone/>
            </a:pPr>
            <a:r>
              <a:rPr lang="en-US" sz="2250" b="1" i="1" dirty="0">
                <a:solidFill>
                  <a:srgbClr val="162C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Managers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686300" y="5348288"/>
            <a:ext cx="12440031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36"/>
              </a:lnSpc>
              <a:buNone/>
            </a:pPr>
            <a:r>
              <a:rPr lang="en-US" sz="2250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Compliance investment does not close the algorithmic gap. Diagnose each platform function: exit against contingent gates, voice against necessary ones. Algorithmacy can be trained, budgeted, and audited.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524000" y="6529388"/>
            <a:ext cx="294322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36"/>
              </a:lnSpc>
              <a:buNone/>
            </a:pPr>
            <a:r>
              <a:rPr lang="en-US" sz="2250" b="1" i="1" dirty="0">
                <a:solidFill>
                  <a:srgbClr val="162C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Policymakers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686300" y="6529388"/>
            <a:ext cx="12440031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36"/>
              </a:lnSpc>
              <a:buNone/>
            </a:pPr>
            <a:r>
              <a:rPr lang="en-US" sz="2250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standing, not just legibility: contestation rights, collective-organization rights, and channels that turn disclosure into accountability.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05000" y="3043238"/>
            <a:ext cx="47625" cy="1943100"/>
          </a:xfrm>
          <a:prstGeom prst="rect">
            <a:avLst/>
          </a:prstGeom>
          <a:solidFill>
            <a:srgbClr val="B20812"/>
          </a:solidFill>
          <a:ln/>
        </p:spPr>
      </p:sp>
      <p:sp>
        <p:nvSpPr>
          <p:cNvPr id="3" name="Text 1"/>
          <p:cNvSpPr/>
          <p:nvPr/>
        </p:nvSpPr>
        <p:spPr>
          <a:xfrm>
            <a:off x="2333625" y="3043238"/>
            <a:ext cx="14483715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302"/>
              </a:lnSpc>
              <a:buNone/>
            </a:pPr>
            <a:r>
              <a:rPr lang="en-US" sz="3450" b="1" dirty="0">
                <a:solidFill>
                  <a:srgbClr val="162C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Sovereignty in the age of AI rests on the standing of the coordinated to govern the coordinations that govern them </a:t>
            </a:r>
            <a:pPr algn="l" indent="0" marL="0">
              <a:lnSpc>
                <a:spcPct val="128302"/>
              </a:lnSpc>
              <a:buNone/>
            </a:pPr>
            <a:r>
              <a:rPr lang="en-US" sz="3450" dirty="0">
                <a:solidFill>
                  <a:srgbClr val="162C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and on the diffusion of the competence that standing requires. Neither reading nor control secures it.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1905000" y="5519738"/>
            <a:ext cx="14478000" cy="9525"/>
          </a:xfrm>
          <a:prstGeom prst="rect">
            <a:avLst/>
          </a:prstGeom>
          <a:solidFill>
            <a:srgbClr val="C7CED6"/>
          </a:solidFill>
          <a:ln/>
        </p:spPr>
      </p:sp>
      <p:sp>
        <p:nvSpPr>
          <p:cNvPr id="5" name="Text 3"/>
          <p:cNvSpPr/>
          <p:nvPr/>
        </p:nvSpPr>
        <p:spPr>
          <a:xfrm>
            <a:off x="1905000" y="6222206"/>
            <a:ext cx="5152884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0E1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Roger Hunt · Bentley University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905000" y="6627019"/>
            <a:ext cx="515288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rhunt@bentley.edu · www.algorithmacy.org</a:t>
            </a:r>
            <a:endParaRPr lang="en-US" sz="2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9500" y="5910263"/>
            <a:ext cx="1333500" cy="133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2026-07-22T14:07:52Z</dcterms:created>
  <dcterms:modified xsi:type="dcterms:W3CDTF">2026-07-22T14:07:52Z</dcterms:modified>
</cp:coreProperties>
</file>