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 Id="rId5" Type="http://schemas.openxmlformats.org/officeDocument/2006/relationships/image" Target="../media/image-1-5.svg"/><Relationship Id="rId6" Type="http://schemas.openxmlformats.org/officeDocument/2006/relationships/image" Target="../media/image-1-6.png"/><Relationship Id="rId7" Type="http://schemas.openxmlformats.org/officeDocument/2006/relationships/image" Target="../media/image-1-7.sv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485900"/>
            <a:ext cx="17373600" cy="28575"/>
          </a:xfrm>
          <a:prstGeom prst="rect">
            <a:avLst/>
          </a:prstGeom>
          <a:solidFill>
            <a:srgbClr val="162C4A"/>
          </a:solidFill>
          <a:ln/>
        </p:spPr>
      </p:sp>
      <p:sp>
        <p:nvSpPr>
          <p:cNvPr id="3" name="Text 1"/>
          <p:cNvSpPr/>
          <p:nvPr/>
        </p:nvSpPr>
        <p:spPr>
          <a:xfrm>
            <a:off x="457200" y="342900"/>
            <a:ext cx="16036632" cy="209550"/>
          </a:xfrm>
          <a:prstGeom prst="rect">
            <a:avLst/>
          </a:prstGeom>
          <a:noFill/>
          <a:ln/>
        </p:spPr>
        <p:txBody>
          <a:bodyPr wrap="square" lIns="25400" tIns="25400" rIns="25400" bIns="25400" rtlCol="0" anchor="t">
            <a:normAutofit/>
          </a:bodyPr>
          <a:lstStyle/>
          <a:p>
            <a:pPr algn="l" indent="0" marL="0">
              <a:lnSpc>
                <a:spcPct val="120000"/>
              </a:lnSpc>
              <a:buNone/>
            </a:pPr>
            <a:r>
              <a:rPr lang="en-US" sz="975" spc="117" kern="0" dirty="0">
                <a:solidFill>
                  <a:srgbClr val="B20812"/>
                </a:solidFill>
                <a:latin typeface="Times New Roman" pitchFamily="34" charset="0"/>
                <a:ea typeface="Times New Roman" pitchFamily="34" charset="-122"/>
                <a:cs typeface="Times New Roman" pitchFamily="34" charset="-120"/>
              </a:rPr>
              <a:t>SOCIETY OF BUSINESS ETHICS · ANNUAL MEETING 2026</a:t>
            </a:r>
            <a:endParaRPr lang="en-US" sz="975" dirty="0"/>
          </a:p>
        </p:txBody>
      </p:sp>
      <p:sp>
        <p:nvSpPr>
          <p:cNvPr id="4" name="Text 2"/>
          <p:cNvSpPr/>
          <p:nvPr/>
        </p:nvSpPr>
        <p:spPr>
          <a:xfrm>
            <a:off x="457200" y="590550"/>
            <a:ext cx="16036632" cy="457200"/>
          </a:xfrm>
          <a:prstGeom prst="rect">
            <a:avLst/>
          </a:prstGeom>
          <a:noFill/>
          <a:ln/>
        </p:spPr>
        <p:txBody>
          <a:bodyPr wrap="square" lIns="25400" tIns="25400" rIns="25400" bIns="25400" rtlCol="0" anchor="t">
            <a:normAutofit/>
          </a:bodyPr>
          <a:lstStyle/>
          <a:p>
            <a:pPr algn="l" indent="0" marL="0">
              <a:lnSpc>
                <a:spcPct val="101149"/>
              </a:lnSpc>
              <a:buNone/>
            </a:pPr>
            <a:r>
              <a:rPr lang="en-US" sz="2850" b="1" dirty="0">
                <a:solidFill>
                  <a:srgbClr val="162C4A"/>
                </a:solidFill>
                <a:latin typeface="Times New Roman" pitchFamily="34" charset="0"/>
                <a:ea typeface="Times New Roman" pitchFamily="34" charset="-122"/>
                <a:cs typeface="Times New Roman" pitchFamily="34" charset="-120"/>
              </a:rPr>
              <a:t>Algorithmacy and Sovereignty: Toward a Coordinative Sovereignty for the Platform Era</a:t>
            </a:r>
            <a:endParaRPr lang="en-US" sz="2850" dirty="0"/>
          </a:p>
        </p:txBody>
      </p:sp>
      <p:sp>
        <p:nvSpPr>
          <p:cNvPr id="5" name="Text 3"/>
          <p:cNvSpPr/>
          <p:nvPr/>
        </p:nvSpPr>
        <p:spPr>
          <a:xfrm>
            <a:off x="457200" y="1085850"/>
            <a:ext cx="16036632" cy="266700"/>
          </a:xfrm>
          <a:prstGeom prst="rect">
            <a:avLst/>
          </a:prstGeom>
          <a:noFill/>
          <a:ln/>
        </p:spPr>
        <p:txBody>
          <a:bodyPr wrap="square" lIns="25400" tIns="25400" rIns="25400" bIns="25400" rtlCol="0" anchor="t">
            <a:normAutofit/>
          </a:bodyPr>
          <a:lstStyle/>
          <a:p>
            <a:pPr algn="l" indent="0" marL="0">
              <a:lnSpc>
                <a:spcPct val="126316"/>
              </a:lnSpc>
              <a:buNone/>
            </a:pPr>
            <a:r>
              <a:rPr lang="en-US" sz="1275" i="1" dirty="0">
                <a:solidFill>
                  <a:srgbClr val="0E1A2E"/>
                </a:solidFill>
                <a:latin typeface="Times New Roman" pitchFamily="34" charset="0"/>
                <a:ea typeface="Times New Roman" pitchFamily="34" charset="-122"/>
                <a:cs typeface="Times New Roman" pitchFamily="34" charset="-120"/>
              </a:rPr>
              <a:t>Roger Hunt · Bentley University · rhunt@bentley.edu</a:t>
            </a:r>
            <a:endParaRPr lang="en-US" sz="1275" dirty="0"/>
          </a:p>
        </p:txBody>
      </p:sp>
      <p:sp>
        <p:nvSpPr>
          <p:cNvPr id="6" name="Text 4"/>
          <p:cNvSpPr/>
          <p:nvPr/>
        </p:nvSpPr>
        <p:spPr>
          <a:xfrm>
            <a:off x="15267012" y="742950"/>
            <a:ext cx="1649388" cy="209550"/>
          </a:xfrm>
          <a:prstGeom prst="rect">
            <a:avLst/>
          </a:prstGeom>
          <a:noFill/>
          <a:ln/>
        </p:spPr>
        <p:txBody>
          <a:bodyPr wrap="square" lIns="25400" tIns="25400" rIns="25400" bIns="25400" rtlCol="0" anchor="t">
            <a:normAutofit/>
          </a:bodyPr>
          <a:lstStyle/>
          <a:p>
            <a:pPr algn="r" indent="0" marL="0">
              <a:lnSpc>
                <a:spcPct val="120000"/>
              </a:lnSpc>
              <a:buNone/>
            </a:pPr>
            <a:r>
              <a:rPr lang="en-US" sz="975" dirty="0">
                <a:solidFill>
                  <a:srgbClr val="555555"/>
                </a:solidFill>
                <a:latin typeface="Times New Roman" pitchFamily="34" charset="0"/>
                <a:ea typeface="Times New Roman" pitchFamily="34" charset="-122"/>
                <a:cs typeface="Times New Roman" pitchFamily="34" charset="-120"/>
              </a:rPr>
              <a:t>Full paper &amp; companion work</a:t>
            </a:r>
            <a:endParaRPr lang="en-US" sz="975" dirty="0"/>
          </a:p>
        </p:txBody>
      </p:sp>
      <p:sp>
        <p:nvSpPr>
          <p:cNvPr id="7" name="Text 5"/>
          <p:cNvSpPr/>
          <p:nvPr/>
        </p:nvSpPr>
        <p:spPr>
          <a:xfrm>
            <a:off x="15267012" y="914400"/>
            <a:ext cx="1649388" cy="247650"/>
          </a:xfrm>
          <a:prstGeom prst="rect">
            <a:avLst/>
          </a:prstGeom>
          <a:noFill/>
          <a:ln/>
        </p:spPr>
        <p:txBody>
          <a:bodyPr wrap="square" lIns="25400" tIns="25400" rIns="25400" bIns="25400" rtlCol="0" anchor="t">
            <a:normAutofit/>
          </a:bodyPr>
          <a:lstStyle/>
          <a:p>
            <a:pPr algn="r" indent="0" marL="0">
              <a:lnSpc>
                <a:spcPct val="118919"/>
              </a:lnSpc>
              <a:buNone/>
            </a:pPr>
            <a:r>
              <a:rPr lang="en-US" sz="1200" b="1" dirty="0">
                <a:solidFill>
                  <a:srgbClr val="162C4A"/>
                </a:solidFill>
                <a:latin typeface="Times New Roman" pitchFamily="34" charset="0"/>
                <a:ea typeface="Times New Roman" pitchFamily="34" charset="-122"/>
                <a:cs typeface="Times New Roman" pitchFamily="34" charset="-120"/>
              </a:rPr>
              <a:t>www.algorithmacy.org</a:t>
            </a:r>
            <a:endParaRPr lang="en-US" sz="1200" dirty="0"/>
          </a:p>
        </p:txBody>
      </p:sp>
      <p:pic>
        <p:nvPicPr>
          <p:cNvPr id="8" name="Image 0" descr="preencoded.png">    </p:cNvPr>
          <p:cNvPicPr>
            <a:picLocks noChangeAspect="1"/>
          </p:cNvPicPr>
          <p:nvPr/>
        </p:nvPicPr>
        <p:blipFill>
          <a:blip r:embed="rId1"/>
          <a:stretch>
            <a:fillRect/>
          </a:stretch>
        </p:blipFill>
        <p:spPr>
          <a:xfrm>
            <a:off x="17068800" y="552450"/>
            <a:ext cx="762000" cy="762000"/>
          </a:xfrm>
          <a:prstGeom prst="rect">
            <a:avLst/>
          </a:prstGeom>
        </p:spPr>
      </p:pic>
      <p:sp>
        <p:nvSpPr>
          <p:cNvPr id="9" name="Shape 6"/>
          <p:cNvSpPr/>
          <p:nvPr/>
        </p:nvSpPr>
        <p:spPr>
          <a:xfrm>
            <a:off x="457200" y="2009775"/>
            <a:ext cx="5518100" cy="9525"/>
          </a:xfrm>
          <a:prstGeom prst="rect">
            <a:avLst/>
          </a:prstGeom>
          <a:solidFill>
            <a:srgbClr val="162C4A"/>
          </a:solidFill>
          <a:ln/>
        </p:spPr>
      </p:sp>
      <p:sp>
        <p:nvSpPr>
          <p:cNvPr id="10" name="Text 7"/>
          <p:cNvSpPr/>
          <p:nvPr/>
        </p:nvSpPr>
        <p:spPr>
          <a:xfrm>
            <a:off x="457200" y="1704975"/>
            <a:ext cx="6069910" cy="285750"/>
          </a:xfrm>
          <a:prstGeom prst="rect">
            <a:avLst/>
          </a:prstGeom>
          <a:noFill/>
          <a:ln/>
        </p:spPr>
        <p:txBody>
          <a:bodyPr wrap="square" lIns="25400" tIns="25400" rIns="25400" bIns="25400" rtlCol="0" anchor="t">
            <a:normAutofit/>
          </a:bodyPr>
          <a:lstStyle/>
          <a:p>
            <a:pPr algn="l" indent="0" marL="0">
              <a:lnSpc>
                <a:spcPct val="108333"/>
              </a:lnSpc>
              <a:buNone/>
            </a:pPr>
            <a:r>
              <a:rPr lang="en-US" sz="1575" b="1" dirty="0">
                <a:solidFill>
                  <a:srgbClr val="162C4A"/>
                </a:solidFill>
                <a:latin typeface="Times New Roman" pitchFamily="34" charset="0"/>
                <a:ea typeface="Times New Roman" pitchFamily="34" charset="-122"/>
                <a:cs typeface="Times New Roman" pitchFamily="34" charset="-120"/>
              </a:rPr>
              <a:t>1. Sovereignty has never stood alone</a:t>
            </a:r>
            <a:endParaRPr lang="en-US" sz="1575" dirty="0"/>
          </a:p>
        </p:txBody>
      </p:sp>
      <p:sp>
        <p:nvSpPr>
          <p:cNvPr id="11" name="Text 8"/>
          <p:cNvSpPr/>
          <p:nvPr/>
        </p:nvSpPr>
        <p:spPr>
          <a:xfrm>
            <a:off x="457200" y="2124075"/>
            <a:ext cx="5683643" cy="1181100"/>
          </a:xfrm>
          <a:prstGeom prst="rect">
            <a:avLst/>
          </a:prstGeom>
          <a:noFill/>
          <a:ln/>
        </p:spPr>
        <p:txBody>
          <a:bodyPr wrap="square" lIns="25400" tIns="25400" rIns="25400" bIns="25400" rtlCol="0" anchor="t">
            <a:normAutofit/>
          </a:bodyPr>
          <a:lstStyle/>
          <a:p>
            <a:pPr algn="l" indent="0" marL="0">
              <a:lnSpc>
                <a:spcPct val="121212"/>
              </a:lnSpc>
              <a:buNone/>
            </a:pPr>
            <a:r>
              <a:rPr lang="en-US" sz="1088" b="1" dirty="0">
                <a:solidFill>
                  <a:srgbClr val="0E1A2E"/>
                </a:solidFill>
                <a:latin typeface="Times New Roman" pitchFamily="34" charset="0"/>
                <a:ea typeface="Times New Roman" pitchFamily="34" charset="-122"/>
                <a:cs typeface="Times New Roman" pitchFamily="34" charset="-120"/>
              </a:rPr>
              <a:t>The gap. </a:t>
            </a:r>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A firm can satisfy every requirement of Europe's digital regulation — GDPR, AI Act, DMA, DSA, NIS2 — and remain strategically helpless. A compliant marketplace seller still watches sales collapse when the ranking changes; a developer in full compliance cannot see, predict, or contest the store decisions that determine its access to customers. Compliance governs how actors handle data; their market positions are determined inside algorithmic systems that decide what to surface and what to bury.</a:t>
            </a:r>
            <a:endParaRPr lang="en-US" sz="1088" dirty="0"/>
          </a:p>
        </p:txBody>
      </p:sp>
      <p:sp>
        <p:nvSpPr>
          <p:cNvPr id="12" name="Text 9"/>
          <p:cNvSpPr/>
          <p:nvPr/>
        </p:nvSpPr>
        <p:spPr>
          <a:xfrm>
            <a:off x="457200" y="3371850"/>
            <a:ext cx="5683643" cy="609600"/>
          </a:xfrm>
          <a:prstGeom prst="rect">
            <a:avLst/>
          </a:prstGeom>
          <a:noFill/>
          <a:ln/>
        </p:spPr>
        <p:txBody>
          <a:bodyPr wrap="square" lIns="25400" tIns="25400" rIns="25400" bIns="25400" rtlCol="0" anchor="t">
            <a:normAutofit/>
          </a:bodyPr>
          <a:lstStyle/>
          <a:p>
            <a:pPr algn="l" indent="0" marL="0">
              <a:lnSpc>
                <a:spcPct val="121212"/>
              </a:lnSpc>
              <a:buNone/>
            </a:pPr>
            <a:r>
              <a:rPr lang="en-US" sz="1088" b="1" dirty="0">
                <a:solidFill>
                  <a:srgbClr val="0E1A2E"/>
                </a:solidFill>
                <a:latin typeface="Times New Roman" pitchFamily="34" charset="0"/>
                <a:ea typeface="Times New Roman" pitchFamily="34" charset="-122"/>
                <a:cs typeface="Times New Roman" pitchFamily="34" charset="-120"/>
              </a:rPr>
              <a:t>The pattern. </a:t>
            </a:r>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Every historical form of sovereignty was paired with a </a:t>
            </a:r>
            <a:pPr algn="l" indent="0" marL="0">
              <a:lnSpc>
                <a:spcPct val="121212"/>
              </a:lnSpc>
              <a:buNone/>
            </a:pPr>
            <a:r>
              <a:rPr lang="en-US" sz="1088" i="1" dirty="0">
                <a:solidFill>
                  <a:srgbClr val="0E1A2E"/>
                </a:solidFill>
                <a:latin typeface="Times New Roman" pitchFamily="34" charset="0"/>
                <a:ea typeface="Times New Roman" pitchFamily="34" charset="-122"/>
                <a:cs typeface="Times New Roman" pitchFamily="34" charset="-120"/>
              </a:rPr>
              <a:t>communicative sensibility </a:t>
            </a:r>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 a competence for handling the medium through which authority is exercised and contested. Without the competence, sovereignty can be neither exercised nor held to account.</a:t>
            </a:r>
            <a:endParaRPr lang="en-US" sz="1088" dirty="0"/>
          </a:p>
        </p:txBody>
      </p:sp>
      <p:sp>
        <p:nvSpPr>
          <p:cNvPr id="13" name="Shape 10"/>
          <p:cNvSpPr/>
          <p:nvPr/>
        </p:nvSpPr>
        <p:spPr>
          <a:xfrm>
            <a:off x="457200" y="7012335"/>
            <a:ext cx="5518100" cy="9525"/>
          </a:xfrm>
          <a:prstGeom prst="rect">
            <a:avLst/>
          </a:prstGeom>
          <a:solidFill>
            <a:srgbClr val="C7CED6"/>
          </a:solidFill>
          <a:ln/>
        </p:spPr>
      </p:sp>
      <p:sp>
        <p:nvSpPr>
          <p:cNvPr id="14" name="Shape 11"/>
          <p:cNvSpPr/>
          <p:nvPr/>
        </p:nvSpPr>
        <p:spPr>
          <a:xfrm>
            <a:off x="457200" y="4048125"/>
            <a:ext cx="5518100" cy="9525"/>
          </a:xfrm>
          <a:prstGeom prst="rect">
            <a:avLst/>
          </a:prstGeom>
          <a:solidFill>
            <a:srgbClr val="C7CED6"/>
          </a:solidFill>
          <a:ln/>
        </p:spPr>
      </p:sp>
      <p:sp>
        <p:nvSpPr>
          <p:cNvPr id="15" name="Text 12"/>
          <p:cNvSpPr/>
          <p:nvPr/>
        </p:nvSpPr>
        <p:spPr>
          <a:xfrm>
            <a:off x="181295" y="4171950"/>
            <a:ext cx="6069910" cy="190500"/>
          </a:xfrm>
          <a:prstGeom prst="rect">
            <a:avLst/>
          </a:prstGeom>
          <a:noFill/>
          <a:ln/>
        </p:spPr>
        <p:txBody>
          <a:bodyPr wrap="square" lIns="25400" tIns="25400" rIns="25400" bIns="25400" rtlCol="0" anchor="t">
            <a:normAutofit/>
          </a:bodyPr>
          <a:lstStyle/>
          <a:p>
            <a:pPr algn="ctr" indent="0" marL="0">
              <a:lnSpc>
                <a:spcPct val="118519"/>
              </a:lnSpc>
              <a:buNone/>
            </a:pPr>
            <a:r>
              <a:rPr lang="en-US" sz="900" spc="90" kern="0" dirty="0">
                <a:solidFill>
                  <a:srgbClr val="555555"/>
                </a:solidFill>
                <a:latin typeface="Times New Roman" pitchFamily="34" charset="0"/>
                <a:ea typeface="Times New Roman" pitchFamily="34" charset="-122"/>
                <a:cs typeface="Times New Roman" pitchFamily="34" charset="-120"/>
              </a:rPr>
              <a:t>FIGURE 1 · THREE SENSIBILITIES, THREE SOVEREIGNTIES</a:t>
            </a:r>
            <a:endParaRPr lang="en-US" sz="900" dirty="0"/>
          </a:p>
        </p:txBody>
      </p:sp>
      <p:pic>
        <p:nvPicPr>
          <p:cNvPr id="1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7200" y="4381500"/>
            <a:ext cx="5518100" cy="2554635"/>
          </a:xfrm>
          <a:prstGeom prst="rect">
            <a:avLst/>
          </a:prstGeom>
        </p:spPr>
      </p:pic>
      <p:sp>
        <p:nvSpPr>
          <p:cNvPr id="17" name="Text 13"/>
          <p:cNvSpPr/>
          <p:nvPr/>
        </p:nvSpPr>
        <p:spPr>
          <a:xfrm>
            <a:off x="457200" y="7126635"/>
            <a:ext cx="5683643" cy="990600"/>
          </a:xfrm>
          <a:prstGeom prst="rect">
            <a:avLst/>
          </a:prstGeom>
          <a:noFill/>
          <a:ln/>
        </p:spPr>
        <p:txBody>
          <a:bodyPr wrap="square" lIns="25400" tIns="25400" rIns="25400" bIns="25400" rtlCol="0" anchor="t">
            <a:normAutofit/>
          </a:bodyPr>
          <a:lstStyle/>
          <a:p>
            <a:pPr algn="l" indent="0" marL="0">
              <a:lnSpc>
                <a:spcPct val="121212"/>
              </a:lnSpc>
              <a:buNone/>
            </a:pPr>
            <a:r>
              <a:rPr lang="en-US" sz="1088" b="1" dirty="0">
                <a:solidFill>
                  <a:srgbClr val="0E1A2E"/>
                </a:solidFill>
                <a:latin typeface="Times New Roman" pitchFamily="34" charset="0"/>
                <a:ea typeface="Times New Roman" pitchFamily="34" charset="-122"/>
                <a:cs typeface="Times New Roman" pitchFamily="34" charset="-120"/>
              </a:rPr>
              <a:t>Digital sovereignty is extended literacy. </a:t>
            </a:r>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Its instruments — classification, documentation, disclosure, data-subject rights — govern by rendering the digital object </a:t>
            </a:r>
            <a:pPr algn="l" indent="0" marL="0">
              <a:lnSpc>
                <a:spcPct val="121212"/>
              </a:lnSpc>
              <a:buNone/>
            </a:pPr>
            <a:r>
              <a:rPr lang="en-US" sz="1088" i="1" dirty="0">
                <a:solidFill>
                  <a:srgbClr val="0E1A2E"/>
                </a:solidFill>
                <a:latin typeface="Times New Roman" pitchFamily="34" charset="0"/>
                <a:ea typeface="Times New Roman" pitchFamily="34" charset="-122"/>
                <a:cs typeface="Times New Roman" pitchFamily="34" charset="-120"/>
              </a:rPr>
              <a:t>legible </a:t>
            </a:r>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and attaching consequences to what it reveals. Faced with platform coordination, the literate response is to demand more disclosure, more rights to read. That addresses the layer the sensibility can grasp and leaves untouched the layer it cannot.</a:t>
            </a:r>
            <a:endParaRPr lang="en-US" sz="1088" dirty="0"/>
          </a:p>
        </p:txBody>
      </p:sp>
      <p:sp>
        <p:nvSpPr>
          <p:cNvPr id="18" name="Shape 14"/>
          <p:cNvSpPr/>
          <p:nvPr/>
        </p:nvSpPr>
        <p:spPr>
          <a:xfrm>
            <a:off x="457200" y="8183910"/>
            <a:ext cx="28575" cy="381000"/>
          </a:xfrm>
          <a:prstGeom prst="rect">
            <a:avLst/>
          </a:prstGeom>
          <a:solidFill>
            <a:srgbClr val="B20812"/>
          </a:solidFill>
          <a:ln/>
        </p:spPr>
      </p:sp>
      <p:sp>
        <p:nvSpPr>
          <p:cNvPr id="19" name="Text 15"/>
          <p:cNvSpPr/>
          <p:nvPr/>
        </p:nvSpPr>
        <p:spPr>
          <a:xfrm>
            <a:off x="600075" y="8183910"/>
            <a:ext cx="5540768" cy="419100"/>
          </a:xfrm>
          <a:prstGeom prst="rect">
            <a:avLst/>
          </a:prstGeom>
          <a:noFill/>
          <a:ln/>
        </p:spPr>
        <p:txBody>
          <a:bodyPr wrap="square" lIns="25400" tIns="25400" rIns="25400" bIns="25400" rtlCol="0" anchor="t">
            <a:normAutofit/>
          </a:bodyPr>
          <a:lstStyle/>
          <a:p>
            <a:pPr algn="l" indent="0" marL="0">
              <a:lnSpc>
                <a:spcPct val="121212"/>
              </a:lnSpc>
              <a:buNone/>
            </a:pPr>
            <a:r>
              <a:rPr lang="en-US" sz="1088" b="1" dirty="0">
                <a:solidFill>
                  <a:srgbClr val="0E1A2E"/>
                </a:solidFill>
                <a:latin typeface="Times New Roman" pitchFamily="34" charset="0"/>
                <a:ea typeface="Times New Roman" pitchFamily="34" charset="-122"/>
                <a:cs typeface="Times New Roman" pitchFamily="34" charset="-120"/>
              </a:rPr>
              <a:t>Claim. </a:t>
            </a:r>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Platform coordination is a further change in kind: a situation that reading, however extended, cannot govern — and therefore a sovereignty that literacy cannot supply.</a:t>
            </a:r>
            <a:endParaRPr lang="en-US" sz="1088" dirty="0"/>
          </a:p>
        </p:txBody>
      </p:sp>
      <p:sp>
        <p:nvSpPr>
          <p:cNvPr id="20" name="Shape 16"/>
          <p:cNvSpPr/>
          <p:nvPr/>
        </p:nvSpPr>
        <p:spPr>
          <a:xfrm>
            <a:off x="6242000" y="1704975"/>
            <a:ext cx="9525" cy="8277225"/>
          </a:xfrm>
          <a:prstGeom prst="rect">
            <a:avLst/>
          </a:prstGeom>
          <a:solidFill>
            <a:srgbClr val="C7CED6"/>
          </a:solidFill>
          <a:ln/>
        </p:spPr>
      </p:sp>
      <p:sp>
        <p:nvSpPr>
          <p:cNvPr id="21" name="Shape 17"/>
          <p:cNvSpPr/>
          <p:nvPr/>
        </p:nvSpPr>
        <p:spPr>
          <a:xfrm>
            <a:off x="6518225" y="2009775"/>
            <a:ext cx="5251475" cy="9525"/>
          </a:xfrm>
          <a:prstGeom prst="rect">
            <a:avLst/>
          </a:prstGeom>
          <a:solidFill>
            <a:srgbClr val="162C4A"/>
          </a:solidFill>
          <a:ln/>
        </p:spPr>
      </p:sp>
      <p:sp>
        <p:nvSpPr>
          <p:cNvPr id="22" name="Text 18"/>
          <p:cNvSpPr/>
          <p:nvPr/>
        </p:nvSpPr>
        <p:spPr>
          <a:xfrm>
            <a:off x="6518225" y="1704975"/>
            <a:ext cx="5776622" cy="285750"/>
          </a:xfrm>
          <a:prstGeom prst="rect">
            <a:avLst/>
          </a:prstGeom>
          <a:noFill/>
          <a:ln/>
        </p:spPr>
        <p:txBody>
          <a:bodyPr wrap="square" lIns="25400" tIns="25400" rIns="25400" bIns="25400" rtlCol="0" anchor="t">
            <a:normAutofit/>
          </a:bodyPr>
          <a:lstStyle/>
          <a:p>
            <a:pPr algn="l" indent="0" marL="0">
              <a:lnSpc>
                <a:spcPct val="108333"/>
              </a:lnSpc>
              <a:buNone/>
            </a:pPr>
            <a:r>
              <a:rPr lang="en-US" sz="1575" b="1" dirty="0">
                <a:solidFill>
                  <a:srgbClr val="162C4A"/>
                </a:solidFill>
                <a:latin typeface="Times New Roman" pitchFamily="34" charset="0"/>
                <a:ea typeface="Times New Roman" pitchFamily="34" charset="-122"/>
                <a:cs typeface="Times New Roman" pitchFamily="34" charset="-120"/>
              </a:rPr>
              <a:t>2. The platform turn: the mediated triad</a:t>
            </a:r>
            <a:endParaRPr lang="en-US" sz="1575" dirty="0"/>
          </a:p>
        </p:txBody>
      </p:sp>
      <p:sp>
        <p:nvSpPr>
          <p:cNvPr id="23" name="Text 19"/>
          <p:cNvSpPr/>
          <p:nvPr/>
        </p:nvSpPr>
        <p:spPr>
          <a:xfrm>
            <a:off x="6518225" y="2124075"/>
            <a:ext cx="5409019" cy="990600"/>
          </a:xfrm>
          <a:prstGeom prst="rect">
            <a:avLst/>
          </a:prstGeom>
          <a:noFill/>
          <a:ln/>
        </p:spPr>
        <p:txBody>
          <a:bodyPr wrap="square" lIns="25400" tIns="25400" rIns="25400" bIns="25400" rtlCol="0" anchor="t">
            <a:normAutofit/>
          </a:bodyPr>
          <a:lstStyle/>
          <a:p>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The coordination logic (price, authority, trust) is old. The topology — a broker between parties — is old. What is new is the conjunction of two features of the mediator: it is </a:t>
            </a:r>
            <a:pPr algn="l" indent="0" marL="0">
              <a:lnSpc>
                <a:spcPct val="121212"/>
              </a:lnSpc>
              <a:buNone/>
            </a:pPr>
            <a:r>
              <a:rPr lang="en-US" sz="1088" b="1" dirty="0">
                <a:solidFill>
                  <a:srgbClr val="0E1A2E"/>
                </a:solidFill>
                <a:latin typeface="Times New Roman" pitchFamily="34" charset="0"/>
                <a:ea typeface="Times New Roman" pitchFamily="34" charset="-122"/>
                <a:cs typeface="Times New Roman" pitchFamily="34" charset="-120"/>
              </a:rPr>
              <a:t>opaque </a:t>
            </a:r>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(high-dimensional systems that resist interpretation) and </a:t>
            </a:r>
            <a:pPr algn="l" indent="0" marL="0">
              <a:lnSpc>
                <a:spcPct val="121212"/>
              </a:lnSpc>
              <a:buNone/>
            </a:pPr>
            <a:r>
              <a:rPr lang="en-US" sz="1088" b="1" dirty="0">
                <a:solidFill>
                  <a:srgbClr val="0E1A2E"/>
                </a:solidFill>
                <a:latin typeface="Times New Roman" pitchFamily="34" charset="0"/>
                <a:ea typeface="Times New Roman" pitchFamily="34" charset="-122"/>
                <a:cs typeface="Times New Roman" pitchFamily="34" charset="-120"/>
              </a:rPr>
              <a:t>interested and adaptive </a:t>
            </a:r>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(it pursues its own objectives and revises its rules to achieve them). The coordinated actor is </a:t>
            </a:r>
            <a:pPr algn="l" indent="0" marL="0">
              <a:lnSpc>
                <a:spcPct val="121212"/>
              </a:lnSpc>
              <a:buNone/>
            </a:pPr>
            <a:r>
              <a:rPr lang="en-US" sz="1088" i="1" dirty="0">
                <a:solidFill>
                  <a:srgbClr val="0E1A2E"/>
                </a:solidFill>
                <a:latin typeface="Times New Roman" pitchFamily="34" charset="0"/>
                <a:ea typeface="Times New Roman" pitchFamily="34" charset="-122"/>
                <a:cs typeface="Times New Roman" pitchFamily="34" charset="-120"/>
              </a:rPr>
              <a:t>co-opted </a:t>
            </a:r>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 enrolled without delegated authority and without negotiated terms.</a:t>
            </a:r>
            <a:endParaRPr lang="en-US" sz="1088" dirty="0"/>
          </a:p>
        </p:txBody>
      </p:sp>
      <p:sp>
        <p:nvSpPr>
          <p:cNvPr id="24" name="Shape 20"/>
          <p:cNvSpPr/>
          <p:nvPr/>
        </p:nvSpPr>
        <p:spPr>
          <a:xfrm>
            <a:off x="6518225" y="5827663"/>
            <a:ext cx="5251475" cy="9525"/>
          </a:xfrm>
          <a:prstGeom prst="rect">
            <a:avLst/>
          </a:prstGeom>
          <a:solidFill>
            <a:srgbClr val="C7CED6"/>
          </a:solidFill>
          <a:ln/>
        </p:spPr>
      </p:sp>
      <p:sp>
        <p:nvSpPr>
          <p:cNvPr id="25" name="Shape 21"/>
          <p:cNvSpPr/>
          <p:nvPr/>
        </p:nvSpPr>
        <p:spPr>
          <a:xfrm>
            <a:off x="6518225" y="3181350"/>
            <a:ext cx="5251475" cy="9525"/>
          </a:xfrm>
          <a:prstGeom prst="rect">
            <a:avLst/>
          </a:prstGeom>
          <a:solidFill>
            <a:srgbClr val="C7CED6"/>
          </a:solidFill>
          <a:ln/>
        </p:spPr>
      </p:sp>
      <p:sp>
        <p:nvSpPr>
          <p:cNvPr id="26" name="Text 22"/>
          <p:cNvSpPr/>
          <p:nvPr/>
        </p:nvSpPr>
        <p:spPr>
          <a:xfrm>
            <a:off x="6255652" y="3305175"/>
            <a:ext cx="5776622" cy="190500"/>
          </a:xfrm>
          <a:prstGeom prst="rect">
            <a:avLst/>
          </a:prstGeom>
          <a:noFill/>
          <a:ln/>
        </p:spPr>
        <p:txBody>
          <a:bodyPr wrap="square" lIns="25400" tIns="25400" rIns="25400" bIns="25400" rtlCol="0" anchor="t">
            <a:normAutofit/>
          </a:bodyPr>
          <a:lstStyle/>
          <a:p>
            <a:pPr algn="ctr" indent="0" marL="0">
              <a:lnSpc>
                <a:spcPct val="118519"/>
              </a:lnSpc>
              <a:buNone/>
            </a:pPr>
            <a:r>
              <a:rPr lang="en-US" sz="900" spc="90" kern="0" dirty="0">
                <a:solidFill>
                  <a:srgbClr val="555555"/>
                </a:solidFill>
                <a:latin typeface="Times New Roman" pitchFamily="34" charset="0"/>
                <a:ea typeface="Times New Roman" pitchFamily="34" charset="-122"/>
                <a:cs typeface="Times New Roman" pitchFamily="34" charset="-120"/>
              </a:rPr>
              <a:t>FIGURE 2 · COORDINATION THROUGH AN OPAQUE, INTERESTED MEDIATOR</a:t>
            </a:r>
            <a:endParaRPr lang="en-US" sz="900" dirty="0"/>
          </a:p>
        </p:txBody>
      </p:sp>
      <p:pic>
        <p:nvPicPr>
          <p:cNvPr id="2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18225" y="3514725"/>
            <a:ext cx="5251475" cy="2236738"/>
          </a:xfrm>
          <a:prstGeom prst="rect">
            <a:avLst/>
          </a:prstGeom>
        </p:spPr>
      </p:pic>
      <p:sp>
        <p:nvSpPr>
          <p:cNvPr id="28" name="Text 23"/>
          <p:cNvSpPr/>
          <p:nvPr/>
        </p:nvSpPr>
        <p:spPr>
          <a:xfrm>
            <a:off x="6518225" y="5941963"/>
            <a:ext cx="5776622" cy="228600"/>
          </a:xfrm>
          <a:prstGeom prst="rect">
            <a:avLst/>
          </a:prstGeom>
          <a:noFill/>
          <a:ln/>
        </p:spPr>
        <p:txBody>
          <a:bodyPr wrap="square" lIns="25400" tIns="25400" rIns="25400" bIns="25400" rtlCol="0" anchor="t">
            <a:normAutofit/>
          </a:bodyPr>
          <a:lstStyle/>
          <a:p>
            <a:pPr algn="l" indent="0" marL="0">
              <a:lnSpc>
                <a:spcPct val="121212"/>
              </a:lnSpc>
              <a:buNone/>
            </a:pPr>
            <a:r>
              <a:rPr lang="en-US" sz="1088" b="1" dirty="0">
                <a:solidFill>
                  <a:srgbClr val="0E1A2E"/>
                </a:solidFill>
                <a:latin typeface="Times New Roman" pitchFamily="34" charset="0"/>
                <a:ea typeface="Times New Roman" pitchFamily="34" charset="-122"/>
                <a:cs typeface="Times New Roman" pitchFamily="34" charset="-120"/>
              </a:rPr>
              <a:t>Why literacy cannot reach it</a:t>
            </a:r>
            <a:endParaRPr lang="en-US" sz="1088" dirty="0"/>
          </a:p>
        </p:txBody>
      </p:sp>
      <p:sp>
        <p:nvSpPr>
          <p:cNvPr id="29" name="Text 24"/>
          <p:cNvSpPr/>
          <p:nvPr/>
        </p:nvSpPr>
        <p:spPr>
          <a:xfrm>
            <a:off x="6518225" y="6170563"/>
            <a:ext cx="149126" cy="419100"/>
          </a:xfrm>
          <a:prstGeom prst="rect">
            <a:avLst/>
          </a:prstGeom>
          <a:noFill/>
          <a:ln/>
        </p:spPr>
        <p:txBody>
          <a:bodyPr wrap="square" lIns="25400" tIns="25400" rIns="25400" bIns="25400" rtlCol="0" anchor="t">
            <a:normAutofit/>
          </a:bodyPr>
          <a:lstStyle/>
          <a:p>
            <a:pPr algn="l" indent="0" marL="0">
              <a:lnSpc>
                <a:spcPct val="121212"/>
              </a:lnSpc>
              <a:buNone/>
            </a:pPr>
            <a:r>
              <a:rPr lang="en-US" sz="1088" b="1" dirty="0">
                <a:solidFill>
                  <a:srgbClr val="162C4A"/>
                </a:solidFill>
                <a:latin typeface="Times New Roman" pitchFamily="34" charset="0"/>
                <a:ea typeface="Times New Roman" pitchFamily="34" charset="-122"/>
                <a:cs typeface="Times New Roman" pitchFamily="34" charset="-120"/>
              </a:rPr>
              <a:t>i.</a:t>
            </a:r>
            <a:endParaRPr lang="en-US" sz="1088" dirty="0"/>
          </a:p>
        </p:txBody>
      </p:sp>
      <p:sp>
        <p:nvSpPr>
          <p:cNvPr id="30" name="Text 25"/>
          <p:cNvSpPr/>
          <p:nvPr/>
        </p:nvSpPr>
        <p:spPr>
          <a:xfrm>
            <a:off x="6686401" y="6170563"/>
            <a:ext cx="5235798" cy="419100"/>
          </a:xfrm>
          <a:prstGeom prst="rect">
            <a:avLst/>
          </a:prstGeom>
          <a:noFill/>
          <a:ln/>
        </p:spPr>
        <p:txBody>
          <a:bodyPr wrap="square" lIns="25400" tIns="25400" rIns="25400" bIns="25400" rtlCol="0" anchor="t">
            <a:normAutofit/>
          </a:bodyPr>
          <a:lstStyle/>
          <a:p>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The object resists reading — machine-learning opacity survives the release of source code (Burrell 2016).</a:t>
            </a:r>
            <a:endParaRPr lang="en-US" sz="1088" dirty="0"/>
          </a:p>
        </p:txBody>
      </p:sp>
      <p:sp>
        <p:nvSpPr>
          <p:cNvPr id="31" name="Text 26"/>
          <p:cNvSpPr/>
          <p:nvPr/>
        </p:nvSpPr>
        <p:spPr>
          <a:xfrm>
            <a:off x="6518225" y="6589663"/>
            <a:ext cx="187523" cy="419100"/>
          </a:xfrm>
          <a:prstGeom prst="rect">
            <a:avLst/>
          </a:prstGeom>
          <a:noFill/>
          <a:ln/>
        </p:spPr>
        <p:txBody>
          <a:bodyPr wrap="square" lIns="25400" tIns="25400" rIns="25400" bIns="25400" rtlCol="0" anchor="t">
            <a:normAutofit/>
          </a:bodyPr>
          <a:lstStyle/>
          <a:p>
            <a:pPr algn="l" indent="0" marL="0">
              <a:lnSpc>
                <a:spcPct val="121212"/>
              </a:lnSpc>
              <a:buNone/>
            </a:pPr>
            <a:r>
              <a:rPr lang="en-US" sz="1088" b="1" dirty="0">
                <a:solidFill>
                  <a:srgbClr val="162C4A"/>
                </a:solidFill>
                <a:latin typeface="Times New Roman" pitchFamily="34" charset="0"/>
                <a:ea typeface="Times New Roman" pitchFamily="34" charset="-122"/>
                <a:cs typeface="Times New Roman" pitchFamily="34" charset="-120"/>
              </a:rPr>
              <a:t>ii.</a:t>
            </a:r>
            <a:endParaRPr lang="en-US" sz="1088" dirty="0"/>
          </a:p>
        </p:txBody>
      </p:sp>
      <p:sp>
        <p:nvSpPr>
          <p:cNvPr id="32" name="Text 27"/>
          <p:cNvSpPr/>
          <p:nvPr/>
        </p:nvSpPr>
        <p:spPr>
          <a:xfrm>
            <a:off x="6724799" y="6589663"/>
            <a:ext cx="5196248" cy="419100"/>
          </a:xfrm>
          <a:prstGeom prst="rect">
            <a:avLst/>
          </a:prstGeom>
          <a:noFill/>
          <a:ln/>
        </p:spPr>
        <p:txBody>
          <a:bodyPr wrap="square" lIns="25400" tIns="25400" rIns="25400" bIns="25400" rtlCol="0" anchor="t">
            <a:normAutofit/>
          </a:bodyPr>
          <a:lstStyle/>
          <a:p>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Reading without a channel to act yields no accountability — a disclosure no one can contest is a fact without a consequence (Ananny &amp; Crawford 2018).</a:t>
            </a:r>
            <a:endParaRPr lang="en-US" sz="1088" dirty="0"/>
          </a:p>
        </p:txBody>
      </p:sp>
      <p:sp>
        <p:nvSpPr>
          <p:cNvPr id="33" name="Text 28"/>
          <p:cNvSpPr/>
          <p:nvPr/>
        </p:nvSpPr>
        <p:spPr>
          <a:xfrm>
            <a:off x="6518225" y="7008763"/>
            <a:ext cx="225847" cy="419100"/>
          </a:xfrm>
          <a:prstGeom prst="rect">
            <a:avLst/>
          </a:prstGeom>
          <a:noFill/>
          <a:ln/>
        </p:spPr>
        <p:txBody>
          <a:bodyPr wrap="square" lIns="25400" tIns="25400" rIns="25400" bIns="25400" rtlCol="0" anchor="t">
            <a:normAutofit/>
          </a:bodyPr>
          <a:lstStyle/>
          <a:p>
            <a:pPr algn="l" indent="0" marL="0">
              <a:lnSpc>
                <a:spcPct val="121212"/>
              </a:lnSpc>
              <a:buNone/>
            </a:pPr>
            <a:r>
              <a:rPr lang="en-US" sz="1088" b="1" dirty="0">
                <a:solidFill>
                  <a:srgbClr val="162C4A"/>
                </a:solidFill>
                <a:latin typeface="Times New Roman" pitchFamily="34" charset="0"/>
                <a:ea typeface="Times New Roman" pitchFamily="34" charset="-122"/>
                <a:cs typeface="Times New Roman" pitchFamily="34" charset="-120"/>
              </a:rPr>
              <a:t>iii.</a:t>
            </a:r>
            <a:endParaRPr lang="en-US" sz="1088" dirty="0"/>
          </a:p>
        </p:txBody>
      </p:sp>
      <p:sp>
        <p:nvSpPr>
          <p:cNvPr id="34" name="Text 29"/>
          <p:cNvSpPr/>
          <p:nvPr/>
        </p:nvSpPr>
        <p:spPr>
          <a:xfrm>
            <a:off x="6763122" y="7008763"/>
            <a:ext cx="5156775" cy="419100"/>
          </a:xfrm>
          <a:prstGeom prst="rect">
            <a:avLst/>
          </a:prstGeom>
          <a:noFill/>
          <a:ln/>
        </p:spPr>
        <p:txBody>
          <a:bodyPr wrap="square" lIns="25400" tIns="25400" rIns="25400" bIns="25400" rtlCol="0" anchor="t">
            <a:normAutofit/>
          </a:bodyPr>
          <a:lstStyle/>
          <a:p>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The actors who most need to contest the system have no leverage — the "invisible cage" of platform dependence (Rahman 2021; Cutolo &amp; Kenney 2021).</a:t>
            </a:r>
            <a:endParaRPr lang="en-US" sz="1088" dirty="0"/>
          </a:p>
        </p:txBody>
      </p:sp>
      <p:sp>
        <p:nvSpPr>
          <p:cNvPr id="35" name="Text 30"/>
          <p:cNvSpPr/>
          <p:nvPr/>
        </p:nvSpPr>
        <p:spPr>
          <a:xfrm>
            <a:off x="6518225" y="7427863"/>
            <a:ext cx="210592" cy="419100"/>
          </a:xfrm>
          <a:prstGeom prst="rect">
            <a:avLst/>
          </a:prstGeom>
          <a:noFill/>
          <a:ln/>
        </p:spPr>
        <p:txBody>
          <a:bodyPr wrap="square" lIns="25400" tIns="25400" rIns="25400" bIns="25400" rtlCol="0" anchor="t">
            <a:normAutofit/>
          </a:bodyPr>
          <a:lstStyle/>
          <a:p>
            <a:pPr algn="l" indent="0" marL="0">
              <a:lnSpc>
                <a:spcPct val="121212"/>
              </a:lnSpc>
              <a:buNone/>
            </a:pPr>
            <a:r>
              <a:rPr lang="en-US" sz="1088" b="1" dirty="0">
                <a:solidFill>
                  <a:srgbClr val="162C4A"/>
                </a:solidFill>
                <a:latin typeface="Times New Roman" pitchFamily="34" charset="0"/>
                <a:ea typeface="Times New Roman" pitchFamily="34" charset="-122"/>
                <a:cs typeface="Times New Roman" pitchFamily="34" charset="-120"/>
              </a:rPr>
              <a:t>iv.</a:t>
            </a:r>
            <a:endParaRPr lang="en-US" sz="1088" dirty="0"/>
          </a:p>
        </p:txBody>
      </p:sp>
      <p:sp>
        <p:nvSpPr>
          <p:cNvPr id="36" name="Text 31"/>
          <p:cNvSpPr/>
          <p:nvPr/>
        </p:nvSpPr>
        <p:spPr>
          <a:xfrm>
            <a:off x="6747867" y="7427863"/>
            <a:ext cx="5172488" cy="419100"/>
          </a:xfrm>
          <a:prstGeom prst="rect">
            <a:avLst/>
          </a:prstGeom>
          <a:noFill/>
          <a:ln/>
        </p:spPr>
        <p:txBody>
          <a:bodyPr wrap="square" lIns="25400" tIns="25400" rIns="25400" bIns="25400" rtlCol="0" anchor="t">
            <a:normAutofit/>
          </a:bodyPr>
          <a:lstStyle/>
          <a:p>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Text-driven law confronts code- and data-driven coordination and stops short of the layer where the platform decides (Hildebrandt 2015).</a:t>
            </a:r>
            <a:endParaRPr lang="en-US" sz="1088" dirty="0"/>
          </a:p>
        </p:txBody>
      </p:sp>
      <p:sp>
        <p:nvSpPr>
          <p:cNvPr id="37" name="Shape 32"/>
          <p:cNvSpPr/>
          <p:nvPr/>
        </p:nvSpPr>
        <p:spPr>
          <a:xfrm>
            <a:off x="6518225" y="7913638"/>
            <a:ext cx="5251475" cy="9525"/>
          </a:xfrm>
          <a:prstGeom prst="rect">
            <a:avLst/>
          </a:prstGeom>
          <a:solidFill>
            <a:srgbClr val="C7CED6"/>
          </a:solidFill>
          <a:ln/>
        </p:spPr>
      </p:sp>
      <p:sp>
        <p:nvSpPr>
          <p:cNvPr id="38" name="Text 33"/>
          <p:cNvSpPr/>
          <p:nvPr/>
        </p:nvSpPr>
        <p:spPr>
          <a:xfrm>
            <a:off x="6518225" y="8018413"/>
            <a:ext cx="5409019" cy="990600"/>
          </a:xfrm>
          <a:prstGeom prst="rect">
            <a:avLst/>
          </a:prstGeom>
          <a:noFill/>
          <a:ln/>
        </p:spPr>
        <p:txBody>
          <a:bodyPr wrap="square" lIns="25400" tIns="25400" rIns="25400" bIns="25400" rtlCol="0" anchor="t">
            <a:normAutofit/>
          </a:bodyPr>
          <a:lstStyle/>
          <a:p>
            <a:pPr algn="l" indent="0" marL="0">
              <a:lnSpc>
                <a:spcPct val="121212"/>
              </a:lnSpc>
              <a:buNone/>
            </a:pPr>
            <a:r>
              <a:rPr lang="en-US" sz="1088" b="1" dirty="0">
                <a:solidFill>
                  <a:srgbClr val="0E1A2E"/>
                </a:solidFill>
                <a:latin typeface="Times New Roman" pitchFamily="34" charset="0"/>
                <a:ea typeface="Times New Roman" pitchFamily="34" charset="-122"/>
                <a:cs typeface="Times New Roman" pitchFamily="34" charset="-120"/>
              </a:rPr>
              <a:t>Algorithmacy </a:t>
            </a:r>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is the sensibility equal to this medium: </a:t>
            </a:r>
            <a:pPr algn="l" indent="0" marL="0">
              <a:lnSpc>
                <a:spcPct val="121212"/>
              </a:lnSpc>
              <a:buNone/>
            </a:pPr>
            <a:r>
              <a:rPr lang="en-US" sz="1088" i="1" dirty="0">
                <a:solidFill>
                  <a:srgbClr val="0E1A2E"/>
                </a:solidFill>
                <a:latin typeface="Times New Roman" pitchFamily="34" charset="0"/>
                <a:ea typeface="Times New Roman" pitchFamily="34" charset="-122"/>
                <a:cs typeface="Times New Roman" pitchFamily="34" charset="-120"/>
              </a:rPr>
              <a:t>inferential </a:t>
            </a:r>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(model an unseen system from its outputs), </a:t>
            </a:r>
            <a:pPr algn="l" indent="0" marL="0">
              <a:lnSpc>
                <a:spcPct val="121212"/>
              </a:lnSpc>
              <a:buNone/>
            </a:pPr>
            <a:r>
              <a:rPr lang="en-US" sz="1088" i="1" dirty="0">
                <a:solidFill>
                  <a:srgbClr val="0E1A2E"/>
                </a:solidFill>
                <a:latin typeface="Times New Roman" pitchFamily="34" charset="0"/>
                <a:ea typeface="Times New Roman" pitchFamily="34" charset="-122"/>
                <a:cs typeface="Times New Roman" pitchFamily="34" charset="-120"/>
              </a:rPr>
              <a:t>translational </a:t>
            </a:r>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(render conduct into the terms the system reads), </a:t>
            </a:r>
            <a:pPr algn="l" indent="0" marL="0">
              <a:lnSpc>
                <a:spcPct val="121212"/>
              </a:lnSpc>
              <a:buNone/>
            </a:pPr>
            <a:r>
              <a:rPr lang="en-US" sz="1088" i="1" dirty="0">
                <a:solidFill>
                  <a:srgbClr val="0E1A2E"/>
                </a:solidFill>
                <a:latin typeface="Times New Roman" pitchFamily="34" charset="0"/>
                <a:ea typeface="Times New Roman" pitchFamily="34" charset="-122"/>
                <a:cs typeface="Times New Roman" pitchFamily="34" charset="-120"/>
              </a:rPr>
              <a:t>temporal </a:t>
            </a:r>
            <a:pPr algn="l" indent="0" marL="0">
              <a:lnSpc>
                <a:spcPct val="121212"/>
              </a:lnSpc>
              <a:buNone/>
            </a:pPr>
            <a:r>
              <a:rPr lang="en-US" sz="1088" dirty="0">
                <a:solidFill>
                  <a:srgbClr val="0E1A2E"/>
                </a:solidFill>
                <a:latin typeface="Times New Roman" pitchFamily="34" charset="0"/>
                <a:ea typeface="Times New Roman" pitchFamily="34" charset="-122"/>
                <a:cs typeface="Times New Roman" pitchFamily="34" charset="-120"/>
              </a:rPr>
              <a:t>(hold a strategy through undisclosed change). It is what algorithmic literacy becomes when your own conduct is a variable the system optimizes. The competence is unevenly held — and opacity is a rent-preserving strategy of the mediator itself.</a:t>
            </a:r>
            <a:endParaRPr lang="en-US" sz="1088" dirty="0"/>
          </a:p>
        </p:txBody>
      </p:sp>
      <p:sp>
        <p:nvSpPr>
          <p:cNvPr id="39" name="Shape 34"/>
          <p:cNvSpPr/>
          <p:nvPr/>
        </p:nvSpPr>
        <p:spPr>
          <a:xfrm>
            <a:off x="12036400" y="1704975"/>
            <a:ext cx="9525" cy="8277225"/>
          </a:xfrm>
          <a:prstGeom prst="rect">
            <a:avLst/>
          </a:prstGeom>
          <a:solidFill>
            <a:srgbClr val="C7CED6"/>
          </a:solidFill>
          <a:ln/>
        </p:spPr>
      </p:sp>
      <p:sp>
        <p:nvSpPr>
          <p:cNvPr id="40" name="Shape 35"/>
          <p:cNvSpPr/>
          <p:nvPr/>
        </p:nvSpPr>
        <p:spPr>
          <a:xfrm>
            <a:off x="12312625" y="2009775"/>
            <a:ext cx="5518100" cy="9525"/>
          </a:xfrm>
          <a:prstGeom prst="rect">
            <a:avLst/>
          </a:prstGeom>
          <a:solidFill>
            <a:srgbClr val="162C4A"/>
          </a:solidFill>
          <a:ln/>
        </p:spPr>
      </p:sp>
      <p:sp>
        <p:nvSpPr>
          <p:cNvPr id="41" name="Text 36"/>
          <p:cNvSpPr/>
          <p:nvPr/>
        </p:nvSpPr>
        <p:spPr>
          <a:xfrm>
            <a:off x="12312625" y="1704975"/>
            <a:ext cx="6069910" cy="285750"/>
          </a:xfrm>
          <a:prstGeom prst="rect">
            <a:avLst/>
          </a:prstGeom>
          <a:noFill/>
          <a:ln/>
        </p:spPr>
        <p:txBody>
          <a:bodyPr wrap="square" lIns="25400" tIns="25400" rIns="25400" bIns="25400" rtlCol="0" anchor="t">
            <a:normAutofit/>
          </a:bodyPr>
          <a:lstStyle/>
          <a:p>
            <a:pPr algn="l" indent="0" marL="0">
              <a:lnSpc>
                <a:spcPct val="108333"/>
              </a:lnSpc>
              <a:buNone/>
            </a:pPr>
            <a:r>
              <a:rPr lang="en-US" sz="1575" b="1" dirty="0">
                <a:solidFill>
                  <a:srgbClr val="162C4A"/>
                </a:solidFill>
                <a:latin typeface="Times New Roman" pitchFamily="34" charset="0"/>
                <a:ea typeface="Times New Roman" pitchFamily="34" charset="-122"/>
                <a:cs typeface="Times New Roman" pitchFamily="34" charset="-120"/>
              </a:rPr>
              <a:t>3. Exit, voice, and coordinative sovereignty</a:t>
            </a:r>
            <a:endParaRPr lang="en-US" sz="1575" dirty="0"/>
          </a:p>
        </p:txBody>
      </p:sp>
      <p:sp>
        <p:nvSpPr>
          <p:cNvPr id="42" name="Shape 37"/>
          <p:cNvSpPr/>
          <p:nvPr/>
        </p:nvSpPr>
        <p:spPr>
          <a:xfrm>
            <a:off x="12312625" y="5084341"/>
            <a:ext cx="5518100" cy="9525"/>
          </a:xfrm>
          <a:prstGeom prst="rect">
            <a:avLst/>
          </a:prstGeom>
          <a:solidFill>
            <a:srgbClr val="C7CED6"/>
          </a:solidFill>
          <a:ln/>
        </p:spPr>
      </p:sp>
      <p:sp>
        <p:nvSpPr>
          <p:cNvPr id="43" name="Text 38"/>
          <p:cNvSpPr/>
          <p:nvPr/>
        </p:nvSpPr>
        <p:spPr>
          <a:xfrm>
            <a:off x="12036720" y="2162175"/>
            <a:ext cx="6069910" cy="190500"/>
          </a:xfrm>
          <a:prstGeom prst="rect">
            <a:avLst/>
          </a:prstGeom>
          <a:noFill/>
          <a:ln/>
        </p:spPr>
        <p:txBody>
          <a:bodyPr wrap="square" lIns="25400" tIns="25400" rIns="25400" bIns="25400" rtlCol="0" anchor="t">
            <a:normAutofit/>
          </a:bodyPr>
          <a:lstStyle/>
          <a:p>
            <a:pPr algn="ctr" indent="0" marL="0">
              <a:lnSpc>
                <a:spcPct val="118519"/>
              </a:lnSpc>
              <a:buNone/>
            </a:pPr>
            <a:r>
              <a:rPr lang="en-US" sz="900" spc="90" kern="0" dirty="0">
                <a:solidFill>
                  <a:srgbClr val="555555"/>
                </a:solidFill>
                <a:latin typeface="Times New Roman" pitchFamily="34" charset="0"/>
                <a:ea typeface="Times New Roman" pitchFamily="34" charset="-122"/>
                <a:cs typeface="Times New Roman" pitchFamily="34" charset="-120"/>
              </a:rPr>
              <a:t>FIGURE 3 · THE BYPASS TEST DECIDES WHICH SOVEREIGNTY IS AVAILABLE</a:t>
            </a:r>
            <a:endParaRPr lang="en-US" sz="900" dirty="0"/>
          </a:p>
        </p:txBody>
      </p:sp>
      <p:pic>
        <p:nvPicPr>
          <p:cNvPr id="44"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312625" y="2371725"/>
            <a:ext cx="5518100" cy="2636416"/>
          </a:xfrm>
          <a:prstGeom prst="rect">
            <a:avLst/>
          </a:prstGeom>
        </p:spPr>
      </p:pic>
      <p:sp>
        <p:nvSpPr>
          <p:cNvPr id="45" name="Text 39"/>
          <p:cNvSpPr/>
          <p:nvPr/>
        </p:nvSpPr>
        <p:spPr>
          <a:xfrm>
            <a:off x="12312625" y="5198641"/>
            <a:ext cx="5683643" cy="581025"/>
          </a:xfrm>
          <a:prstGeom prst="rect">
            <a:avLst/>
          </a:prstGeom>
          <a:noFill/>
          <a:ln/>
        </p:spPr>
        <p:txBody>
          <a:bodyPr wrap="square" lIns="25400" tIns="25400" rIns="25400" bIns="25400" rtlCol="0" anchor="t">
            <a:normAutofit/>
          </a:bodyPr>
          <a:lstStyle/>
          <a:p>
            <a:pPr algn="l" indent="0" marL="0">
              <a:lnSpc>
                <a:spcPct val="118750"/>
              </a:lnSpc>
              <a:buNone/>
            </a:pPr>
            <a:r>
              <a:rPr lang="en-US" sz="1050" dirty="0">
                <a:solidFill>
                  <a:srgbClr val="0E1A2E"/>
                </a:solidFill>
                <a:latin typeface="Times New Roman" pitchFamily="34" charset="0"/>
                <a:ea typeface="Times New Roman" pitchFamily="34" charset="-122"/>
                <a:cs typeface="Times New Roman" pitchFamily="34" charset="-120"/>
              </a:rPr>
              <a:t>A platform is a </a:t>
            </a:r>
            <a:pPr algn="l" indent="0" marL="0">
              <a:lnSpc>
                <a:spcPct val="118750"/>
              </a:lnSpc>
              <a:buNone/>
            </a:pPr>
            <a:r>
              <a:rPr lang="en-US" sz="1050" b="1" dirty="0">
                <a:solidFill>
                  <a:srgbClr val="0E1A2E"/>
                </a:solidFill>
                <a:latin typeface="Times New Roman" pitchFamily="34" charset="0"/>
                <a:ea typeface="Times New Roman" pitchFamily="34" charset="-122"/>
                <a:cs typeface="Times New Roman" pitchFamily="34" charset="-120"/>
              </a:rPr>
              <a:t>portfolio of mediators </a:t>
            </a:r>
            <a:pPr algn="l" indent="0" marL="0">
              <a:lnSpc>
                <a:spcPct val="118750"/>
              </a:lnSpc>
              <a:buNone/>
            </a:pPr>
            <a:r>
              <a:rPr lang="en-US" sz="1050" dirty="0">
                <a:solidFill>
                  <a:srgbClr val="0E1A2E"/>
                </a:solidFill>
                <a:latin typeface="Times New Roman" pitchFamily="34" charset="0"/>
                <a:ea typeface="Times New Roman" pitchFamily="34" charset="-122"/>
                <a:cs typeface="Times New Roman" pitchFamily="34" charset="-120"/>
              </a:rPr>
              <a:t>— necessary in one function, contingent in another. Treating a necessary mediator as contingent wastes effort on an exit that cannot be had; treating a contingent one as necessary concedes a bypass that could be opened.</a:t>
            </a:r>
            <a:endParaRPr lang="en-US" sz="1050" dirty="0"/>
          </a:p>
        </p:txBody>
      </p:sp>
      <p:sp>
        <p:nvSpPr>
          <p:cNvPr id="46" name="Shape 40"/>
          <p:cNvSpPr/>
          <p:nvPr/>
        </p:nvSpPr>
        <p:spPr>
          <a:xfrm>
            <a:off x="12312625" y="7151266"/>
            <a:ext cx="5518100" cy="19050"/>
          </a:xfrm>
          <a:prstGeom prst="rect">
            <a:avLst/>
          </a:prstGeom>
          <a:solidFill>
            <a:srgbClr val="162C4A"/>
          </a:solidFill>
          <a:ln/>
        </p:spPr>
      </p:sp>
      <p:sp>
        <p:nvSpPr>
          <p:cNvPr id="47" name="Shape 41"/>
          <p:cNvSpPr/>
          <p:nvPr/>
        </p:nvSpPr>
        <p:spPr>
          <a:xfrm>
            <a:off x="12312625" y="5846341"/>
            <a:ext cx="5518100" cy="19050"/>
          </a:xfrm>
          <a:prstGeom prst="rect">
            <a:avLst/>
          </a:prstGeom>
          <a:solidFill>
            <a:srgbClr val="162C4A"/>
          </a:solidFill>
          <a:ln/>
        </p:spPr>
      </p:sp>
      <p:sp>
        <p:nvSpPr>
          <p:cNvPr id="48" name="Text 42"/>
          <p:cNvSpPr/>
          <p:nvPr/>
        </p:nvSpPr>
        <p:spPr>
          <a:xfrm>
            <a:off x="12312625" y="5960641"/>
            <a:ext cx="6069910" cy="190500"/>
          </a:xfrm>
          <a:prstGeom prst="rect">
            <a:avLst/>
          </a:prstGeom>
          <a:noFill/>
          <a:ln/>
        </p:spPr>
        <p:txBody>
          <a:bodyPr wrap="square" lIns="25400" tIns="25400" rIns="25400" bIns="25400" rtlCol="0" anchor="t">
            <a:normAutofit/>
          </a:bodyPr>
          <a:lstStyle/>
          <a:p>
            <a:pPr algn="l" indent="0" marL="0">
              <a:lnSpc>
                <a:spcPct val="118519"/>
              </a:lnSpc>
              <a:buNone/>
            </a:pPr>
            <a:r>
              <a:rPr lang="en-US" sz="900" spc="90" kern="0" dirty="0">
                <a:solidFill>
                  <a:srgbClr val="B20812"/>
                </a:solidFill>
                <a:latin typeface="Times New Roman" pitchFamily="34" charset="0"/>
                <a:ea typeface="Times New Roman" pitchFamily="34" charset="-122"/>
                <a:cs typeface="Times New Roman" pitchFamily="34" charset="-120"/>
              </a:rPr>
              <a:t>DEFINITION</a:t>
            </a:r>
            <a:endParaRPr lang="en-US" sz="900" dirty="0"/>
          </a:p>
        </p:txBody>
      </p:sp>
      <p:sp>
        <p:nvSpPr>
          <p:cNvPr id="49" name="Text 43"/>
          <p:cNvSpPr/>
          <p:nvPr/>
        </p:nvSpPr>
        <p:spPr>
          <a:xfrm>
            <a:off x="12312625" y="6165428"/>
            <a:ext cx="1573999" cy="185738"/>
          </a:xfrm>
          <a:prstGeom prst="rect">
            <a:avLst/>
          </a:prstGeom>
          <a:noFill/>
          <a:ln/>
        </p:spPr>
        <p:txBody>
          <a:bodyPr wrap="square" lIns="25400" tIns="25400" rIns="25400" bIns="25400" rtlCol="0" anchor="t">
            <a:normAutofit/>
          </a:bodyPr>
          <a:lstStyle/>
          <a:p>
            <a:pPr algn="l" indent="0" marL="0">
              <a:lnSpc>
                <a:spcPct val="118750"/>
              </a:lnSpc>
              <a:buNone/>
            </a:pPr>
            <a:r>
              <a:rPr lang="en-US" sz="1050" b="1" dirty="0">
                <a:solidFill>
                  <a:srgbClr val="0E1A2E"/>
                </a:solidFill>
                <a:latin typeface="Times New Roman" pitchFamily="34" charset="0"/>
                <a:ea typeface="Times New Roman" pitchFamily="34" charset="-122"/>
                <a:cs typeface="Times New Roman" pitchFamily="34" charset="-120"/>
              </a:rPr>
              <a:t>Coordinative sovereignty</a:t>
            </a:r>
            <a:endParaRPr lang="en-US" sz="1050" dirty="0"/>
          </a:p>
        </p:txBody>
      </p:sp>
      <p:sp>
        <p:nvSpPr>
          <p:cNvPr id="50" name="Text 44"/>
          <p:cNvSpPr/>
          <p:nvPr/>
        </p:nvSpPr>
        <p:spPr>
          <a:xfrm>
            <a:off x="12312625" y="6165428"/>
            <a:ext cx="5679504" cy="547687"/>
          </a:xfrm>
          <a:prstGeom prst="rect">
            <a:avLst/>
          </a:prstGeom>
          <a:noFill/>
          <a:ln/>
        </p:spPr>
        <p:txBody>
          <a:bodyPr wrap="square" lIns="0" tIns="0" rIns="0" bIns="0" rtlCol="0" anchor="t">
            <a:normAutofit/>
          </a:bodyPr>
          <a:lstStyle/>
          <a:p>
            <a:pPr algn="l" indent="0" marL="0">
              <a:lnSpc>
                <a:spcPct val="118750"/>
              </a:lnSpc>
              <a:buNone/>
            </a:pPr>
            <a:r>
              <a:rPr lang="en-US" sz="1050" dirty="0">
                <a:solidFill>
                  <a:srgbClr val="0E1A2E"/>
                </a:solidFill>
                <a:latin typeface="Times New Roman" pitchFamily="34" charset="0"/>
                <a:ea typeface="Times New Roman" pitchFamily="34" charset="-122"/>
                <a:cs typeface="Times New Roman" pitchFamily="34" charset="-120"/>
              </a:rPr>
              <a:t>is the autonomy proper to being irreducibly coordinated: the power to shape the terms on which one is mediated, to contest the mediator's arbitrary power, and to hold a share in the governance of an arrangement one cannot leave. Its currency is</a:t>
            </a:r>
            <a:endParaRPr lang="en-US" sz="1050" dirty="0"/>
          </a:p>
        </p:txBody>
      </p:sp>
      <p:sp>
        <p:nvSpPr>
          <p:cNvPr id="51" name="Text 45"/>
          <p:cNvSpPr/>
          <p:nvPr/>
        </p:nvSpPr>
        <p:spPr>
          <a:xfrm>
            <a:off x="16048509" y="6527378"/>
            <a:ext cx="835000" cy="185738"/>
          </a:xfrm>
          <a:prstGeom prst="rect">
            <a:avLst/>
          </a:prstGeom>
          <a:noFill/>
          <a:ln/>
        </p:spPr>
        <p:txBody>
          <a:bodyPr wrap="square" lIns="25400" tIns="25400" rIns="25400" bIns="25400" rtlCol="0" anchor="t">
            <a:normAutofit/>
          </a:bodyPr>
          <a:lstStyle/>
          <a:p>
            <a:pPr algn="l" indent="0" marL="0">
              <a:lnSpc>
                <a:spcPct val="118750"/>
              </a:lnSpc>
              <a:buNone/>
            </a:pPr>
            <a:r>
              <a:rPr lang="en-US" sz="1050" i="1" dirty="0">
                <a:solidFill>
                  <a:srgbClr val="0E1A2E"/>
                </a:solidFill>
                <a:latin typeface="Times New Roman" pitchFamily="34" charset="0"/>
                <a:ea typeface="Times New Roman" pitchFamily="34" charset="-122"/>
                <a:cs typeface="Times New Roman" pitchFamily="34" charset="-120"/>
              </a:rPr>
              <a:t>effective voice</a:t>
            </a:r>
            <a:endParaRPr lang="en-US" sz="1050" dirty="0"/>
          </a:p>
        </p:txBody>
      </p:sp>
      <p:sp>
        <p:nvSpPr>
          <p:cNvPr id="52" name="Text 46"/>
          <p:cNvSpPr/>
          <p:nvPr/>
        </p:nvSpPr>
        <p:spPr>
          <a:xfrm>
            <a:off x="12312625" y="6527378"/>
            <a:ext cx="5675672" cy="547687"/>
          </a:xfrm>
          <a:prstGeom prst="rect">
            <a:avLst/>
          </a:prstGeom>
          <a:noFill/>
          <a:ln/>
        </p:spPr>
        <p:txBody>
          <a:bodyPr wrap="square" lIns="0" tIns="0" rIns="0" bIns="0" rtlCol="0" anchor="t">
            <a:normAutofit/>
          </a:bodyPr>
          <a:lstStyle/>
          <a:p>
            <a:pPr algn="l" indent="0" marL="0">
              <a:lnSpc>
                <a:spcPct val="118750"/>
              </a:lnSpc>
              <a:buNone/>
            </a:pPr>
            <a:r>
              <a:rPr lang="en-US" sz="1050" dirty="0">
                <a:solidFill>
                  <a:srgbClr val="0E1A2E"/>
                </a:solidFill>
                <a:latin typeface="Times New Roman" pitchFamily="34" charset="0"/>
                <a:ea typeface="Times New Roman" pitchFamily="34" charset="-122"/>
                <a:cs typeface="Times New Roman" pitchFamily="34" charset="-120"/>
              </a:rPr>
              <a:t>. It rests on non-domination (Pettit), relational autonomy (Nedelsky), involvement (Markell), and commons governance (Ostrom).</a:t>
            </a:r>
            <a:endParaRPr lang="en-US" sz="1050" dirty="0"/>
          </a:p>
        </p:txBody>
      </p:sp>
      <p:sp>
        <p:nvSpPr>
          <p:cNvPr id="53" name="Text 47"/>
          <p:cNvSpPr/>
          <p:nvPr/>
        </p:nvSpPr>
        <p:spPr>
          <a:xfrm>
            <a:off x="12312625" y="7275091"/>
            <a:ext cx="6069910" cy="209550"/>
          </a:xfrm>
          <a:prstGeom prst="rect">
            <a:avLst/>
          </a:prstGeom>
          <a:noFill/>
          <a:ln/>
        </p:spPr>
        <p:txBody>
          <a:bodyPr wrap="square" lIns="25400" tIns="25400" rIns="25400" bIns="25400" rtlCol="0" anchor="t">
            <a:normAutofit/>
          </a:bodyPr>
          <a:lstStyle/>
          <a:p>
            <a:pPr algn="l" indent="0" marL="0">
              <a:lnSpc>
                <a:spcPct val="116129"/>
              </a:lnSpc>
              <a:buNone/>
            </a:pPr>
            <a:r>
              <a:rPr lang="en-US" sz="1013" b="1" dirty="0">
                <a:solidFill>
                  <a:srgbClr val="0E1A2E"/>
                </a:solidFill>
                <a:latin typeface="Times New Roman" pitchFamily="34" charset="0"/>
                <a:ea typeface="Times New Roman" pitchFamily="34" charset="-122"/>
                <a:cs typeface="Times New Roman" pitchFamily="34" charset="-120"/>
              </a:rPr>
              <a:t>Implications</a:t>
            </a:r>
            <a:endParaRPr lang="en-US" sz="1013" dirty="0"/>
          </a:p>
        </p:txBody>
      </p:sp>
      <p:sp>
        <p:nvSpPr>
          <p:cNvPr id="54" name="Text 48"/>
          <p:cNvSpPr/>
          <p:nvPr/>
        </p:nvSpPr>
        <p:spPr>
          <a:xfrm>
            <a:off x="12312625" y="7484641"/>
            <a:ext cx="952500" cy="381000"/>
          </a:xfrm>
          <a:prstGeom prst="rect">
            <a:avLst/>
          </a:prstGeom>
          <a:noFill/>
          <a:ln/>
        </p:spPr>
        <p:txBody>
          <a:bodyPr wrap="square" lIns="25400" tIns="25400" rIns="25400" bIns="25400" rtlCol="0" anchor="t">
            <a:normAutofit/>
          </a:bodyPr>
          <a:lstStyle/>
          <a:p>
            <a:pPr algn="l" indent="0" marL="0">
              <a:lnSpc>
                <a:spcPct val="116129"/>
              </a:lnSpc>
              <a:buNone/>
            </a:pPr>
            <a:r>
              <a:rPr lang="en-US" sz="1013" b="1" i="1" dirty="0">
                <a:solidFill>
                  <a:srgbClr val="162C4A"/>
                </a:solidFill>
                <a:latin typeface="Times New Roman" pitchFamily="34" charset="0"/>
                <a:ea typeface="Times New Roman" pitchFamily="34" charset="-122"/>
                <a:cs typeface="Times New Roman" pitchFamily="34" charset="-120"/>
              </a:rPr>
              <a:t>Scholars</a:t>
            </a:r>
            <a:endParaRPr lang="en-US" sz="1013" dirty="0"/>
          </a:p>
        </p:txBody>
      </p:sp>
      <p:sp>
        <p:nvSpPr>
          <p:cNvPr id="55" name="Text 49"/>
          <p:cNvSpPr/>
          <p:nvPr/>
        </p:nvSpPr>
        <p:spPr>
          <a:xfrm>
            <a:off x="13284175" y="7484641"/>
            <a:ext cx="4682947" cy="381000"/>
          </a:xfrm>
          <a:prstGeom prst="rect">
            <a:avLst/>
          </a:prstGeom>
          <a:noFill/>
          <a:ln/>
        </p:spPr>
        <p:txBody>
          <a:bodyPr wrap="square" lIns="25400" tIns="25400" rIns="25400" bIns="25400" rtlCol="0" anchor="t">
            <a:normAutofit/>
          </a:bodyPr>
          <a:lstStyle/>
          <a:p>
            <a:pPr algn="l" indent="0" marL="0">
              <a:lnSpc>
                <a:spcPct val="116129"/>
              </a:lnSpc>
              <a:buNone/>
            </a:pPr>
            <a:r>
              <a:rPr lang="en-US" sz="1013" dirty="0">
                <a:solidFill>
                  <a:srgbClr val="0E1A2E"/>
                </a:solidFill>
                <a:latin typeface="Times New Roman" pitchFamily="34" charset="0"/>
                <a:ea typeface="Times New Roman" pitchFamily="34" charset="-122"/>
                <a:cs typeface="Times New Roman" pitchFamily="34" charset="-120"/>
              </a:rPr>
              <a:t>Digital sovereignty (a literacy construct) and coordinative sovereignty (an algorithmacy construct) vary independently and call for separate measurement.</a:t>
            </a:r>
            <a:endParaRPr lang="en-US" sz="1013" dirty="0"/>
          </a:p>
        </p:txBody>
      </p:sp>
      <p:sp>
        <p:nvSpPr>
          <p:cNvPr id="56" name="Text 50"/>
          <p:cNvSpPr/>
          <p:nvPr/>
        </p:nvSpPr>
        <p:spPr>
          <a:xfrm>
            <a:off x="12312625" y="7865641"/>
            <a:ext cx="952500" cy="552450"/>
          </a:xfrm>
          <a:prstGeom prst="rect">
            <a:avLst/>
          </a:prstGeom>
          <a:noFill/>
          <a:ln/>
        </p:spPr>
        <p:txBody>
          <a:bodyPr wrap="square" lIns="25400" tIns="25400" rIns="25400" bIns="25400" rtlCol="0" anchor="t">
            <a:normAutofit/>
          </a:bodyPr>
          <a:lstStyle/>
          <a:p>
            <a:pPr algn="l" indent="0" marL="0">
              <a:lnSpc>
                <a:spcPct val="116129"/>
              </a:lnSpc>
              <a:buNone/>
            </a:pPr>
            <a:r>
              <a:rPr lang="en-US" sz="1013" b="1" i="1" dirty="0">
                <a:solidFill>
                  <a:srgbClr val="162C4A"/>
                </a:solidFill>
                <a:latin typeface="Times New Roman" pitchFamily="34" charset="0"/>
                <a:ea typeface="Times New Roman" pitchFamily="34" charset="-122"/>
                <a:cs typeface="Times New Roman" pitchFamily="34" charset="-120"/>
              </a:rPr>
              <a:t>Managers</a:t>
            </a:r>
            <a:endParaRPr lang="en-US" sz="1013" dirty="0"/>
          </a:p>
        </p:txBody>
      </p:sp>
      <p:sp>
        <p:nvSpPr>
          <p:cNvPr id="57" name="Text 51"/>
          <p:cNvSpPr/>
          <p:nvPr/>
        </p:nvSpPr>
        <p:spPr>
          <a:xfrm>
            <a:off x="13284175" y="7865641"/>
            <a:ext cx="4682947" cy="552450"/>
          </a:xfrm>
          <a:prstGeom prst="rect">
            <a:avLst/>
          </a:prstGeom>
          <a:noFill/>
          <a:ln/>
        </p:spPr>
        <p:txBody>
          <a:bodyPr wrap="square" lIns="25400" tIns="25400" rIns="25400" bIns="25400" rtlCol="0" anchor="t">
            <a:normAutofit/>
          </a:bodyPr>
          <a:lstStyle/>
          <a:p>
            <a:pPr algn="l" indent="0" marL="0">
              <a:lnSpc>
                <a:spcPct val="116129"/>
              </a:lnSpc>
              <a:buNone/>
            </a:pPr>
            <a:r>
              <a:rPr lang="en-US" sz="1013" dirty="0">
                <a:solidFill>
                  <a:srgbClr val="0E1A2E"/>
                </a:solidFill>
                <a:latin typeface="Times New Roman" pitchFamily="34" charset="0"/>
                <a:ea typeface="Times New Roman" pitchFamily="34" charset="-122"/>
                <a:cs typeface="Times New Roman" pitchFamily="34" charset="-120"/>
              </a:rPr>
              <a:t>Compliance investment does not close the algorithmic gap. Diagnose each platform function: exit against contingent gates, voice against necessary ones. Algorithmacy can be trained, budgeted, and audited.</a:t>
            </a:r>
            <a:endParaRPr lang="en-US" sz="1013" dirty="0"/>
          </a:p>
        </p:txBody>
      </p:sp>
      <p:sp>
        <p:nvSpPr>
          <p:cNvPr id="58" name="Text 52"/>
          <p:cNvSpPr/>
          <p:nvPr/>
        </p:nvSpPr>
        <p:spPr>
          <a:xfrm>
            <a:off x="12312625" y="8418091"/>
            <a:ext cx="952500" cy="381000"/>
          </a:xfrm>
          <a:prstGeom prst="rect">
            <a:avLst/>
          </a:prstGeom>
          <a:noFill/>
          <a:ln/>
        </p:spPr>
        <p:txBody>
          <a:bodyPr wrap="square" lIns="25400" tIns="25400" rIns="25400" bIns="25400" rtlCol="0" anchor="t">
            <a:normAutofit/>
          </a:bodyPr>
          <a:lstStyle/>
          <a:p>
            <a:pPr algn="l" indent="0" marL="0">
              <a:lnSpc>
                <a:spcPct val="116129"/>
              </a:lnSpc>
              <a:buNone/>
            </a:pPr>
            <a:r>
              <a:rPr lang="en-US" sz="1013" b="1" i="1" dirty="0">
                <a:solidFill>
                  <a:srgbClr val="162C4A"/>
                </a:solidFill>
                <a:latin typeface="Times New Roman" pitchFamily="34" charset="0"/>
                <a:ea typeface="Times New Roman" pitchFamily="34" charset="-122"/>
                <a:cs typeface="Times New Roman" pitchFamily="34" charset="-120"/>
              </a:rPr>
              <a:t>Policymakers</a:t>
            </a:r>
            <a:endParaRPr lang="en-US" sz="1013" dirty="0"/>
          </a:p>
        </p:txBody>
      </p:sp>
      <p:sp>
        <p:nvSpPr>
          <p:cNvPr id="59" name="Text 53"/>
          <p:cNvSpPr/>
          <p:nvPr/>
        </p:nvSpPr>
        <p:spPr>
          <a:xfrm>
            <a:off x="13284175" y="8418091"/>
            <a:ext cx="4682947" cy="381000"/>
          </a:xfrm>
          <a:prstGeom prst="rect">
            <a:avLst/>
          </a:prstGeom>
          <a:noFill/>
          <a:ln/>
        </p:spPr>
        <p:txBody>
          <a:bodyPr wrap="square" lIns="25400" tIns="25400" rIns="25400" bIns="25400" rtlCol="0" anchor="t">
            <a:normAutofit/>
          </a:bodyPr>
          <a:lstStyle/>
          <a:p>
            <a:pPr algn="l" indent="0" marL="0">
              <a:lnSpc>
                <a:spcPct val="116129"/>
              </a:lnSpc>
              <a:buNone/>
            </a:pPr>
            <a:r>
              <a:rPr lang="en-US" sz="1013" dirty="0">
                <a:solidFill>
                  <a:srgbClr val="0E1A2E"/>
                </a:solidFill>
                <a:latin typeface="Times New Roman" pitchFamily="34" charset="0"/>
                <a:ea typeface="Times New Roman" pitchFamily="34" charset="-122"/>
                <a:cs typeface="Times New Roman" pitchFamily="34" charset="-120"/>
              </a:rPr>
              <a:t>Build standing, not just legibility: contestation rights, collective-organization rights, and channels that turn disclosure into accountability.</a:t>
            </a:r>
            <a:endParaRPr lang="en-US" sz="1013" dirty="0"/>
          </a:p>
        </p:txBody>
      </p:sp>
      <p:sp>
        <p:nvSpPr>
          <p:cNvPr id="60" name="Shape 54"/>
          <p:cNvSpPr/>
          <p:nvPr/>
        </p:nvSpPr>
        <p:spPr>
          <a:xfrm>
            <a:off x="12312625" y="8865766"/>
            <a:ext cx="28575" cy="542925"/>
          </a:xfrm>
          <a:prstGeom prst="rect">
            <a:avLst/>
          </a:prstGeom>
          <a:solidFill>
            <a:srgbClr val="B20812"/>
          </a:solidFill>
          <a:ln/>
        </p:spPr>
      </p:sp>
      <p:sp>
        <p:nvSpPr>
          <p:cNvPr id="61" name="Text 55"/>
          <p:cNvSpPr/>
          <p:nvPr/>
        </p:nvSpPr>
        <p:spPr>
          <a:xfrm>
            <a:off x="12455500" y="8865766"/>
            <a:ext cx="5540768" cy="581025"/>
          </a:xfrm>
          <a:prstGeom prst="rect">
            <a:avLst/>
          </a:prstGeom>
          <a:noFill/>
          <a:ln/>
        </p:spPr>
        <p:txBody>
          <a:bodyPr wrap="square" lIns="25400" tIns="25400" rIns="25400" bIns="25400" rtlCol="0" anchor="t">
            <a:normAutofit/>
          </a:bodyPr>
          <a:lstStyle/>
          <a:p>
            <a:pPr algn="l" indent="0" marL="0">
              <a:lnSpc>
                <a:spcPct val="118750"/>
              </a:lnSpc>
              <a:buNone/>
            </a:pPr>
            <a:r>
              <a:rPr lang="en-US" sz="1050" b="1" dirty="0">
                <a:solidFill>
                  <a:srgbClr val="0E1A2E"/>
                </a:solidFill>
                <a:latin typeface="Times New Roman" pitchFamily="34" charset="0"/>
                <a:ea typeface="Times New Roman" pitchFamily="34" charset="-122"/>
                <a:cs typeface="Times New Roman" pitchFamily="34" charset="-120"/>
              </a:rPr>
              <a:t>Takeaway. </a:t>
            </a:r>
            <a:pPr algn="l" indent="0" marL="0">
              <a:lnSpc>
                <a:spcPct val="118750"/>
              </a:lnSpc>
              <a:buNone/>
            </a:pPr>
            <a:r>
              <a:rPr lang="en-US" sz="1050" dirty="0">
                <a:solidFill>
                  <a:srgbClr val="0E1A2E"/>
                </a:solidFill>
                <a:latin typeface="Times New Roman" pitchFamily="34" charset="0"/>
                <a:ea typeface="Times New Roman" pitchFamily="34" charset="-122"/>
                <a:cs typeface="Times New Roman" pitchFamily="34" charset="-120"/>
              </a:rPr>
              <a:t>Sovereignty in the age of AI rests on the standing of the coordinated to govern the coordinations that govern them — and on the diffusion of the competence that standing requires. Neither reading nor control secures it.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2026-07-22T14:10:04Z</dcterms:created>
  <dcterms:modified xsi:type="dcterms:W3CDTF">2026-07-22T14:10:04Z</dcterms:modified>
</cp:coreProperties>
</file>