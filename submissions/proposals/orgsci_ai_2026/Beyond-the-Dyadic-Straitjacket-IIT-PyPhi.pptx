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3.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20.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7" r:id="rId9"/>
    <p:sldId id="258" r:id="rId10"/>
    <p:sldId id="280" r:id="rId33"/>
    <p:sldId id="261" r:id="rId13"/>
    <p:sldId id="269" r:id="rId21"/>
    <p:sldId id="270" r:id="rId22"/>
    <p:sldId id="262" r:id="rId14"/>
    <p:sldId id="274" r:id="rId26"/>
    <p:sldId id="281" r:id="rId34"/>
    <p:sldId id="275" r:id="rId27"/>
  </p:sldIdLst>
  <p:sldSz cy="5143500" cx="9144000"/>
  <p:notesSz cx="6858000" cy="9144000"/>
  <p:embeddedFontLst>
    <p:embeddedFont>
      <p:font typeface="Cambria Math"/>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62D1E5-19F7-4FD5-A18D-EC55B6832050}">
  <a:tblStyle styleId="{5762D1E5-19F7-4FD5-A18D-EC55B68320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2" Type="http://schemas.openxmlformats.org/officeDocument/2006/relationships/slide" Target="slides/slide15.xml"/><Relationship Id="rId21" Type="http://schemas.openxmlformats.org/officeDocument/2006/relationships/slide" Target="slides/slide1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0" Type="http://schemas.openxmlformats.org/officeDocument/2006/relationships/slide" Target="slides/slide3.xml"/><Relationship Id="rId32" Type="http://schemas.openxmlformats.org/officeDocument/2006/relationships/font" Target="fonts/CambriaMath-regular.fntdata"/><Relationship Id="rId13" Type="http://schemas.openxmlformats.org/officeDocument/2006/relationships/slide" Target="slides/slide6.xml"/><Relationship Id="rId14" Type="http://schemas.openxmlformats.org/officeDocument/2006/relationships/slide" Target="slides/slide7.xml"/><Relationship Id="rId33" Type="http://schemas.openxmlformats.org/officeDocument/2006/relationships/slide" Target="slides/slide25.xml"/><Relationship Id="rId34"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612a79a7ec52171c_1_7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h612a79a7ec52171c_1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Introduce the core question: for over a century, organization science has asked when a three-party coordination system forms an irreducible triad versus a chain of two-party links. We bring Integrated Information Theory (IIT 4.0) and PyPhi into organization science to solve that question mathematically, inside an open research harness that enacts the very triadic coordination we study.</a:t>
            </a:r>
            <a:endParaRPr/>
          </a:p>
          <a:p>
            <a:pPr indent="0" lvl="0" marL="0" rtl="0" algn="l">
              <a:spcBef>
                <a:spcPts val="0"/>
              </a:spcBef>
              <a:spcAft>
                <a:spcPts val="0"/>
              </a:spcAft>
              <a:buNone/>
            </a:pPr>
            <a:r>
              <a:rPr lang="en"/>
              <a:t>Sources: /workspace/gdoc_1fhM_v6_story_plus_addendum.md (Organization Science Stage 1 package, Parts I-II); https://github.com/rogerSuperBuilderAlpha/algorithmacy-lab</a:t>
            </a:r>
            <a:endParaRPr/>
          </a:p>
        </p:txBody>
      </p:sp>
      <p:sp>
        <p:nvSpPr>
          <p:cNvPr id="134" name="Google Shape;134;h612a79a7ec52171c_1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612a79a7ec52171c_1_8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h612a79a7ec52171c_1_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Contrast traditional bureaucratic coordination—which required literacy because written rules sat on the page in plain sight and decomposed into pairwise links—with modern platform and software coordination, which requires algorithmacy because an active computational third party updates everyone's options simultaneously.</a:t>
            </a:r>
            <a:endParaRPr/>
          </a:p>
          <a:p>
            <a:pPr indent="0" lvl="0" marL="0" rtl="0" algn="l">
              <a:spcBef>
                <a:spcPts val="0"/>
              </a:spcBef>
              <a:spcAft>
                <a:spcPts val="0"/>
              </a:spcAft>
              <a:buNone/>
            </a:pPr>
            <a:r>
              <a:rPr lang="en"/>
              <a:t>Sources: /workspace/gdoc_1fhM_v6_story_plus_addendum.md (Organization Science Stage 1 package, Parts I-II); https://github.com/rogerSuperBuilderAlpha/algorithmacy-lab</a:t>
            </a:r>
            <a:endParaRPr/>
          </a:p>
        </p:txBody>
      </p:sp>
      <p:sp>
        <p:nvSpPr>
          <p:cNvPr id="142" name="Google Shape;142;h612a79a7ec52171c_1_8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612a79a7ec52171c_1_10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h612a79a7ec52171c_1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Explain how theoretical neuroscience faced the exact same problem twenty years ago—when does a multi-part system act as an indivisible causal whole versus a collection of parts?—and how IIT 4.0 (Albantakis et al., 2023) and PyPhi (Mayner et al., 2018) solve it by testing every possible causal cut of the state-transition mechanism.</a:t>
            </a:r>
            <a:endParaRPr/>
          </a:p>
          <a:p>
            <a:pPr indent="0" lvl="0" marL="0" rtl="0" algn="l">
              <a:spcBef>
                <a:spcPts val="0"/>
              </a:spcBef>
              <a:spcAft>
                <a:spcPts val="0"/>
              </a:spcAft>
              <a:buNone/>
            </a:pPr>
            <a:r>
              <a:rPr lang="en"/>
              <a:t>Citations: Tononi (2004); Albantakis et al. (2023); Mayner et al. (2018). 96 of 256: correlation / mutual-information proxies vs exact PyPhi (Technical Addendum, Appendices A–B).</a:t>
            </a:r>
            <a:endParaRPr/>
          </a:p>
          <a:p>
            <a:pPr indent="0" lvl="0" marL="0" rtl="0" algn="l">
              <a:spcBef>
                <a:spcPts val="0"/>
              </a:spcBef>
              <a:spcAft>
                <a:spcPts val="0"/>
              </a:spcAft>
              <a:buNone/>
            </a:pPr>
            <a:r>
              <a:rPr lang="en"/>
              <a:t>Sources: /workspace/gdoc_1fhM_v6_story_plus_addendum.md (Organization Science Stage 1 package, Parts I-II, Table 1, Sections A.1/A.2); https://github.com/rogerSuperBuilderAlpha/algorithmacy-lab</a:t>
            </a:r>
            <a:endParaRPr/>
          </a:p>
        </p:txBody>
      </p:sp>
      <p:sp>
        <p:nvSpPr>
          <p:cNvPr id="167" name="Google Shape;167;h612a79a7ec52171c_1_1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612a79a7ec52171c_1_11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h612a79a7ec52171c_1_1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Explain how running competing ethnographic readings of ride-hail dispatch (Cameron, 2024; Rosenblat &amp; Stark, 2016) through PyPhi collapses a decade-long theoretical debate into a single, observable behavioral question: does the platform commit a match only when driver and rider are jointly locked in (P′ = D ∧ R, Φ = 2.0 bits), or does it pass an offer sequentially (P′ = D, Φ = 0.0)?</a:t>
            </a:r>
            <a:endParaRPr/>
          </a:p>
          <a:p>
            <a:pPr indent="0" lvl="0" marL="0" rtl="0" algn="l">
              <a:spcBef>
                <a:spcPts val="0"/>
              </a:spcBef>
              <a:spcAft>
                <a:spcPts val="0"/>
              </a:spcAft>
              <a:buNone/>
            </a:pPr>
            <a:r>
              <a:rPr lang="en"/>
              <a:t>Table 3: R1 Platform Manual (P′ = D ∧ R) Φ(MIP) = 2.000, core {D, P, R}; R2 Driver Experience (P′ = D) Φ(MIP) = 0.000.</a:t>
            </a:r>
            <a:endParaRPr/>
          </a:p>
          <a:p>
            <a:pPr indent="0" lvl="0" marL="0" rtl="0" algn="l">
              <a:spcBef>
                <a:spcPts val="0"/>
              </a:spcBef>
              <a:spcAft>
                <a:spcPts val="0"/>
              </a:spcAft>
              <a:buNone/>
            </a:pPr>
            <a:r>
              <a:rPr lang="en"/>
              <a:t>Sources: /workspace/gdoc_1fhM_v6_story_plus_addendum.md (Organization Science Stage 1 package, Parts I-II, Tables 3-4); https://github.com/rogerSuperBuilderAlpha/algorithmacy-lab (examples/01_gig_dispatch/, studies/strategic_model/)</a:t>
            </a:r>
            <a:endParaRPr/>
          </a:p>
        </p:txBody>
      </p:sp>
      <p:sp>
        <p:nvSpPr>
          <p:cNvPr id="175" name="Google Shape;175;h612a79a7ec52171c_1_1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612a79a7ec52171c_1_16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h612a79a7ec52171c_1_1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Walk through the Minimum Information Partition (MIP): PyPhi searches for the system's weakest link. If any partition leaves cause–effect power intact, Φ(MIP) = 0 and the system reduces to dyads regardless of how complex the ethnography sounds. And crucially, wholeness (Φ &gt; 0) is orthogonal to joint determination.</a:t>
            </a:r>
            <a:endParaRPr/>
          </a:p>
          <a:p>
            <a:pPr indent="0" lvl="0" marL="0" rtl="0" algn="l">
              <a:spcBef>
                <a:spcPts val="0"/>
              </a:spcBef>
              <a:spcAft>
                <a:spcPts val="0"/>
              </a:spcAft>
              <a:buNone/>
            </a:pPr>
            <a:r>
              <a:rPr lang="en"/>
              <a:t>Citations: Albantakis et al. (2023); Mayner et al. (2018).</a:t>
            </a:r>
            <a:endParaRPr/>
          </a:p>
          <a:p>
            <a:pPr indent="0" lvl="0" marL="0" rtl="0" algn="l">
              <a:spcBef>
                <a:spcPts val="0"/>
              </a:spcBef>
              <a:spcAft>
                <a:spcPts val="0"/>
              </a:spcAft>
              <a:buNone/>
            </a:pPr>
            <a:r>
              <a:rPr lang="en"/>
              <a:t>Sources: /workspace/gdoc_1fhM_v6_story_plus_addendum.md (Organization Science Stage 1 package, Parts I-II, Table 1, Sections A.1/A.2); https://github.com/rogerSuperBuilderAlpha/algorithmacy-lab</a:t>
            </a:r>
            <a:endParaRPr/>
          </a:p>
        </p:txBody>
      </p:sp>
      <p:sp>
        <p:nvSpPr>
          <p:cNvPr id="234" name="Google Shape;234;h612a79a7ec52171c_1_16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612a79a7ec52171c_1_17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h612a79a7ec52171c_1_1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Explain how crossing Joint Determination with Systemic Wholeness (Φ(MIP) &gt; 0) across all 256 mediated three-party Boolean structures (56 dyadic, 132 cycle-supported, 68 strictly mediated) overturns Thompson's (1967) sixty-year assumption that two-input interdependence and systemic wholeness are the same thing.</a:t>
            </a:r>
            <a:endParaRPr/>
          </a:p>
          <a:p>
            <a:pPr indent="0" lvl="0" marL="0" rtl="0" algn="l">
              <a:spcBef>
                <a:spcPts val="0"/>
              </a:spcBef>
              <a:spcAft>
                <a:spcPts val="0"/>
              </a:spcAft>
              <a:buNone/>
            </a:pPr>
            <a:r>
              <a:rPr lang="en"/>
              <a:t>Citations: Thompson (1967); census counts from the Stage 1 package (56 / 132 / 68 of 256).</a:t>
            </a:r>
            <a:endParaRPr/>
          </a:p>
          <a:p>
            <a:pPr indent="0" lvl="0" marL="0" rtl="0" algn="l">
              <a:spcBef>
                <a:spcPts val="0"/>
              </a:spcBef>
              <a:spcAft>
                <a:spcPts val="0"/>
              </a:spcAft>
              <a:buNone/>
            </a:pPr>
            <a:r>
              <a:rPr lang="en"/>
              <a:t>Sources: /workspace/gdoc_1fhM_v6_story_plus_addendum.md (Organization Science Stage 1 package, Parts I-II, Table 1, Sections A.1/A.2); https://github.com/rogerSuperBuilderAlpha/algorithmacy-lab</a:t>
            </a:r>
            <a:endParaRPr/>
          </a:p>
        </p:txBody>
      </p:sp>
      <p:sp>
        <p:nvSpPr>
          <p:cNvPr id="242" name="Google Shape;242;h612a79a7ec52171c_1_17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h612a79a7ec52171c_1_199: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h612a79a7ec52171c_1_1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Walk through what happens when actors alter the coordination rules across the 256 three-party structures (56 dyadic, 132 cycle-supported, 68 strictly mediated): platforms preserve lock-in by blocking counterpart exit and peer-to-peer channels, pooling factors drivers out of the core, direct off-app contact turns the platform into a Potemkin village, a one-sided outside option shrinks the core to two parties, and outside options on both sides collapse triadic lock-in to zero.</a:t>
            </a:r>
            <a:endParaRPr/>
          </a:p>
          <a:p>
            <a:pPr indent="0" lvl="0" marL="0" rtl="0" algn="l">
              <a:spcBef>
                <a:spcPts val="0"/>
              </a:spcBef>
              <a:spcAft>
                <a:spcPts val="0"/>
              </a:spcAft>
              <a:buNone/>
            </a:pPr>
            <a:r>
              <a:rPr lang="en"/>
              <a:t>Table 3: D1 Driver Pool Φ(MIP) = 1.000, core {P, R}; D2 Direct-Tie Bypass Φ(MIP) = 1.198, core {D, R}; O1 no outside options Φ = 2.000; O4 both have outside options Φ = 0.000. Table 4: blocking counterpart exit preserves full 3-party lock-in across 60/60 random trials.</a:t>
            </a:r>
            <a:endParaRPr/>
          </a:p>
          <a:p>
            <a:pPr indent="0" lvl="0" marL="0" rtl="0" algn="l">
              <a:spcBef>
                <a:spcPts val="0"/>
              </a:spcBef>
              <a:spcAft>
                <a:spcPts val="0"/>
              </a:spcAft>
              <a:buNone/>
            </a:pPr>
            <a:r>
              <a:rPr lang="en"/>
              <a:t>Sources: /workspace/gdoc_1fhM_v6_story_plus_addendum.md (Organization Science Stage 1 package, Parts I-II, Tables 3-4); https://github.com/rogerSuperBuilderAlpha/algorithmacy-lab (examples/01_gig_dispatch/, studies/strategic_model/)</a:t>
            </a:r>
            <a:endParaRPr/>
          </a:p>
        </p:txBody>
      </p:sp>
      <p:sp>
        <p:nvSpPr>
          <p:cNvPr id="274" name="Google Shape;274;h612a79a7ec52171c_1_19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612a79a7ec52171c_1_20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h612a79a7ec52171c_1_2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Close by inviting researchers to fork algorithmacy-lab, engage the harness with their own AI agents, and run exact PyPhi experiments—turning “triadic mediation” from a century-old metaphor into a cumulative, falsifiable science of coordination regimes.</a:t>
            </a:r>
            <a:endParaRPr/>
          </a:p>
          <a:p>
            <a:pPr indent="0" lvl="0" marL="0" rtl="0" algn="l">
              <a:spcBef>
                <a:spcPts val="0"/>
              </a:spcBef>
              <a:spcAft>
                <a:spcPts val="0"/>
              </a:spcAft>
              <a:buNone/>
            </a:pPr>
            <a:r>
              <a:rPr lang="en"/>
              <a:t>Repo: https://github.com/rogerSuperBuilderAlpha/algorithmacy-lab (MIT License). Stage 2 plan (Jan–May 2027): 10–15 published platform cases, strategic lever matrix (Table 4), multi-valued IIT 4.0 engine (pyphi_iit4_mv).</a:t>
            </a:r>
            <a:endParaRPr/>
          </a:p>
          <a:p>
            <a:pPr indent="0" lvl="0" marL="0" rtl="0" algn="l">
              <a:spcBef>
                <a:spcPts val="0"/>
              </a:spcBef>
              <a:spcAft>
                <a:spcPts val="0"/>
              </a:spcAft>
              <a:buNone/>
            </a:pPr>
            <a:r>
              <a:rPr lang="en"/>
              <a:t>Sources: /workspace/gdoc_1fhM_v6_story_plus_addendum.md (Part I Sections 3-5; Part II Appendix B); https://github.com/rogerSuperBuilderAlpha/algorithmacy-lab</a:t>
            </a:r>
            <a:endParaRPr/>
          </a:p>
        </p:txBody>
      </p:sp>
      <p:sp>
        <p:nvSpPr>
          <p:cNvPr id="282" name="Google Shape;282;h612a79a7ec52171c_1_20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612a79a7ec52171c_1_11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h612a79a7ec52171c_1_1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Explain why ethnographers of algorithmic work (Kellogg et al., 2020; Cameron, 2024; Rahman, 2021) are deadlocked: without a mathematical test of whether a three-party system loses causal information when partitioned into pairs, two scholars can observe the same platform and reach opposite theoretical verdicts.</a:t>
            </a:r>
            <a:endParaRPr/>
          </a:p>
          <a:p>
            <a:pPr indent="0" lvl="0" marL="0" rtl="0" algn="l">
              <a:spcBef>
                <a:spcPts val="0"/>
              </a:spcBef>
              <a:spcAft>
                <a:spcPts val="0"/>
              </a:spcAft>
              <a:buNone/>
            </a:pPr>
            <a:r>
              <a:rPr lang="en"/>
              <a:t>Citations: Simmel (1902/1950); Thompson (1967); Kellogg, Valentine, &amp; Christin (2020); Cameron (2024); Rahman (2021).</a:t>
            </a:r>
            <a:endParaRPr/>
          </a:p>
          <a:p>
            <a:pPr indent="0" lvl="0" marL="0" rtl="0" algn="l">
              <a:spcBef>
                <a:spcPts val="0"/>
              </a:spcBef>
              <a:spcAft>
                <a:spcPts val="0"/>
              </a:spcAft>
              <a:buNone/>
            </a:pPr>
            <a:r>
              <a:rPr lang="en"/>
              <a:t>Sources: /workspace/gdoc_1fhM_v6_story_plus_addendum.md (Organization Science Stage 1 package, Parts I-II); https://github.com/rogerSuperBuilderAlpha/algorithmacy-lab</a:t>
            </a:r>
            <a:endParaRPr/>
          </a:p>
        </p:txBody>
      </p:sp>
      <p:sp>
        <p:nvSpPr>
          <p:cNvPr id="175" name="Google Shape;175;h612a79a7ec52171c_1_1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612a79a7ec52171c_1_10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h612a79a7ec52171c_1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Explain why we are not having AI “do research” for us: standalone LLMs fail at structural irreducibility because they guess from surface vocabulary. Instead, we built algorithmacy-lab as a self-exemplifying triadic harness where neither human confirmation bias nor AI fluency can bypass the deterministic PyPhi referee in the middle.</a:t>
            </a:r>
            <a:endParaRPr/>
          </a:p>
          <a:p>
            <a:pPr indent="0" lvl="0" marL="0" rtl="0" algn="l">
              <a:spcBef>
                <a:spcPts val="0"/>
              </a:spcBef>
              <a:spcAft>
                <a:spcPts val="0"/>
              </a:spcAft>
              <a:buNone/>
            </a:pPr>
            <a:r>
              <a:rPr lang="en"/>
              <a:t>Evidence: logged blind LLM runs (encode/runs/) in which PyPhi refuted both of the LLM's own predictions (driver pool: LLM said triad, PyPhi showed drivers factor out; direct tie: LLM said it factors, PyPhi showed bypass core {D, R}). Four mandatory controls: irreducibility/controls.py, validate.py.</a:t>
            </a:r>
            <a:endParaRPr/>
          </a:p>
          <a:p>
            <a:pPr indent="0" lvl="0" marL="0" rtl="0" algn="l">
              <a:spcBef>
                <a:spcPts val="0"/>
              </a:spcBef>
              <a:spcAft>
                <a:spcPts val="0"/>
              </a:spcAft>
              <a:buNone/>
            </a:pPr>
            <a:r>
              <a:rPr lang="en"/>
              <a:t>Sources: /workspace/gdoc_1fhM_v6_story_plus_addendum.md (Part I Sections 3-5; Part II Appendix B); https://github.com/rogerSuperBuilderAlpha/algorithmacy-lab</a:t>
            </a:r>
            <a:endParaRPr/>
          </a:p>
        </p:txBody>
      </p:sp>
      <p:sp>
        <p:nvSpPr>
          <p:cNvPr id="167" name="Google Shape;167;h612a79a7ec52171c_1_1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26"/>
          <p:cNvSpPr txBox="1"/>
          <p:nvPr/>
        </p:nvSpPr>
        <p:spPr>
          <a:xfrm>
            <a:off x="617236" y="1097280"/>
            <a:ext cx="7909542" cy="27432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ORGANIZATION SCIENCE • IIT 4.0 • PYPHI</a:t>
            </a:r>
            <a:endParaRPr sz="1100"/>
          </a:p>
        </p:txBody>
      </p:sp>
      <p:sp>
        <p:nvSpPr>
          <p:cNvPr id="137" name="Google Shape;137;p26"/>
          <p:cNvSpPr txBox="1"/>
          <p:nvPr/>
        </p:nvSpPr>
        <p:spPr>
          <a:xfrm>
            <a:off x="617236" y="1440180"/>
            <a:ext cx="7909542" cy="82296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i="0" lang="en" sz="3300" u="none" cap="none" strike="noStrike">
                <a:solidFill>
                  <a:srgbClr val="000000"/>
                </a:solidFill>
                <a:latin typeface="Arial"/>
                <a:ea typeface="Arial"/>
                <a:cs typeface="Arial"/>
                <a:sym typeface="Arial"/>
              </a:rPr>
              <a:t>Beyond the Dyadic Straitjacket</a:t>
            </a:r>
            <a:endParaRPr sz="1100"/>
          </a:p>
        </p:txBody>
      </p:sp>
      <p:sp>
        <p:nvSpPr>
          <p:cNvPr id="138" name="Google Shape;138;p26"/>
          <p:cNvSpPr txBox="1"/>
          <p:nvPr/>
        </p:nvSpPr>
        <p:spPr>
          <a:xfrm>
            <a:off x="617236" y="2468880"/>
            <a:ext cx="7909500" cy="1146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00" u="none" cap="none" strike="noStrike">
                <a:solidFill>
                  <a:srgbClr val="000000"/>
                </a:solidFill>
                <a:latin typeface="Arial"/>
                <a:ea typeface="Arial"/>
                <a:cs typeface="Arial"/>
                <a:sym typeface="Arial"/>
              </a:rPr>
              <a:t>Bringing Integrated Information Theory (IIT 4.0) and PyPhi to Organizational Coordination via a Self-Exemplifying Research Harness.</a:t>
            </a:r>
            <a:endParaRPr sz="1100"/>
          </a:p>
          <a:p>
            <a:pPr indent="0" lvl="0" marL="0" marR="0" rtl="0" algn="l">
              <a:spcBef>
                <a:spcPts val="1200"/>
              </a:spcBef>
              <a:spcAft>
                <a:spcPts val="0"/>
              </a:spcAft>
              <a:buNone/>
            </a:pPr>
            <a:r>
              <a:rPr b="0" i="0" lang="en" sz="1700" u="none" cap="none" strike="noStrike">
                <a:solidFill>
                  <a:srgbClr val="000000"/>
                </a:solidFill>
                <a:latin typeface="Arial"/>
                <a:ea typeface="Arial"/>
                <a:cs typeface="Arial"/>
                <a:sym typeface="Arial"/>
              </a:rPr>
              <a:t>Organization Science Special Issue • Stage 1 Proposal • Algorithmacy Lab</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27"/>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COORDINATION SENSIBILITIES</a:t>
            </a:r>
            <a:endParaRPr sz="1100"/>
          </a:p>
        </p:txBody>
      </p:sp>
      <p:sp>
        <p:nvSpPr>
          <p:cNvPr id="145" name="Google Shape;145;p27"/>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From Literacy to Algorithmacy</a:t>
            </a:r>
            <a:endParaRPr sz="1100"/>
          </a:p>
        </p:txBody>
      </p:sp>
      <p:sp>
        <p:nvSpPr>
          <p:cNvPr id="146" name="Google Shape;146;p27"/>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00000"/>
                </a:solidFill>
                <a:latin typeface="Arial"/>
                <a:ea typeface="Arial"/>
                <a:cs typeface="Arial"/>
                <a:sym typeface="Arial"/>
              </a:rPr>
              <a:t>Oracy</a:t>
            </a:r>
            <a:r>
              <a:rPr b="0" i="0" lang="en" sz="1500" u="none" cap="none" strike="noStrike">
                <a:solidFill>
                  <a:srgbClr val="000000"/>
                </a:solidFill>
                <a:latin typeface="Arial"/>
                <a:ea typeface="Arial"/>
                <a:cs typeface="Arial"/>
                <a:sym typeface="Arial"/>
              </a:rPr>
              <a:t> — ARITY: 1 • SYNCHRONOUS PRESENCE</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Face-to-face mutual adjustment in shared physical space.</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Literacy</a:t>
            </a:r>
            <a:r>
              <a:rPr b="0" i="0" lang="en" sz="1500" u="none" cap="none" strike="noStrike">
                <a:solidFill>
                  <a:srgbClr val="000000"/>
                </a:solidFill>
                <a:latin typeface="Arial"/>
                <a:ea typeface="Arial"/>
                <a:cs typeface="Arial"/>
                <a:sym typeface="Arial"/>
              </a:rPr>
              <a:t> — ARITY: 2 • WRITTEN BUREAUCRACY</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Shared rules, contracts, and SOPs sit in the open; authority decomposes into chains of dyadic obligations.</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Numeracy</a:t>
            </a:r>
            <a:r>
              <a:rPr b="0" i="0" lang="en" sz="1500" u="none" cap="none" strike="noStrike">
                <a:solidFill>
                  <a:srgbClr val="000000"/>
                </a:solidFill>
                <a:latin typeface="Arial"/>
                <a:ea typeface="Arial"/>
                <a:cs typeface="Arial"/>
                <a:sym typeface="Arial"/>
              </a:rPr>
              <a:t> — ARITY: 2 • FORMAL ACCOUNTING</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Quantitative metrics and bilateral price signals across market ties.</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Algorithmacy</a:t>
            </a:r>
            <a:r>
              <a:rPr b="0" i="0" lang="en" sz="1500" u="none" cap="none" strike="noStrike">
                <a:solidFill>
                  <a:srgbClr val="000000"/>
                </a:solidFill>
                <a:latin typeface="Arial"/>
                <a:ea typeface="Arial"/>
                <a:cs typeface="Arial"/>
                <a:sym typeface="Arial"/>
              </a:rPr>
              <a:t> — ARITY: 3 • ALGORITHMIC MEDIATION</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An active, state-updating computational third party watches both sides at once and conditions each actor's next move on counterparts they never meet.</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30"/>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THE MATHEMATICAL INSTRUMENT</a:t>
            </a:r>
            <a:endParaRPr sz="1100"/>
          </a:p>
        </p:txBody>
      </p:sp>
      <p:sp>
        <p:nvSpPr>
          <p:cNvPr id="170" name="Google Shape;170;p30"/>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Integrated Information Theory (IIT 4.0) and PyPhi</a:t>
            </a:r>
            <a:endParaRPr sz="1100"/>
          </a:p>
        </p:txBody>
      </p:sp>
      <p:sp>
        <p:nvSpPr>
          <p:cNvPr id="171" name="Google Shape;171;p30"/>
          <p:cNvSpPr txBox="1"/>
          <p:nvPr/>
        </p:nvSpPr>
        <p:spPr>
          <a:xfrm>
            <a:off x="617236" y="137160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00000"/>
                </a:solidFill>
                <a:latin typeface="Arial"/>
                <a:ea typeface="Arial"/>
                <a:cs typeface="Arial"/>
                <a:sym typeface="Arial"/>
              </a:rPr>
              <a:t>Core Move: </a:t>
            </a:r>
            <a:r>
              <a:rPr b="0" i="0" lang="en" sz="1500" u="none" cap="none" strike="noStrike">
                <a:solidFill>
                  <a:srgbClr val="000000"/>
                </a:solidFill>
                <a:latin typeface="Arial"/>
                <a:ea typeface="Arial"/>
                <a:cs typeface="Arial"/>
                <a:sym typeface="Arial"/>
              </a:rPr>
              <a:t>Replace correlation and tie-counting with counterfactual causal partitioning (Tononi 2004; Albantakis et al. 2023; Mayner et al. 2018).</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PART 1 • WHY STANDARD TOOLS FAIL — Correlation Is Not Wholeness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Network Analysis: </a:t>
            </a:r>
            <a:r>
              <a:rPr b="0" i="0" lang="en" sz="1400" u="none" cap="none" strike="noStrike">
                <a:solidFill>
                  <a:srgbClr val="000000"/>
                </a:solidFill>
                <a:latin typeface="Arial"/>
                <a:ea typeface="Arial"/>
                <a:cs typeface="Arial"/>
                <a:sym typeface="Arial"/>
              </a:rPr>
              <a:t>Counts edges and brokerage paths, not whether three parties act as one unit.</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Time-Series Synergy: </a:t>
            </a:r>
            <a:r>
              <a:rPr b="0" i="0" lang="en" sz="1400" u="none" cap="none" strike="noStrike">
                <a:solidFill>
                  <a:srgbClr val="000000"/>
                </a:solidFill>
                <a:latin typeface="Arial"/>
                <a:ea typeface="Arial"/>
                <a:cs typeface="Arial"/>
                <a:sym typeface="Arial"/>
              </a:rPr>
              <a:t>Observational co-movement misses 96 of 256 structures PyPhi resolves.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Metaphorical Theory: </a:t>
            </a:r>
            <a:r>
              <a:rPr b="0" i="0" lang="en" sz="1400" u="none" cap="none" strike="noStrike">
                <a:solidFill>
                  <a:srgbClr val="000000"/>
                </a:solidFill>
                <a:latin typeface="Arial"/>
                <a:ea typeface="Arial"/>
                <a:cs typeface="Arial"/>
                <a:sym typeface="Arial"/>
              </a:rPr>
              <a:t>Conflates two-input influence with systemic wholeness.</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PART 2 • HOW IIT 4.0 &amp; PYPHI WORK — Counterfactual Partitioning</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State-Transition Mechanism: </a:t>
            </a:r>
            <a:r>
              <a:rPr b="0" i="0" lang="en" sz="1400" u="none" cap="none" strike="noStrike">
                <a:solidFill>
                  <a:srgbClr val="000000"/>
                </a:solidFill>
                <a:latin typeface="Arial"/>
                <a:ea typeface="Arial"/>
                <a:cs typeface="Arial"/>
                <a:sym typeface="Arial"/>
              </a:rPr>
              <a:t>Specifies how each actor's next step responds to the others.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Exhaustive Sever-Testing: </a:t>
            </a:r>
            <a:r>
              <a:rPr b="0" i="0" lang="en" sz="1400" u="none" cap="none" strike="noStrike">
                <a:solidFill>
                  <a:srgbClr val="000000"/>
                </a:solidFill>
                <a:latin typeface="Arial"/>
                <a:ea typeface="Arial"/>
                <a:cs typeface="Arial"/>
                <a:sym typeface="Arial"/>
              </a:rPr>
              <a:t>Cuts the organization across every partition of its actors and inputs.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Exact Referee: </a:t>
            </a:r>
            <a:r>
              <a:rPr b="0" i="0" lang="en" sz="1400" u="none" cap="none" strike="noStrike">
                <a:solidFill>
                  <a:srgbClr val="000000"/>
                </a:solidFill>
                <a:latin typeface="Arial"/>
                <a:ea typeface="Arial"/>
                <a:cs typeface="Arial"/>
                <a:sym typeface="Arial"/>
              </a:rPr>
              <a:t>PyPhi measures the causal information lost across the system's weakest seam.</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31"/>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EMPIRICAL RESOLUTION</a:t>
            </a:r>
            <a:endParaRPr sz="1100"/>
          </a:p>
        </p:txBody>
      </p:sp>
      <p:sp>
        <p:nvSpPr>
          <p:cNvPr id="178" name="Google Shape;178;p31"/>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Ride-Hail Dispatch Under the Microscope</a:t>
            </a:r>
            <a:endParaRPr sz="1100"/>
          </a:p>
        </p:txBody>
      </p:sp>
      <p:sp>
        <p:nvSpPr>
          <p:cNvPr id="179" name="Google Shape;179;p31"/>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00000"/>
                </a:solidFill>
                <a:latin typeface="Arial"/>
                <a:ea typeface="Arial"/>
                <a:cs typeface="Arial"/>
                <a:sym typeface="Arial"/>
              </a:rPr>
              <a:t>DYADIC RELAY — Sequential Pass-Through (Φ = 0.0)</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P′ = D • Platform Relays One Side at a Time</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Sequential Screen-Off: </a:t>
            </a:r>
            <a:r>
              <a:rPr b="0" i="0" lang="en" sz="1500" u="none" cap="none" strike="noStrike">
                <a:solidFill>
                  <a:srgbClr val="000000"/>
                </a:solidFill>
                <a:latin typeface="Arial"/>
                <a:ea typeface="Arial"/>
                <a:cs typeface="Arial"/>
                <a:sym typeface="Arial"/>
              </a:rPr>
              <a:t>Platform passes driver availability to the rider in separate steps.</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Zero Integration: </a:t>
            </a:r>
            <a:r>
              <a:rPr b="0" i="0" lang="en" sz="1500" u="none" cap="none" strike="noStrike">
                <a:solidFill>
                  <a:srgbClr val="000000"/>
                </a:solidFill>
                <a:latin typeface="Arial"/>
                <a:ea typeface="Arial"/>
                <a:cs typeface="Arial"/>
                <a:sym typeface="Arial"/>
              </a:rPr>
              <a:t>Cutting the circuit across its weakest seam loses no causal information.</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Verdict: </a:t>
            </a:r>
            <a:r>
              <a:rPr b="0" i="0" lang="en" sz="1500" u="none" cap="none" strike="noStrike">
                <a:solidFill>
                  <a:srgbClr val="000000"/>
                </a:solidFill>
                <a:latin typeface="Arial"/>
                <a:ea typeface="Arial"/>
                <a:cs typeface="Arial"/>
                <a:sym typeface="Arial"/>
              </a:rPr>
              <a:t>High-speed market brokerage; reduces to dyads.</a:t>
            </a:r>
            <a:endParaRPr sz="1100"/>
          </a:p>
          <a:p>
            <a:pPr indent="0" lvl="0" marL="0" marR="0" rtl="0" algn="l">
              <a:spcBef>
                <a:spcPts val="1000"/>
              </a:spcBef>
              <a:spcAft>
                <a:spcPts val="0"/>
              </a:spcAft>
              <a:buNone/>
            </a:pPr>
            <a:r>
              <a:rPr b="1" i="0" lang="en" sz="1500" u="none" cap="none" strike="noStrike">
                <a:solidFill>
                  <a:srgbClr val="000000"/>
                </a:solidFill>
                <a:latin typeface="Arial"/>
                <a:ea typeface="Arial"/>
                <a:cs typeface="Arial"/>
                <a:sym typeface="Arial"/>
              </a:rPr>
              <a:t>IRREDUCIBLE TRIAD — Joint-Commitment Clearinghouse (Φ = 2.0 bits)</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P′ = D </a:t>
            </a:r>
            <a:r>
              <a:rPr b="0" i="0" lang="en" sz="1500" u="none" cap="none" strike="noStrike">
                <a:solidFill>
                  <a:srgbClr val="000000"/>
                </a:solidFill>
                <a:latin typeface="Cambria Math"/>
                <a:ea typeface="Cambria Math"/>
                <a:cs typeface="Cambria Math"/>
                <a:sym typeface="Cambria Math"/>
              </a:rPr>
              <a:t>∧</a:t>
            </a:r>
            <a:r>
              <a:rPr b="0" i="0" lang="en" sz="1500" u="none" cap="none" strike="noStrike">
                <a:solidFill>
                  <a:srgbClr val="000000"/>
                </a:solidFill>
                <a:latin typeface="Arial"/>
                <a:ea typeface="Arial"/>
                <a:cs typeface="Arial"/>
                <a:sym typeface="Arial"/>
              </a:rPr>
              <a:t> R • Simultaneous Lock-In</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Mutual Binding: </a:t>
            </a:r>
            <a:r>
              <a:rPr b="0" i="0" lang="en" sz="1500" u="none" cap="none" strike="noStrike">
                <a:solidFill>
                  <a:srgbClr val="000000"/>
                </a:solidFill>
                <a:latin typeface="Arial"/>
                <a:ea typeface="Arial"/>
                <a:cs typeface="Arial"/>
                <a:sym typeface="Arial"/>
              </a:rPr>
              <a:t>Dispatch commits only when driver and rider lock in together.</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Non-Factorizable: </a:t>
            </a:r>
            <a:r>
              <a:rPr b="0" i="0" lang="en" sz="1500" u="none" cap="none" strike="noStrike">
                <a:solidFill>
                  <a:srgbClr val="000000"/>
                </a:solidFill>
                <a:latin typeface="Arial"/>
                <a:ea typeface="Arial"/>
                <a:cs typeface="Arial"/>
                <a:sym typeface="Arial"/>
              </a:rPr>
              <a:t>Severing any link destroys 2.0 bits of coordination capacity.</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Verdict: </a:t>
            </a:r>
            <a:r>
              <a:rPr b="0" i="0" lang="en" sz="1500" u="none" cap="none" strike="noStrike">
                <a:solidFill>
                  <a:srgbClr val="000000"/>
                </a:solidFill>
                <a:latin typeface="Arial"/>
                <a:ea typeface="Arial"/>
                <a:cs typeface="Arial"/>
                <a:sym typeface="Arial"/>
              </a:rPr>
              <a:t>Genuine triadic whole requiring algorithmacy.</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sp>
        <p:nvSpPr>
          <p:cNvPr id="236" name="Google Shape;236;p38"/>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CAUSAL IRREDUCIBILITY</a:t>
            </a:r>
            <a:endParaRPr sz="1100"/>
          </a:p>
        </p:txBody>
      </p:sp>
      <p:sp>
        <p:nvSpPr>
          <p:cNvPr id="237" name="Google Shape;237;p38"/>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The Minimum Information Partition (MIP)</a:t>
            </a:r>
            <a:endParaRPr sz="1100"/>
          </a:p>
        </p:txBody>
      </p:sp>
      <p:sp>
        <p:nvSpPr>
          <p:cNvPr id="238" name="Google Shape;238;p38"/>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00000"/>
                </a:solidFill>
                <a:latin typeface="Arial"/>
                <a:ea typeface="Arial"/>
                <a:cs typeface="Arial"/>
                <a:sym typeface="Arial"/>
              </a:rPr>
              <a:t>Φ(MIP) = 0</a:t>
            </a:r>
            <a:r>
              <a:rPr b="0" i="0" lang="en" sz="1600" u="none" cap="none" strike="noStrike">
                <a:solidFill>
                  <a:srgbClr val="000000"/>
                </a:solidFill>
                <a:latin typeface="Arial"/>
                <a:ea typeface="Arial"/>
                <a:cs typeface="Arial"/>
                <a:sym typeface="Arial"/>
              </a:rPr>
              <a:t> — The organization factors: cutting its weakest seam loses zero causal information. It reduces to dyads.</a:t>
            </a:r>
            <a:endParaRPr sz="1100"/>
          </a:p>
          <a:p>
            <a:pPr indent="0" lvl="0" marL="0" marR="0" rtl="0" algn="l">
              <a:spcBef>
                <a:spcPts val="1200"/>
              </a:spcBef>
              <a:spcAft>
                <a:spcPts val="0"/>
              </a:spcAft>
              <a:buNone/>
            </a:pPr>
            <a:r>
              <a:rPr b="1" i="0" lang="en" sz="1600" u="none" cap="none" strike="noStrike">
                <a:solidFill>
                  <a:srgbClr val="000000"/>
                </a:solidFill>
                <a:latin typeface="Arial"/>
                <a:ea typeface="Arial"/>
                <a:cs typeface="Arial"/>
                <a:sym typeface="Arial"/>
              </a:rPr>
              <a:t>Φ(MIP) &gt; 0</a:t>
            </a:r>
            <a:r>
              <a:rPr b="0" i="0" lang="en" sz="1600" u="none" cap="none" strike="noStrike">
                <a:solidFill>
                  <a:srgbClr val="000000"/>
                </a:solidFill>
                <a:latin typeface="Arial"/>
                <a:ea typeface="Arial"/>
                <a:cs typeface="Arial"/>
                <a:sym typeface="Arial"/>
              </a:rPr>
              <a:t> — The organization is an irreducible whole: every possible cut destroys coordination capacity.</a:t>
            </a:r>
            <a:endParaRPr sz="1100"/>
          </a:p>
          <a:p>
            <a:pPr indent="0" lvl="0" marL="0" marR="0" rtl="0" algn="l">
              <a:spcBef>
                <a:spcPts val="1200"/>
              </a:spcBef>
              <a:spcAft>
                <a:spcPts val="0"/>
              </a:spcAft>
              <a:buNone/>
            </a:pPr>
            <a:r>
              <a:rPr b="1" i="0" lang="en" sz="1600" u="none" cap="none" strike="noStrike">
                <a:solidFill>
                  <a:srgbClr val="000000"/>
                </a:solidFill>
                <a:latin typeface="Arial"/>
                <a:ea typeface="Arial"/>
                <a:cs typeface="Arial"/>
                <a:sym typeface="Arial"/>
              </a:rPr>
              <a:t>Two Orthogonal Questions: Joint Determination vs. Systemic Wholeness</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Joint Determination asks whether two actors together set a third actor's next state. Systemic Wholeness (Φ &gt; 0) asks whether the three-party circuit can be cut without loss. Neither implies the other.</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39"/>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COMPLETE 256-STRUCTURE CENSUS</a:t>
            </a:r>
            <a:endParaRPr sz="1100"/>
          </a:p>
        </p:txBody>
      </p:sp>
      <p:sp>
        <p:nvSpPr>
          <p:cNvPr id="245" name="Google Shape;245;p39"/>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The Four Coordination Regimes</a:t>
            </a:r>
            <a:endParaRPr sz="1100"/>
          </a:p>
        </p:txBody>
      </p:sp>
      <p:graphicFrame>
        <p:nvGraphicFramePr>
          <p:cNvPr id="246" name="Google Shape;246;p39"/>
          <p:cNvGraphicFramePr/>
          <p:nvPr/>
        </p:nvGraphicFramePr>
        <p:xfrm>
          <a:off x="617236" y="1714500"/>
          <a:ext cx="3000000" cy="3000000"/>
        </p:xfrm>
        <a:graphic>
          <a:graphicData uri="http://schemas.openxmlformats.org/drawingml/2006/table">
            <a:tbl>
              <a:tblPr>
                <a:noFill/>
                <a:tableStyleId>{5762D1E5-19F7-4FD5-A18D-EC55B6832050}</a:tableStyleId>
              </a:tblPr>
              <a:tblGrid>
                <a:gridCol w="1581900"/>
                <a:gridCol w="1581900"/>
                <a:gridCol w="1581900"/>
                <a:gridCol w="1581900"/>
                <a:gridCol w="1581900"/>
              </a:tblGrid>
              <a:tr h="377175">
                <a:tc>
                  <a:txBody>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Coordination Regime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Joint Determination</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System Φ(MIP)</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Organizational Form</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Required Sensibility</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Dyadic Relay</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No (single input)</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Φ = 0.0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Sequential pass-through chain</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Literacy (read your link)</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Broadcast Cascade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No (single input)</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Φ &gt; 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Closed feedback loop of pairs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Structural loop awareness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False Dyad</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Yes (two inputs)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Φ = 0.0 (3-party)</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Third party factors out of core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Pairwise core + bystander</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Irreducible Triad</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Yes (two inputs)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Φ &gt; 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Indivisible clearinghouse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Algorithmacy (joint state)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43"/>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STRATEGIC LEVERS ACROSS 256 STRUCTURES</a:t>
            </a:r>
            <a:endParaRPr sz="1100"/>
          </a:p>
        </p:txBody>
      </p:sp>
      <p:sp>
        <p:nvSpPr>
          <p:cNvPr id="277" name="Google Shape;277;p43"/>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Power in the Triad: Lock-In and Escape</a:t>
            </a:r>
            <a:endParaRPr sz="1100"/>
          </a:p>
        </p:txBody>
      </p:sp>
      <p:sp>
        <p:nvSpPr>
          <p:cNvPr id="278" name="Google Shape;278;p43"/>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00000"/>
                </a:solidFill>
                <a:latin typeface="Arial"/>
                <a:ea typeface="Arial"/>
                <a:cs typeface="Arial"/>
                <a:sym typeface="Arial"/>
              </a:rPr>
              <a:t>The Platform's Lever: Block Exit and Direct Contact</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In the 68 strictly mediated structures, the mediator preserves triadic lock-in (Φ = 2.0 across 60/60 trials) by blocking counterpart exit and direct ties.</a:t>
            </a:r>
            <a:endParaRPr sz="1100"/>
          </a:p>
          <a:p>
            <a:pPr indent="0" lvl="0" marL="0" marR="0" rtl="0" algn="l">
              <a:spcBef>
                <a:spcPts val="1200"/>
              </a:spcBef>
              <a:spcAft>
                <a:spcPts val="0"/>
              </a:spcAft>
              <a:buNone/>
            </a:pPr>
            <a:r>
              <a:rPr b="1" i="0" lang="en" sz="1400" u="none" cap="none" strike="noStrike">
                <a:solidFill>
                  <a:srgbClr val="000000"/>
                </a:solidFill>
                <a:latin typeface="Arial"/>
                <a:ea typeface="Arial"/>
                <a:cs typeface="Arial"/>
                <a:sym typeface="Arial"/>
              </a:rPr>
              <a:t>Driver Pooling (Factoring Out a Party)</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Making drivers interchangeable in a dispatch pool drops them out of the irreducible core (Φ = 1.0 on {P, R}): a False Dyad.</a:t>
            </a:r>
            <a:endParaRPr sz="1100"/>
          </a:p>
          <a:p>
            <a:pPr indent="0" lvl="0" marL="0" marR="0" rtl="0" algn="l">
              <a:spcBef>
                <a:spcPts val="1200"/>
              </a:spcBef>
              <a:spcAft>
                <a:spcPts val="0"/>
              </a:spcAft>
              <a:buNone/>
            </a:pPr>
            <a:r>
              <a:rPr b="1" i="0" lang="en" sz="1400" u="none" cap="none" strike="noStrike">
                <a:solidFill>
                  <a:srgbClr val="000000"/>
                </a:solidFill>
                <a:latin typeface="Arial"/>
                <a:ea typeface="Arial"/>
                <a:cs typeface="Arial"/>
                <a:sym typeface="Arial"/>
              </a:rPr>
              <a:t>Off-App Coalition (The Potemkin Village)</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When driver and rider exchange numbers for direct repeat rides, {D, R} forms the real core (Φ = 1.198 bits) and platform mediation becomes a Potemkin village.</a:t>
            </a:r>
            <a:endParaRPr sz="1100"/>
          </a:p>
          <a:p>
            <a:pPr indent="0" lvl="0" marL="0" marR="0" rtl="0" algn="l">
              <a:spcBef>
                <a:spcPts val="1200"/>
              </a:spcBef>
              <a:spcAft>
                <a:spcPts val="0"/>
              </a:spcAft>
              <a:buNone/>
            </a:pPr>
            <a:r>
              <a:rPr b="1" i="0" lang="en" sz="1400" u="none" cap="none" strike="noStrike">
                <a:solidFill>
                  <a:srgbClr val="000000"/>
                </a:solidFill>
                <a:latin typeface="Arial"/>
                <a:ea typeface="Arial"/>
                <a:cs typeface="Arial"/>
                <a:sym typeface="Arial"/>
              </a:rPr>
              <a:t>Outside Options (Breaking Lock-In)</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A one-sided outside option shrinks the core to two parties; when both counterparts gain outside options, triadic lock-in collapses from Φ = 2.0 to 0.0.</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44"/>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JOIN THE LAB • STAGE 2 (JAN–MAY 2027)</a:t>
            </a:r>
            <a:endParaRPr sz="1100"/>
          </a:p>
        </p:txBody>
      </p:sp>
      <p:sp>
        <p:nvSpPr>
          <p:cNvPr id="285" name="Google Shape;285;p44"/>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Fork the Harness</a:t>
            </a:r>
            <a:endParaRPr sz="1100"/>
          </a:p>
        </p:txBody>
      </p:sp>
      <p:sp>
        <p:nvSpPr>
          <p:cNvPr id="286" name="Google Shape;286;p44"/>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500" u="none" cap="none" strike="noStrike">
                <a:solidFill>
                  <a:srgbClr val="000000"/>
                </a:solidFill>
                <a:latin typeface="Arial"/>
                <a:ea typeface="Arial"/>
                <a:cs typeface="Arial"/>
                <a:sym typeface="Arial"/>
              </a:rPr>
              <a:t>github.com/rogerSuperBuilderAlpha/algorithmacy-lab — MIT License, Python 3.10+</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1. Fork, Engage the Harness, and Ask an Organizational Question</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Bring a field account or 3–5-party workflow; AI agents run rival encodings and exact PyPhi cuts.</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2. Stage 2 Agenda: Re-Examining the Canon of Algorithmic Work</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Re-analyze 10–15 landmark ethnographies, test the Lever Matrix, ship the multi-valued PyPhi CLI.</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3. How Organization Science Changes</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A falsifiable test of when work moves from literacy (dyadic) to algorithmacy (irreducible triads).</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31"/>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THE THEORETICAL STALEMATE</a:t>
            </a:r>
            <a:endParaRPr sz="1100"/>
          </a:p>
        </p:txBody>
      </p:sp>
      <p:sp>
        <p:nvSpPr>
          <p:cNvPr id="178" name="Google Shape;178;p31"/>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Do Algorithmic Triads Reduce to Dyads?</a:t>
            </a:r>
            <a:endParaRPr sz="1100"/>
          </a:p>
        </p:txBody>
      </p:sp>
      <p:sp>
        <p:nvSpPr>
          <p:cNvPr id="179" name="Google Shape;179;p31"/>
          <p:cNvSpPr txBox="1"/>
          <p:nvPr/>
        </p:nvSpPr>
        <p:spPr>
          <a:xfrm>
            <a:off x="617236" y="1508760"/>
            <a:ext cx="3749039" cy="2103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00000"/>
                </a:solidFill>
                <a:latin typeface="Arial"/>
                <a:ea typeface="Arial"/>
                <a:cs typeface="Arial"/>
                <a:sym typeface="Arial"/>
              </a:rPr>
              <a:t>CAMP A • THE ALL-SEEING TRIAD</a:t>
            </a:r>
            <a:endParaRPr sz="1100"/>
          </a:p>
          <a:p>
            <a:pPr indent="0" lvl="0" marL="0" marR="0" rtl="0" algn="l">
              <a:spcBef>
                <a:spcPts val="900"/>
              </a:spcBef>
              <a:spcAft>
                <a:spcPts val="0"/>
              </a:spcAft>
              <a:buNone/>
            </a:pPr>
            <a:r>
              <a:rPr b="1" i="0" lang="en" sz="1500" u="none" cap="none" strike="noStrike">
                <a:solidFill>
                  <a:srgbClr val="000000"/>
                </a:solidFill>
                <a:latin typeface="Arial"/>
                <a:ea typeface="Arial"/>
                <a:cs typeface="Arial"/>
                <a:sym typeface="Arial"/>
              </a:rPr>
              <a:t>Total Algorithmic Fusion</a:t>
            </a:r>
            <a:endParaRPr sz="1100"/>
          </a:p>
          <a:p>
            <a:pPr indent="0" lvl="0" marL="0" marR="0" rtl="0" algn="l">
              <a:spcBef>
                <a:spcPts val="900"/>
              </a:spcBef>
              <a:spcAft>
                <a:spcPts val="0"/>
              </a:spcAft>
              <a:buNone/>
            </a:pPr>
            <a:r>
              <a:rPr b="0" i="0" lang="en" sz="1400" u="none" cap="none" strike="noStrike">
                <a:solidFill>
                  <a:srgbClr val="000000"/>
                </a:solidFill>
                <a:latin typeface="Arial"/>
                <a:ea typeface="Arial"/>
                <a:cs typeface="Arial"/>
                <a:sym typeface="Arial"/>
              </a:rPr>
              <a:t>The platform binds workers and clients into a new collective whole.</a:t>
            </a:r>
            <a:endParaRPr sz="1100"/>
          </a:p>
          <a:p>
            <a:pPr indent="0" lvl="0" marL="0" marR="0" rtl="0" algn="l">
              <a:spcBef>
                <a:spcPts val="900"/>
              </a:spcBef>
              <a:spcAft>
                <a:spcPts val="0"/>
              </a:spcAft>
              <a:buNone/>
            </a:pPr>
            <a:r>
              <a:rPr b="0" i="0" lang="en" sz="1400" u="none" cap="none" strike="noStrike">
                <a:solidFill>
                  <a:srgbClr val="000000"/>
                </a:solidFill>
                <a:latin typeface="Arial"/>
                <a:ea typeface="Arial"/>
                <a:cs typeface="Arial"/>
                <a:sym typeface="Arial"/>
              </a:rPr>
              <a:t>Every algorithmic intermediary is treated as irreducible by assertion.</a:t>
            </a:r>
            <a:endParaRPr sz="1100"/>
          </a:p>
          <a:p>
            <a:pPr indent="0" lvl="0" marL="0" marR="0" rtl="0" algn="l">
              <a:spcBef>
                <a:spcPts val="900"/>
              </a:spcBef>
              <a:spcAft>
                <a:spcPts val="0"/>
              </a:spcAft>
              <a:buNone/>
            </a:pPr>
            <a:r>
              <a:rPr b="0" i="0" lang="en" sz="1400" u="none" cap="none" strike="noStrike">
                <a:solidFill>
                  <a:srgbClr val="000000"/>
                </a:solidFill>
                <a:latin typeface="Arial"/>
                <a:ea typeface="Arial"/>
                <a:cs typeface="Arial"/>
                <a:sym typeface="Arial"/>
              </a:rPr>
              <a:t>Metaphor stands in for measurement.</a:t>
            </a:r>
            <a:endParaRPr sz="1100"/>
          </a:p>
        </p:txBody>
      </p:sp>
      <p:sp>
        <p:nvSpPr>
          <p:cNvPr id="180" name="Google Shape;180;g1"/>
          <p:cNvSpPr txBox="1"/>
          <p:nvPr/>
        </p:nvSpPr>
        <p:spPr>
          <a:xfrm>
            <a:off x="4777740" y="1508760"/>
            <a:ext cx="3749039" cy="2103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00000"/>
                </a:solidFill>
                <a:latin typeface="Arial"/>
                <a:ea typeface="Arial"/>
                <a:cs typeface="Arial"/>
                <a:sym typeface="Arial"/>
              </a:rPr>
              <a:t>CAMP B • DYADS IN DISGUISE</a:t>
            </a:r>
            <a:endParaRPr sz="1100"/>
          </a:p>
          <a:p>
            <a:pPr indent="0" lvl="0" marL="0" marR="0" rtl="0" algn="l">
              <a:spcBef>
                <a:spcPts val="900"/>
              </a:spcBef>
              <a:spcAft>
                <a:spcPts val="0"/>
              </a:spcAft>
              <a:buNone/>
            </a:pPr>
            <a:r>
              <a:rPr b="1" i="0" lang="en" sz="1500" u="none" cap="none" strike="noStrike">
                <a:solidFill>
                  <a:srgbClr val="000000"/>
                </a:solidFill>
                <a:latin typeface="Arial"/>
                <a:ea typeface="Arial"/>
                <a:cs typeface="Arial"/>
                <a:sym typeface="Arial"/>
              </a:rPr>
              <a:t>High-Speed Brokerage Relay</a:t>
            </a:r>
            <a:endParaRPr sz="1100"/>
          </a:p>
          <a:p>
            <a:pPr indent="0" lvl="0" marL="0" marR="0" rtl="0" algn="l">
              <a:spcBef>
                <a:spcPts val="900"/>
              </a:spcBef>
              <a:spcAft>
                <a:spcPts val="0"/>
              </a:spcAft>
              <a:buNone/>
            </a:pPr>
            <a:r>
              <a:rPr b="0" i="0" lang="en" sz="1400" u="none" cap="none" strike="noStrike">
                <a:solidFill>
                  <a:srgbClr val="000000"/>
                </a:solidFill>
                <a:latin typeface="Arial"/>
                <a:ea typeface="Arial"/>
                <a:cs typeface="Arial"/>
                <a:sym typeface="Arial"/>
              </a:rPr>
              <a:t>The platform is just a fast contract switchboard stringing together pairwise ties.</a:t>
            </a:r>
            <a:endParaRPr sz="1100"/>
          </a:p>
          <a:p>
            <a:pPr indent="0" lvl="0" marL="0" marR="0" rtl="0" algn="l">
              <a:spcBef>
                <a:spcPts val="900"/>
              </a:spcBef>
              <a:spcAft>
                <a:spcPts val="0"/>
              </a:spcAft>
              <a:buNone/>
            </a:pPr>
            <a:r>
              <a:rPr b="0" i="0" lang="en" sz="1400" u="none" cap="none" strike="noStrike">
                <a:solidFill>
                  <a:srgbClr val="000000"/>
                </a:solidFill>
                <a:latin typeface="Arial"/>
                <a:ea typeface="Arial"/>
                <a:cs typeface="Arial"/>
                <a:sym typeface="Arial"/>
              </a:rPr>
              <a:t>Three actors are present, but every link reduces to two-party exchange.</a:t>
            </a:r>
            <a:endParaRPr sz="1100"/>
          </a:p>
          <a:p>
            <a:pPr indent="0" lvl="0" marL="0" marR="0" rtl="0" algn="l">
              <a:spcBef>
                <a:spcPts val="900"/>
              </a:spcBef>
              <a:spcAft>
                <a:spcPts val="0"/>
              </a:spcAft>
              <a:buNone/>
            </a:pPr>
            <a:r>
              <a:rPr b="0" i="0" lang="en" sz="1400" u="none" cap="none" strike="noStrike">
                <a:solidFill>
                  <a:srgbClr val="000000"/>
                </a:solidFill>
                <a:latin typeface="Arial"/>
                <a:ea typeface="Arial"/>
                <a:cs typeface="Arial"/>
                <a:sym typeface="Arial"/>
              </a:rPr>
              <a:t>Nothing structurally new is happening.</a:t>
            </a:r>
            <a:endParaRPr sz="1100"/>
          </a:p>
        </p:txBody>
      </p:sp>
      <p:sp>
        <p:nvSpPr>
          <p:cNvPr id="181" name="Google Shape;181;g1"/>
          <p:cNvSpPr txBox="1"/>
          <p:nvPr/>
        </p:nvSpPr>
        <p:spPr>
          <a:xfrm>
            <a:off x="617220" y="3886200"/>
            <a:ext cx="790956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00000"/>
                </a:solidFill>
                <a:latin typeface="Arial"/>
                <a:ea typeface="Arial"/>
                <a:cs typeface="Arial"/>
                <a:sym typeface="Arial"/>
              </a:rPr>
              <a:t>For 120 years (Simmel 1902; Thompson 1967; Kellogg et al. 2020), “triadic mediation” has been a metaphor with no causal test.</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30"/>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SELF-EXEMPLIFYING ARCHITECTURE</a:t>
            </a:r>
            <a:endParaRPr sz="1100"/>
          </a:p>
        </p:txBody>
      </p:sp>
      <p:sp>
        <p:nvSpPr>
          <p:cNvPr id="170" name="Google Shape;170;p30"/>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Why AI: A Research Harness, Not an Oracle</a:t>
            </a:r>
            <a:endParaRPr sz="1100"/>
          </a:p>
        </p:txBody>
      </p:sp>
      <p:sp>
        <p:nvSpPr>
          <p:cNvPr id="171" name="Google Shape;171;p30"/>
          <p:cNvSpPr txBox="1"/>
          <p:nvPr/>
        </p:nvSpPr>
        <p:spPr>
          <a:xfrm>
            <a:off x="617236" y="137160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00000"/>
                </a:solidFill>
                <a:latin typeface="Arial"/>
                <a:ea typeface="Arial"/>
                <a:cs typeface="Arial"/>
                <a:sym typeface="Arial"/>
              </a:rPr>
              <a:t>Thesis: </a:t>
            </a:r>
            <a:r>
              <a:rPr b="0" i="0" lang="en" sz="1400" u="none" cap="none" strike="noStrike">
                <a:solidFill>
                  <a:srgbClr val="000000"/>
                </a:solidFill>
                <a:latin typeface="Arial"/>
                <a:ea typeface="Arial"/>
                <a:cs typeface="Arial"/>
                <a:sym typeface="Arial"/>
              </a:rPr>
              <a:t>We do not ask AI to judge theory; we built a harness where human scholars, AI agents, and PyPhi form the exact triadic coordination we study.</a:t>
            </a:r>
            <a:endParaRPr sz="1100"/>
          </a:p>
          <a:p>
            <a:pPr indent="0" lvl="0" marL="0" marR="0" rtl="0" algn="l">
              <a:spcBef>
                <a:spcPts val="900"/>
              </a:spcBef>
              <a:spcAft>
                <a:spcPts val="0"/>
              </a:spcAft>
              <a:buNone/>
            </a:pPr>
            <a:r>
              <a:rPr b="1" i="0" lang="en" sz="1400" u="none" cap="none" strike="noStrike">
                <a:solidFill>
                  <a:srgbClr val="000000"/>
                </a:solidFill>
                <a:latin typeface="Arial"/>
                <a:ea typeface="Arial"/>
                <a:cs typeface="Arial"/>
                <a:sym typeface="Arial"/>
              </a:rPr>
              <a:t>PART 1 • WHY STANDALONE AI FAILS — Buzzwords Are Not Partitions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1. Surface Guessing: </a:t>
            </a:r>
            <a:r>
              <a:rPr b="0" i="0" lang="en" sz="1400" u="none" cap="none" strike="noStrike">
                <a:solidFill>
                  <a:srgbClr val="000000"/>
                </a:solidFill>
                <a:latin typeface="Arial"/>
                <a:ea typeface="Arial"/>
                <a:cs typeface="Arial"/>
                <a:sym typeface="Arial"/>
              </a:rPr>
              <a:t>LLMs match words like “platform” or “pool,” not causal cuts.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2. Driver Pool Reversal: </a:t>
            </a:r>
            <a:r>
              <a:rPr b="0" i="0" lang="en" sz="1400" u="none" cap="none" strike="noStrike">
                <a:solidFill>
                  <a:srgbClr val="000000"/>
                </a:solidFill>
                <a:latin typeface="Arial"/>
                <a:ea typeface="Arial"/>
                <a:cs typeface="Arial"/>
                <a:sym typeface="Arial"/>
              </a:rPr>
              <a:t>On pooled dispatch, the LLM saw a triad; PyPhi proved a False Dyad.</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3. Off-App Reversal: </a:t>
            </a:r>
            <a:r>
              <a:rPr b="0" i="0" lang="en" sz="1400" u="none" cap="none" strike="noStrike">
                <a:solidFill>
                  <a:srgbClr val="000000"/>
                </a:solidFill>
                <a:latin typeface="Arial"/>
                <a:ea typeface="Arial"/>
                <a:cs typeface="Arial"/>
                <a:sym typeface="Arial"/>
              </a:rPr>
              <a:t>On direct ties, the LLM predicted collapse; PyPhi found the Potemkin village.</a:t>
            </a:r>
            <a:endParaRPr sz="1100"/>
          </a:p>
          <a:p>
            <a:pPr indent="0" lvl="0" marL="0" marR="0" rtl="0" algn="l">
              <a:spcBef>
                <a:spcPts val="900"/>
              </a:spcBef>
              <a:spcAft>
                <a:spcPts val="0"/>
              </a:spcAft>
              <a:buNone/>
            </a:pPr>
            <a:r>
              <a:rPr b="1" i="0" lang="en" sz="1400" u="none" cap="none" strike="noStrike">
                <a:solidFill>
                  <a:srgbClr val="000000"/>
                </a:solidFill>
                <a:latin typeface="Arial"/>
                <a:ea typeface="Arial"/>
                <a:cs typeface="Arial"/>
                <a:sym typeface="Arial"/>
              </a:rPr>
              <a:t>PART 2 • THE HARNESS TRIAD — Human Scholar • AI Agents • PyPhi Referee</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 Adversarial Translation: </a:t>
            </a:r>
            <a:r>
              <a:rPr b="0" i="0" lang="en" sz="1400" u="none" cap="none" strike="noStrike">
                <a:solidFill>
                  <a:srgbClr val="000000"/>
                </a:solidFill>
                <a:latin typeface="Arial"/>
                <a:ea typeface="Arial"/>
                <a:cs typeface="Arial"/>
                <a:sym typeface="Arial"/>
              </a:rPr>
              <a:t>Rival AI agents encode field accounts as quote-anchored models.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 Deterministic Referee: </a:t>
            </a:r>
            <a:r>
              <a:rPr b="0" i="0" lang="en" sz="1400" u="none" cap="none" strike="noStrike">
                <a:solidFill>
                  <a:srgbClr val="000000"/>
                </a:solidFill>
                <a:latin typeface="Arial"/>
                <a:ea typeface="Arial"/>
                <a:cs typeface="Arial"/>
                <a:sym typeface="Arial"/>
              </a:rPr>
              <a:t>PyPhi and four mandatory controls compute cuts no prompt can bend.</a:t>
            </a:r>
            <a:endParaRPr sz="1100"/>
          </a:p>
          <a:p>
            <a:pPr indent="0" lvl="0" marL="0" marR="0" rtl="0" algn="l">
              <a:spcBef>
                <a:spcPts val="900"/>
              </a:spcBef>
              <a:spcAft>
                <a:spcPts val="0"/>
              </a:spcAft>
              <a:buNone/>
            </a:pPr>
            <a:r>
              <a:rPr b="1" i="0" lang="en" sz="1400" u="none" cap="none" strike="noStrike">
                <a:solidFill>
                  <a:srgbClr val="000000"/>
                </a:solidFill>
                <a:latin typeface="Arial"/>
                <a:ea typeface="Arial"/>
                <a:cs typeface="Arial"/>
                <a:sym typeface="Arial"/>
              </a:rPr>
              <a:t>A lone scholar with a chatbot is a reducible dyad; the scholar–agent–PyPhi harness is an irreducible triad.</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