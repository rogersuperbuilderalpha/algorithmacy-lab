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3.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20.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ppt/notesSlides/notesSlide25.xml" ContentType="application/vnd.openxmlformats-officedocument.presentationml.notesSlide+xml"/>
  <Override PartName="/ppt/slides/slide25.xml" ContentType="application/vnd.openxmlformats-officedocument.presentationml.slide+xml"/>
  <Override PartName="/ppt/notesSlides/notesSlide26.xml" ContentType="application/vnd.openxmlformats-officedocument.presentationml.notesSlide+xml"/>
  <Override PartName="/ppt/slides/slide26.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7" r:id="rId9"/>
    <p:sldId id="258" r:id="rId10"/>
    <p:sldId id="280" r:id="rId33"/>
    <p:sldId id="261" r:id="rId13"/>
    <p:sldId id="269" r:id="rId21"/>
    <p:sldId id="270" r:id="rId22"/>
    <p:sldId id="262" r:id="rId14"/>
    <p:sldId id="274" r:id="rId26"/>
    <p:sldId id="281" r:id="rId34"/>
    <p:sldId id="275" r:id="rId27"/>
  </p:sldIdLst>
  <p:sldSz cy="5143500" cx="9144000"/>
  <p:notesSz cx="6858000" cy="9144000"/>
  <p:embeddedFontLst>
    <p:embeddedFont>
      <p:font typeface="Cambria Math"/>
      <p:regular r:id="rId3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762D1E5-19F7-4FD5-A18D-EC55B6832050}">
  <a:tblStyle styleId="{5762D1E5-19F7-4FD5-A18D-EC55B683205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2" Type="http://schemas.openxmlformats.org/officeDocument/2006/relationships/slide" Target="slides/slide15.xml"/><Relationship Id="rId21" Type="http://schemas.openxmlformats.org/officeDocument/2006/relationships/slide" Target="slides/slide14.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10" Type="http://schemas.openxmlformats.org/officeDocument/2006/relationships/slide" Target="slides/slide3.xml"/><Relationship Id="rId32" Type="http://schemas.openxmlformats.org/officeDocument/2006/relationships/font" Target="fonts/CambriaMath-regular.fntdata"/><Relationship Id="rId13" Type="http://schemas.openxmlformats.org/officeDocument/2006/relationships/slide" Target="slides/slide6.xml"/><Relationship Id="rId14" Type="http://schemas.openxmlformats.org/officeDocument/2006/relationships/slide" Target="slides/slide7.xml"/><Relationship Id="rId33" Type="http://schemas.openxmlformats.org/officeDocument/2006/relationships/slide" Target="slides/slide25.xml"/><Relationship Id="rId34" Type="http://schemas.openxmlformats.org/officeDocument/2006/relationships/slide" Target="slides/slide2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h612a79a7ec52171c_1_75: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 name="Google Shape;133;h612a79a7ec52171c_1_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When a platform sits between a worker and a customer, is that a genuine three-party system—or just two-party deals run at high speed? In this talk, we show how Integrated Information Theory (IIT 4.0) and its software engine PyPhi give organization science an exact mathematical test to answer that question, and how our open research harness lets any scholar run that test on their own cases. Source: /workspace/gdoc_1fhM_v6_story_plus_addendum.md; https://github.com/rogerSuperBuilderAlpha/algorithmacy-lab.</a:t>
            </a:r>
            <a:endParaRPr/>
          </a:p>
        </p:txBody>
      </p:sp>
      <p:sp>
        <p:nvSpPr>
          <p:cNvPr id="134" name="Google Shape;134;h612a79a7ec52171c_1_7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h612a79a7ec52171c_1_83: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 name="Google Shape;141;h612a79a7ec52171c_1_8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Human organizations have built three classic sensibilities for working together: oracy (adjusting face to face), literacy (reading shared rules and contracts between two parties), and numeracy (reading prices and numbers across bilateral trades). Platform work introduces a fourth: algorithmacy. In algorithmacy, a live program sits between two people who never meet, watches both sides at once, and decides what each side sees and can do next. Navigating that setup takes more than reading a rulebook—you have to read how a third party reacts to you and your counterpart together. Source: /workspace/gdoc_1fhM_v6_story_plus_addendum.md (Section 1).</a:t>
            </a:r>
            <a:endParaRPr/>
          </a:p>
        </p:txBody>
      </p:sp>
      <p:sp>
        <p:nvSpPr>
          <p:cNvPr id="142" name="Google Shape;142;h612a79a7ec52171c_1_8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h612a79a7ec52171c_1_105: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 name="Google Shape;166;h612a79a7ec52171c_1_10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Why can't our standard tools answer this question? Network maps draw lines between people, and time-series correlations track who moves together, but watching outputs move together cannot tell a two-step relay apart from a genuine three-way rule—across all 256 possible three-party structures, observational synergy misses 96 structures that PyPhi resolves. Integrated Information Theory (IIT 4.0; Tononi 2004; Albantakis et al. 2023) and its software engine PyPhi (Mayner et al. 2018) take a direct approach: write down how each party responds to the others, cut the system across every possible seam, and measure how much coordination breaks at the weakest cut. Source: /workspace/gdoc_1fhM_v6_story_plus_addendum.md (Section 2, Section 3, l.53, l.86).</a:t>
            </a:r>
            <a:endParaRPr/>
          </a:p>
        </p:txBody>
      </p:sp>
      <p:sp>
        <p:nvSpPr>
          <p:cNvPr id="167" name="Google Shape;167;h612a79a7ec52171c_1_10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h612a79a7ec52171c_1_112: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4" name="Google Shape;174;h612a79a7ec52171c_1_1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Take ride-hail dispatch (Rosenblat &amp; Stark 2016; Cameron 2024). We have the exact same three actors—Driver (D), Platform (P), and Rider (R)—but two possible rules for how they interact. If the app simply relays driver availability to the rider one step at a time (P' = D), PyPhi gives Φ = 0.0: it is just a fast switchboard that splits into pairs. If the app commits a ride only when both driver and rider accept together (P' = D ∧ R), PyPhi gives Φ = 2.0 bits: cutting any link breaks the system. Same actors, different rule, opposite result. Source: /workspace/gdoc_1fhM_v6_story_plus_addendum.md (Section 2, Table 3, R1 vs. R2).</a:t>
            </a:r>
            <a:endParaRPr/>
          </a:p>
        </p:txBody>
      </p:sp>
      <p:sp>
        <p:nvSpPr>
          <p:cNvPr id="175" name="Google Shape;175;h612a79a7ec52171c_1_1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h612a79a7ec52171c_1_164: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3" name="Google Shape;233;h612a79a7ec52171c_1_16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PyPhi gives us a single number, Φ (Phi), measured at the system's weakest seam. When Φ = 0, you can cut the three parties into pieces without losing any coordination—the system reduces to pairs. When Φ &gt; 0, every cut breaks the coordination—the system holds together as one unit. Crucially, we have to ask two separate questions: (1) does any party need inputs from two others at the same time to act, and (2) does the three-party loop hold together as a whole (Φ &gt; 0)? Neither one guarantees the other. Source: /workspace/gdoc_1fhM_v6_story_plus_addendum.md (Section 2, Appendix A).</a:t>
            </a:r>
            <a:endParaRPr/>
          </a:p>
        </p:txBody>
      </p:sp>
      <p:sp>
        <p:nvSpPr>
          <p:cNvPr id="234" name="Google Shape;234;h612a79a7ec52171c_1_16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h612a79a7ec52171c_1_171: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 name="Google Shape;241;h612a79a7ec52171c_1_17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Crossing those two questions sorts all 256 possible three-party rules into four clear types—sharpening James D. Thompson's (1967) classic pooled, sequential, and reciprocal interdependence. A Chain of Pairs passes signals one step at a time and splits cleanly (Φ = 0). A Closed Ring loops one-to-one steps around a circle (Φ &gt; 0, without any two-input rule). A Two-Way Core + Extra looks like three parties on paper, but one party drops out of the active core (Φ = 0 for the triad). Only a Real Triad both uses a two-input rule and holds all three parties together (Φ &gt; 0)—and that is where algorithmacy is required. Source: /workspace/gdoc_1fhM_v6_story_plus_addendum.md (Table 1, Section 2, Appendix C; Thompson 1967).</a:t>
            </a:r>
            <a:endParaRPr/>
          </a:p>
        </p:txBody>
      </p:sp>
      <p:sp>
        <p:nvSpPr>
          <p:cNvPr id="242" name="Google Shape;242;h612a79a7ec52171c_1_17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h612a79a7ec52171c_1_199: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h612a79a7ec52171c_1_19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Once we can measure when a triad holds together, we can also test what keeps it together and what breaks it. Across 60 out of 60 random trials of mediated three-party structures, a platform keeps its lock-in (Φ = 2.0) by blocking direct contact and outside options. Conversely, when a platform pools drivers so any driver is swappable, the individual driver drops out of the active core (leaving {P, R} at Φ = 1.0). When driver and rider exchange phone numbers to ride off-app, {D, R} becomes the real two-way core (Φ = 1.198 bits) and the app is left on the sideline. And when both driver and rider gain outside options, three-way lock-in collapses from Φ = 2.0 to 0.0. Source: /workspace/gdoc_1fhM_v6_story_plus_addendum.md (Tables 3 and 4, Section 5).</a:t>
            </a:r>
            <a:endParaRPr/>
          </a:p>
        </p:txBody>
      </p:sp>
      <p:sp>
        <p:nvSpPr>
          <p:cNvPr id="274" name="Google Shape;274;h612a79a7ec52171c_1_19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h612a79a7ec52171c_1_206: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1" name="Google Shape;281;h612a79a7ec52171c_1_20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Everything we presented today is open source and running right now at github.com/rogerSuperBuilderAlpha/algorithmacy-lab. Any researcher can fork the repository, describe a three- to five-party organizational workflow or field ethnography, and have their AI agents encode competing rules and run PyPhi and the four baseline controls automatically. In Stage 2 (January–May 2027), we will use this harness to re-examine 10 to 15 landmark workplace ethnographies and release our multi-state PyPhi tool—giving organization science a clear, falsifiable test for when work reduces to pairs and when it forms an irreducible triad. Source: /workspace/gdoc_1fhM_v6_story_plus_addendum.md (Section 5); https://github.com/rogerSuperBuilderAlpha/algorithmacy-lab.</a:t>
            </a:r>
            <a:endParaRPr/>
          </a:p>
        </p:txBody>
      </p:sp>
      <p:sp>
        <p:nvSpPr>
          <p:cNvPr id="282" name="Google Shape;282;h612a79a7ec52171c_1_20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h612a79a7ec52171c_1_112: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4" name="Google Shape;174;h612a79a7ec52171c_1_1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Organization scholars are split into two camps. One camp says algorithmic platforms fuse workers and customers into a new three-party whole (Kellogg, Valentine, &amp; Christin 2020; Rahman 2021; Cameron 2024). The other camp says platforms are just fast switchboards stringing together ordinary two-party contracts. For over a century—from Georg Simmel's sociology of the triad (1902) to James D. Thompson's interdependence typology (1967)—"triadic coordination" has been a metaphor with no formal test to settle who is right. Source: /workspace/gdoc_1fhM_v6_story_plus_addendum.md (Sections 1–2).</a:t>
            </a:r>
            <a:endParaRPr/>
          </a:p>
        </p:txBody>
      </p:sp>
      <p:sp>
        <p:nvSpPr>
          <p:cNvPr id="175" name="Google Shape;175;h612a79a7ec52171c_1_1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h612a79a7ec52171c_1_105:notes"/>
          <p:cNvSpPr/>
          <p:nvPr>
            <p:ph idx="2" type="sldImg"/>
          </p:nvPr>
        </p:nvSpPr>
        <p:spPr>
          <a:xfrm>
            <a:off x="-40" y="0"/>
            <a:ext cx="300008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6" name="Google Shape;166;h612a79a7ec52171c_1_10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Why is AI in this project at all? Not to be the judge. When we asked AI chatbots on their own to classify these cases from text alone, they guessed from surface words and got both key cases backwards: on pooled dispatch (D1), the chatbot called it an irreducible triad when PyPhi proves the individual driver drops out (Φ = 0 for the triad, Φ = 1.0 on {P, R}); on off-app direct ties (D2), the chatbot predicted the link would collapse when PyPhi proves {D, R} forms a locked-in pair (Φ = 1.198 bits). Instead, we built an open harness where competing AI agents translate qualitative field accounts into explicit transition rules anchored to verbatim quotes, and PyPhi plus four mandatory baseline controls compute the exact cut. In doing so, the researcher, the AI agents, and PyPhi enact the exact three-party coordination the paper studies. Source: /workspace/gdoc_1fhM_v6_story_plus_addendum.md (Section 3, Section 4, l.117, l.152, l.257).</a:t>
            </a:r>
            <a:endParaRPr/>
          </a:p>
        </p:txBody>
      </p:sp>
      <p:sp>
        <p:nvSpPr>
          <p:cNvPr id="167" name="Google Shape;167;h612a79a7ec52171c_1_10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1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8" name="Google Shape;58;p1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Google Shape;59;p1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514364" y="1597819"/>
            <a:ext cx="5829455" cy="1102519"/>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2" name="Google Shape;62;p15"/>
          <p:cNvSpPr txBox="1"/>
          <p:nvPr>
            <p:ph idx="1" type="subTitle"/>
          </p:nvPr>
        </p:nvSpPr>
        <p:spPr>
          <a:xfrm>
            <a:off x="1028727" y="2914650"/>
            <a:ext cx="4800728" cy="1314450"/>
          </a:xfrm>
          <a:prstGeom prst="rect">
            <a:avLst/>
          </a:prstGeom>
          <a:noFill/>
          <a:ln>
            <a:noFill/>
          </a:ln>
        </p:spPr>
        <p:txBody>
          <a:bodyPr anchorCtr="0" anchor="t" bIns="34275" lIns="68575" spcFirstLastPara="1" rIns="68575" wrap="square" tIns="34275">
            <a:normAutofit/>
          </a:bodyPr>
          <a:lstStyle>
            <a:lvl1pPr lvl="0" algn="ctr">
              <a:spcBef>
                <a:spcPts val="500"/>
              </a:spcBef>
              <a:spcAft>
                <a:spcPts val="0"/>
              </a:spcAft>
              <a:buClr>
                <a:srgbClr val="888888"/>
              </a:buClr>
              <a:buSzPts val="2400"/>
              <a:buNone/>
              <a:defRPr>
                <a:solidFill>
                  <a:srgbClr val="888888"/>
                </a:solidFill>
              </a:defRPr>
            </a:lvl1pPr>
            <a:lvl2pPr lvl="1" algn="ctr">
              <a:spcBef>
                <a:spcPts val="400"/>
              </a:spcBef>
              <a:spcAft>
                <a:spcPts val="0"/>
              </a:spcAft>
              <a:buClr>
                <a:srgbClr val="888888"/>
              </a:buClr>
              <a:buSzPts val="2100"/>
              <a:buNone/>
              <a:defRPr>
                <a:solidFill>
                  <a:srgbClr val="888888"/>
                </a:solidFill>
              </a:defRPr>
            </a:lvl2pPr>
            <a:lvl3pPr lvl="2" algn="ctr">
              <a:spcBef>
                <a:spcPts val="400"/>
              </a:spcBef>
              <a:spcAft>
                <a:spcPts val="0"/>
              </a:spcAft>
              <a:buClr>
                <a:srgbClr val="888888"/>
              </a:buClr>
              <a:buSzPts val="1800"/>
              <a:buNone/>
              <a:defRPr>
                <a:solidFill>
                  <a:srgbClr val="888888"/>
                </a:solidFill>
              </a:defRPr>
            </a:lvl3pPr>
            <a:lvl4pPr lvl="3" algn="ctr">
              <a:spcBef>
                <a:spcPts val="300"/>
              </a:spcBef>
              <a:spcAft>
                <a:spcPts val="0"/>
              </a:spcAft>
              <a:buClr>
                <a:srgbClr val="888888"/>
              </a:buClr>
              <a:buSzPts val="1500"/>
              <a:buNone/>
              <a:defRPr>
                <a:solidFill>
                  <a:srgbClr val="888888"/>
                </a:solidFill>
              </a:defRPr>
            </a:lvl4pPr>
            <a:lvl5pPr lvl="4" algn="ctr">
              <a:spcBef>
                <a:spcPts val="300"/>
              </a:spcBef>
              <a:spcAft>
                <a:spcPts val="0"/>
              </a:spcAft>
              <a:buClr>
                <a:srgbClr val="888888"/>
              </a:buClr>
              <a:buSzPts val="1500"/>
              <a:buNone/>
              <a:defRPr>
                <a:solidFill>
                  <a:srgbClr val="888888"/>
                </a:solidFill>
              </a:defRPr>
            </a:lvl5pPr>
            <a:lvl6pPr lvl="5" algn="ctr">
              <a:spcBef>
                <a:spcPts val="300"/>
              </a:spcBef>
              <a:spcAft>
                <a:spcPts val="0"/>
              </a:spcAft>
              <a:buClr>
                <a:srgbClr val="888888"/>
              </a:buClr>
              <a:buSzPts val="1500"/>
              <a:buNone/>
              <a:defRPr>
                <a:solidFill>
                  <a:srgbClr val="888888"/>
                </a:solidFill>
              </a:defRPr>
            </a:lvl6pPr>
            <a:lvl7pPr lvl="6" algn="ctr">
              <a:spcBef>
                <a:spcPts val="300"/>
              </a:spcBef>
              <a:spcAft>
                <a:spcPts val="0"/>
              </a:spcAft>
              <a:buClr>
                <a:srgbClr val="888888"/>
              </a:buClr>
              <a:buSzPts val="1500"/>
              <a:buNone/>
              <a:defRPr>
                <a:solidFill>
                  <a:srgbClr val="888888"/>
                </a:solidFill>
              </a:defRPr>
            </a:lvl7pPr>
            <a:lvl8pPr lvl="7" algn="ctr">
              <a:spcBef>
                <a:spcPts val="300"/>
              </a:spcBef>
              <a:spcAft>
                <a:spcPts val="0"/>
              </a:spcAft>
              <a:buClr>
                <a:srgbClr val="888888"/>
              </a:buClr>
              <a:buSzPts val="1500"/>
              <a:buNone/>
              <a:defRPr>
                <a:solidFill>
                  <a:srgbClr val="888888"/>
                </a:solidFill>
              </a:defRPr>
            </a:lvl8pPr>
            <a:lvl9pPr lvl="8" algn="ctr">
              <a:spcBef>
                <a:spcPts val="300"/>
              </a:spcBef>
              <a:spcAft>
                <a:spcPts val="0"/>
              </a:spcAft>
              <a:buClr>
                <a:srgbClr val="888888"/>
              </a:buClr>
              <a:buSzPts val="1500"/>
              <a:buNone/>
              <a:defRPr>
                <a:solidFill>
                  <a:srgbClr val="888888"/>
                </a:solidFill>
              </a:defRPr>
            </a:lvl9pPr>
          </a:lstStyle>
          <a:p/>
        </p:txBody>
      </p:sp>
      <p:sp>
        <p:nvSpPr>
          <p:cNvPr id="63" name="Google Shape;63;p15"/>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4" name="Google Shape;64;p15"/>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5" name="Google Shape;65;p15"/>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6" name="Shape 66"/>
        <p:cNvGrpSpPr/>
        <p:nvPr/>
      </p:nvGrpSpPr>
      <p:grpSpPr>
        <a:xfrm>
          <a:off x="0" y="0"/>
          <a:ext cx="0" cy="0"/>
          <a:chOff x="0" y="0"/>
          <a:chExt cx="0" cy="0"/>
        </a:xfrm>
      </p:grpSpPr>
      <p:sp>
        <p:nvSpPr>
          <p:cNvPr id="67" name="Google Shape;67;p16"/>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8" name="Google Shape;68;p16"/>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69" name="Google Shape;69;p16"/>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0" name="Google Shape;70;p16"/>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1" name="Google Shape;71;p16"/>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541749" y="3305175"/>
            <a:ext cx="5829455" cy="1021556"/>
          </a:xfrm>
          <a:prstGeom prst="rect">
            <a:avLst/>
          </a:prstGeom>
          <a:noFill/>
          <a:ln>
            <a:noFill/>
          </a:ln>
        </p:spPr>
        <p:txBody>
          <a:bodyPr anchorCtr="0" anchor="t" bIns="34275" lIns="68575" spcFirstLastPara="1" rIns="68575" wrap="square" tIns="34275">
            <a:normAutofit/>
          </a:bodyPr>
          <a:lstStyle>
            <a:lvl1pPr lvl="0" algn="l">
              <a:spcBef>
                <a:spcPts val="0"/>
              </a:spcBef>
              <a:spcAft>
                <a:spcPts val="0"/>
              </a:spcAft>
              <a:buClr>
                <a:schemeClr val="dk1"/>
              </a:buClr>
              <a:buSzPts val="3000"/>
              <a:buFont typeface="Calibri"/>
              <a:buNone/>
              <a:defRPr b="1" sz="3000" cap="none"/>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4" name="Google Shape;74;p17"/>
          <p:cNvSpPr txBox="1"/>
          <p:nvPr>
            <p:ph idx="1" type="body"/>
          </p:nvPr>
        </p:nvSpPr>
        <p:spPr>
          <a:xfrm>
            <a:off x="541749" y="2180035"/>
            <a:ext cx="5829455" cy="1125140"/>
          </a:xfrm>
          <a:prstGeom prst="rect">
            <a:avLst/>
          </a:prstGeom>
          <a:noFill/>
          <a:ln>
            <a:noFill/>
          </a:ln>
        </p:spPr>
        <p:txBody>
          <a:bodyPr anchorCtr="0" anchor="b" bIns="34275" lIns="68575" spcFirstLastPara="1" rIns="68575" wrap="square" tIns="34275">
            <a:normAutofit/>
          </a:bodyPr>
          <a:lstStyle>
            <a:lvl1pPr indent="-228600" lvl="0" marL="457200" algn="l">
              <a:spcBef>
                <a:spcPts val="300"/>
              </a:spcBef>
              <a:spcAft>
                <a:spcPts val="0"/>
              </a:spcAft>
              <a:buClr>
                <a:srgbClr val="888888"/>
              </a:buClr>
              <a:buSzPts val="1500"/>
              <a:buNone/>
              <a:defRPr sz="1500">
                <a:solidFill>
                  <a:srgbClr val="888888"/>
                </a:solidFill>
              </a:defRPr>
            </a:lvl1pPr>
            <a:lvl2pPr indent="-228600" lvl="1" marL="914400" algn="l">
              <a:spcBef>
                <a:spcPts val="300"/>
              </a:spcBef>
              <a:spcAft>
                <a:spcPts val="0"/>
              </a:spcAft>
              <a:buClr>
                <a:srgbClr val="888888"/>
              </a:buClr>
              <a:buSzPts val="1400"/>
              <a:buNone/>
              <a:defRPr sz="1400">
                <a:solidFill>
                  <a:srgbClr val="888888"/>
                </a:solidFill>
              </a:defRPr>
            </a:lvl2pPr>
            <a:lvl3pPr indent="-228600" lvl="2" marL="1371600" algn="l">
              <a:spcBef>
                <a:spcPts val="200"/>
              </a:spcBef>
              <a:spcAft>
                <a:spcPts val="0"/>
              </a:spcAft>
              <a:buClr>
                <a:srgbClr val="888888"/>
              </a:buClr>
              <a:buSzPts val="1200"/>
              <a:buNone/>
              <a:defRPr sz="1200">
                <a:solidFill>
                  <a:srgbClr val="888888"/>
                </a:solidFill>
              </a:defRPr>
            </a:lvl3pPr>
            <a:lvl4pPr indent="-228600" lvl="3" marL="1828800" algn="l">
              <a:spcBef>
                <a:spcPts val="200"/>
              </a:spcBef>
              <a:spcAft>
                <a:spcPts val="0"/>
              </a:spcAft>
              <a:buClr>
                <a:srgbClr val="888888"/>
              </a:buClr>
              <a:buSzPts val="1100"/>
              <a:buNone/>
              <a:defRPr sz="1100">
                <a:solidFill>
                  <a:srgbClr val="888888"/>
                </a:solidFill>
              </a:defRPr>
            </a:lvl4pPr>
            <a:lvl5pPr indent="-228600" lvl="4" marL="2286000" algn="l">
              <a:spcBef>
                <a:spcPts val="200"/>
              </a:spcBef>
              <a:spcAft>
                <a:spcPts val="0"/>
              </a:spcAft>
              <a:buClr>
                <a:srgbClr val="888888"/>
              </a:buClr>
              <a:buSzPts val="1100"/>
              <a:buNone/>
              <a:defRPr sz="1100">
                <a:solidFill>
                  <a:srgbClr val="888888"/>
                </a:solidFill>
              </a:defRPr>
            </a:lvl5pPr>
            <a:lvl6pPr indent="-228600" lvl="5" marL="2743200" algn="l">
              <a:spcBef>
                <a:spcPts val="200"/>
              </a:spcBef>
              <a:spcAft>
                <a:spcPts val="0"/>
              </a:spcAft>
              <a:buClr>
                <a:srgbClr val="888888"/>
              </a:buClr>
              <a:buSzPts val="1100"/>
              <a:buNone/>
              <a:defRPr sz="1100">
                <a:solidFill>
                  <a:srgbClr val="888888"/>
                </a:solidFill>
              </a:defRPr>
            </a:lvl6pPr>
            <a:lvl7pPr indent="-228600" lvl="6" marL="3200400" algn="l">
              <a:spcBef>
                <a:spcPts val="200"/>
              </a:spcBef>
              <a:spcAft>
                <a:spcPts val="0"/>
              </a:spcAft>
              <a:buClr>
                <a:srgbClr val="888888"/>
              </a:buClr>
              <a:buSzPts val="1100"/>
              <a:buNone/>
              <a:defRPr sz="1100">
                <a:solidFill>
                  <a:srgbClr val="888888"/>
                </a:solidFill>
              </a:defRPr>
            </a:lvl7pPr>
            <a:lvl8pPr indent="-228600" lvl="7" marL="3657600" algn="l">
              <a:spcBef>
                <a:spcPts val="200"/>
              </a:spcBef>
              <a:spcAft>
                <a:spcPts val="0"/>
              </a:spcAft>
              <a:buClr>
                <a:srgbClr val="888888"/>
              </a:buClr>
              <a:buSzPts val="1100"/>
              <a:buNone/>
              <a:defRPr sz="1100">
                <a:solidFill>
                  <a:srgbClr val="888888"/>
                </a:solidFill>
              </a:defRPr>
            </a:lvl8pPr>
            <a:lvl9pPr indent="-228600" lvl="8" marL="4114800" algn="l">
              <a:spcBef>
                <a:spcPts val="200"/>
              </a:spcBef>
              <a:spcAft>
                <a:spcPts val="0"/>
              </a:spcAft>
              <a:buClr>
                <a:srgbClr val="888888"/>
              </a:buClr>
              <a:buSzPts val="1100"/>
              <a:buNone/>
              <a:defRPr sz="1100">
                <a:solidFill>
                  <a:srgbClr val="888888"/>
                </a:solidFill>
              </a:defRPr>
            </a:lvl9pPr>
          </a:lstStyle>
          <a:p/>
        </p:txBody>
      </p:sp>
      <p:sp>
        <p:nvSpPr>
          <p:cNvPr id="75" name="Google Shape;75;p17"/>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6" name="Google Shape;76;p17"/>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17"/>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0" name="Google Shape;80;p18"/>
          <p:cNvSpPr txBox="1"/>
          <p:nvPr>
            <p:ph idx="1" type="body"/>
          </p:nvPr>
        </p:nvSpPr>
        <p:spPr>
          <a:xfrm>
            <a:off x="342909"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1" name="Google Shape;81;p18"/>
          <p:cNvSpPr txBox="1"/>
          <p:nvPr>
            <p:ph idx="2" type="body"/>
          </p:nvPr>
        </p:nvSpPr>
        <p:spPr>
          <a:xfrm>
            <a:off x="3486243" y="1200150"/>
            <a:ext cx="3029031" cy="3394472"/>
          </a:xfrm>
          <a:prstGeom prst="rect">
            <a:avLst/>
          </a:prstGeom>
          <a:noFill/>
          <a:ln>
            <a:noFill/>
          </a:ln>
        </p:spPr>
        <p:txBody>
          <a:bodyPr anchorCtr="0" anchor="t" bIns="34275" lIns="68575" spcFirstLastPara="1" rIns="68575" wrap="square" tIns="34275">
            <a:normAutofit/>
          </a:bodyPr>
          <a:lstStyle>
            <a:lvl1pPr indent="-361950" lvl="0" marL="457200" algn="l">
              <a:spcBef>
                <a:spcPts val="400"/>
              </a:spcBef>
              <a:spcAft>
                <a:spcPts val="0"/>
              </a:spcAft>
              <a:buClr>
                <a:schemeClr val="dk1"/>
              </a:buClr>
              <a:buSzPts val="2100"/>
              <a:buChar char="•"/>
              <a:defRPr sz="2100"/>
            </a:lvl1pPr>
            <a:lvl2pPr indent="-342900" lvl="1" marL="914400" algn="l">
              <a:spcBef>
                <a:spcPts val="400"/>
              </a:spcBef>
              <a:spcAft>
                <a:spcPts val="0"/>
              </a:spcAft>
              <a:buClr>
                <a:schemeClr val="dk1"/>
              </a:buClr>
              <a:buSzPts val="1800"/>
              <a:buChar char="–"/>
              <a:defRPr sz="1800"/>
            </a:lvl2pPr>
            <a:lvl3pPr indent="-323850" lvl="2" marL="1371600" algn="l">
              <a:spcBef>
                <a:spcPts val="300"/>
              </a:spcBef>
              <a:spcAft>
                <a:spcPts val="0"/>
              </a:spcAft>
              <a:buClr>
                <a:schemeClr val="dk1"/>
              </a:buClr>
              <a:buSzPts val="1500"/>
              <a:buChar char="•"/>
              <a:defRPr sz="1500"/>
            </a:lvl3pPr>
            <a:lvl4pPr indent="-317500" lvl="3" marL="1828800" algn="l">
              <a:spcBef>
                <a:spcPts val="300"/>
              </a:spcBef>
              <a:spcAft>
                <a:spcPts val="0"/>
              </a:spcAft>
              <a:buClr>
                <a:schemeClr val="dk1"/>
              </a:buClr>
              <a:buSzPts val="1400"/>
              <a:buChar char="–"/>
              <a:defRPr sz="1400"/>
            </a:lvl4pPr>
            <a:lvl5pPr indent="-317500" lvl="4" marL="2286000" algn="l">
              <a:spcBef>
                <a:spcPts val="300"/>
              </a:spcBef>
              <a:spcAft>
                <a:spcPts val="0"/>
              </a:spcAft>
              <a:buClr>
                <a:schemeClr val="dk1"/>
              </a:buClr>
              <a:buSzPts val="1400"/>
              <a:buChar char="»"/>
              <a:defRPr sz="1400"/>
            </a:lvl5pPr>
            <a:lvl6pPr indent="-317500" lvl="5" marL="2743200" algn="l">
              <a:spcBef>
                <a:spcPts val="300"/>
              </a:spcBef>
              <a:spcAft>
                <a:spcPts val="0"/>
              </a:spcAft>
              <a:buClr>
                <a:schemeClr val="dk1"/>
              </a:buClr>
              <a:buSzPts val="1400"/>
              <a:buChar char="•"/>
              <a:defRPr sz="1400"/>
            </a:lvl6pPr>
            <a:lvl7pPr indent="-317500" lvl="6" marL="3200400" algn="l">
              <a:spcBef>
                <a:spcPts val="300"/>
              </a:spcBef>
              <a:spcAft>
                <a:spcPts val="0"/>
              </a:spcAft>
              <a:buClr>
                <a:schemeClr val="dk1"/>
              </a:buClr>
              <a:buSzPts val="1400"/>
              <a:buChar char="•"/>
              <a:defRPr sz="1400"/>
            </a:lvl7pPr>
            <a:lvl8pPr indent="-317500" lvl="7" marL="3657600" algn="l">
              <a:spcBef>
                <a:spcPts val="300"/>
              </a:spcBef>
              <a:spcAft>
                <a:spcPts val="0"/>
              </a:spcAft>
              <a:buClr>
                <a:schemeClr val="dk1"/>
              </a:buClr>
              <a:buSzPts val="1400"/>
              <a:buChar char="•"/>
              <a:defRPr sz="1400"/>
            </a:lvl8pPr>
            <a:lvl9pPr indent="-317500" lvl="8" marL="4114800" algn="l">
              <a:spcBef>
                <a:spcPts val="300"/>
              </a:spcBef>
              <a:spcAft>
                <a:spcPts val="0"/>
              </a:spcAft>
              <a:buClr>
                <a:schemeClr val="dk1"/>
              </a:buClr>
              <a:buSzPts val="1400"/>
              <a:buChar char="•"/>
              <a:defRPr sz="1400"/>
            </a:lvl9pPr>
          </a:lstStyle>
          <a:p/>
        </p:txBody>
      </p:sp>
      <p:sp>
        <p:nvSpPr>
          <p:cNvPr id="82" name="Google Shape;82;p18"/>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3" name="Google Shape;83;p18"/>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4" name="Google Shape;84;p18"/>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3300"/>
              <a:buFont typeface="Calibri"/>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7" name="Google Shape;87;p19"/>
          <p:cNvSpPr txBox="1"/>
          <p:nvPr>
            <p:ph idx="1" type="body"/>
          </p:nvPr>
        </p:nvSpPr>
        <p:spPr>
          <a:xfrm>
            <a:off x="342909" y="1151335"/>
            <a:ext cx="3030222"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88" name="Google Shape;88;p19"/>
          <p:cNvSpPr txBox="1"/>
          <p:nvPr>
            <p:ph idx="2" type="body"/>
          </p:nvPr>
        </p:nvSpPr>
        <p:spPr>
          <a:xfrm>
            <a:off x="342909" y="1631156"/>
            <a:ext cx="3030222"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89" name="Google Shape;89;p19"/>
          <p:cNvSpPr txBox="1"/>
          <p:nvPr>
            <p:ph idx="3" type="body"/>
          </p:nvPr>
        </p:nvSpPr>
        <p:spPr>
          <a:xfrm>
            <a:off x="3483862" y="1151335"/>
            <a:ext cx="3031412" cy="479822"/>
          </a:xfrm>
          <a:prstGeom prst="rect">
            <a:avLst/>
          </a:prstGeom>
          <a:noFill/>
          <a:ln>
            <a:noFill/>
          </a:ln>
        </p:spPr>
        <p:txBody>
          <a:bodyPr anchorCtr="0" anchor="b" bIns="34275" lIns="68575" spcFirstLastPara="1" rIns="68575" wrap="square" tIns="34275">
            <a:normAutofit/>
          </a:bodyPr>
          <a:lstStyle>
            <a:lvl1pPr indent="-228600" lvl="0" marL="457200" algn="l">
              <a:spcBef>
                <a:spcPts val="400"/>
              </a:spcBef>
              <a:spcAft>
                <a:spcPts val="0"/>
              </a:spcAft>
              <a:buClr>
                <a:schemeClr val="dk1"/>
              </a:buClr>
              <a:buSzPts val="1800"/>
              <a:buNone/>
              <a:defRPr b="1" sz="1800"/>
            </a:lvl1pPr>
            <a:lvl2pPr indent="-228600" lvl="1" marL="914400" algn="l">
              <a:spcBef>
                <a:spcPts val="300"/>
              </a:spcBef>
              <a:spcAft>
                <a:spcPts val="0"/>
              </a:spcAft>
              <a:buClr>
                <a:schemeClr val="dk1"/>
              </a:buClr>
              <a:buSzPts val="1500"/>
              <a:buNone/>
              <a:defRPr b="1" sz="1500"/>
            </a:lvl2pPr>
            <a:lvl3pPr indent="-228600" lvl="2" marL="1371600" algn="l">
              <a:spcBef>
                <a:spcPts val="300"/>
              </a:spcBef>
              <a:spcAft>
                <a:spcPts val="0"/>
              </a:spcAft>
              <a:buClr>
                <a:schemeClr val="dk1"/>
              </a:buClr>
              <a:buSzPts val="1400"/>
              <a:buNone/>
              <a:defRPr b="1" sz="1400"/>
            </a:lvl3pPr>
            <a:lvl4pPr indent="-228600" lvl="3" marL="1828800" algn="l">
              <a:spcBef>
                <a:spcPts val="200"/>
              </a:spcBef>
              <a:spcAft>
                <a:spcPts val="0"/>
              </a:spcAft>
              <a:buClr>
                <a:schemeClr val="dk1"/>
              </a:buClr>
              <a:buSzPts val="1200"/>
              <a:buNone/>
              <a:defRPr b="1" sz="1200"/>
            </a:lvl4pPr>
            <a:lvl5pPr indent="-228600" lvl="4" marL="2286000" algn="l">
              <a:spcBef>
                <a:spcPts val="200"/>
              </a:spcBef>
              <a:spcAft>
                <a:spcPts val="0"/>
              </a:spcAft>
              <a:buClr>
                <a:schemeClr val="dk1"/>
              </a:buClr>
              <a:buSzPts val="1200"/>
              <a:buNone/>
              <a:defRPr b="1" sz="1200"/>
            </a:lvl5pPr>
            <a:lvl6pPr indent="-228600" lvl="5" marL="2743200" algn="l">
              <a:spcBef>
                <a:spcPts val="200"/>
              </a:spcBef>
              <a:spcAft>
                <a:spcPts val="0"/>
              </a:spcAft>
              <a:buClr>
                <a:schemeClr val="dk1"/>
              </a:buClr>
              <a:buSzPts val="1200"/>
              <a:buNone/>
              <a:defRPr b="1" sz="1200"/>
            </a:lvl6pPr>
            <a:lvl7pPr indent="-228600" lvl="6" marL="3200400" algn="l">
              <a:spcBef>
                <a:spcPts val="200"/>
              </a:spcBef>
              <a:spcAft>
                <a:spcPts val="0"/>
              </a:spcAft>
              <a:buClr>
                <a:schemeClr val="dk1"/>
              </a:buClr>
              <a:buSzPts val="1200"/>
              <a:buNone/>
              <a:defRPr b="1" sz="1200"/>
            </a:lvl7pPr>
            <a:lvl8pPr indent="-228600" lvl="7" marL="3657600" algn="l">
              <a:spcBef>
                <a:spcPts val="200"/>
              </a:spcBef>
              <a:spcAft>
                <a:spcPts val="0"/>
              </a:spcAft>
              <a:buClr>
                <a:schemeClr val="dk1"/>
              </a:buClr>
              <a:buSzPts val="1200"/>
              <a:buNone/>
              <a:defRPr b="1" sz="1200"/>
            </a:lvl8pPr>
            <a:lvl9pPr indent="-228600" lvl="8" marL="4114800" algn="l">
              <a:spcBef>
                <a:spcPts val="200"/>
              </a:spcBef>
              <a:spcAft>
                <a:spcPts val="0"/>
              </a:spcAft>
              <a:buClr>
                <a:schemeClr val="dk1"/>
              </a:buClr>
              <a:buSzPts val="1200"/>
              <a:buNone/>
              <a:defRPr b="1" sz="1200"/>
            </a:lvl9pPr>
          </a:lstStyle>
          <a:p/>
        </p:txBody>
      </p:sp>
      <p:sp>
        <p:nvSpPr>
          <p:cNvPr id="90" name="Google Shape;90;p19"/>
          <p:cNvSpPr txBox="1"/>
          <p:nvPr>
            <p:ph idx="4" type="body"/>
          </p:nvPr>
        </p:nvSpPr>
        <p:spPr>
          <a:xfrm>
            <a:off x="3483862" y="1631156"/>
            <a:ext cx="3031412" cy="2963466"/>
          </a:xfrm>
          <a:prstGeom prst="rect">
            <a:avLst/>
          </a:prstGeom>
          <a:noFill/>
          <a:ln>
            <a:noFill/>
          </a:ln>
        </p:spPr>
        <p:txBody>
          <a:bodyPr anchorCtr="0" anchor="t" bIns="34275" lIns="68575" spcFirstLastPara="1" rIns="68575" wrap="square" tIns="34275">
            <a:normAutofit/>
          </a:bodyPr>
          <a:lstStyle>
            <a:lvl1pPr indent="-342900" lvl="0" marL="457200" algn="l">
              <a:spcBef>
                <a:spcPts val="400"/>
              </a:spcBef>
              <a:spcAft>
                <a:spcPts val="0"/>
              </a:spcAft>
              <a:buClr>
                <a:schemeClr val="dk1"/>
              </a:buClr>
              <a:buSzPts val="1800"/>
              <a:buChar char="•"/>
              <a:defRPr sz="1800"/>
            </a:lvl1pPr>
            <a:lvl2pPr indent="-323850" lvl="1" marL="914400" algn="l">
              <a:spcBef>
                <a:spcPts val="300"/>
              </a:spcBef>
              <a:spcAft>
                <a:spcPts val="0"/>
              </a:spcAft>
              <a:buClr>
                <a:schemeClr val="dk1"/>
              </a:buClr>
              <a:buSzPts val="1500"/>
              <a:buChar char="–"/>
              <a:defRPr sz="1500"/>
            </a:lvl2pPr>
            <a:lvl3pPr indent="-317500" lvl="2" marL="1371600" algn="l">
              <a:spcBef>
                <a:spcPts val="300"/>
              </a:spcBef>
              <a:spcAft>
                <a:spcPts val="0"/>
              </a:spcAft>
              <a:buClr>
                <a:schemeClr val="dk1"/>
              </a:buClr>
              <a:buSzPts val="1400"/>
              <a:buChar char="•"/>
              <a:defRPr sz="1400"/>
            </a:lvl3pPr>
            <a:lvl4pPr indent="-304800" lvl="3" marL="1828800" algn="l">
              <a:spcBef>
                <a:spcPts val="200"/>
              </a:spcBef>
              <a:spcAft>
                <a:spcPts val="0"/>
              </a:spcAft>
              <a:buClr>
                <a:schemeClr val="dk1"/>
              </a:buClr>
              <a:buSzPts val="1200"/>
              <a:buChar char="–"/>
              <a:defRPr sz="1200"/>
            </a:lvl4pPr>
            <a:lvl5pPr indent="-304800" lvl="4" marL="2286000" algn="l">
              <a:spcBef>
                <a:spcPts val="200"/>
              </a:spcBef>
              <a:spcAft>
                <a:spcPts val="0"/>
              </a:spcAft>
              <a:buClr>
                <a:schemeClr val="dk1"/>
              </a:buClr>
              <a:buSzPts val="1200"/>
              <a:buChar char="»"/>
              <a:defRPr sz="1200"/>
            </a:lvl5pPr>
            <a:lvl6pPr indent="-304800" lvl="5" marL="2743200" algn="l">
              <a:spcBef>
                <a:spcPts val="200"/>
              </a:spcBef>
              <a:spcAft>
                <a:spcPts val="0"/>
              </a:spcAft>
              <a:buClr>
                <a:schemeClr val="dk1"/>
              </a:buClr>
              <a:buSzPts val="1200"/>
              <a:buChar char="•"/>
              <a:defRPr sz="1200"/>
            </a:lvl6pPr>
            <a:lvl7pPr indent="-304800" lvl="6" marL="3200400" algn="l">
              <a:spcBef>
                <a:spcPts val="200"/>
              </a:spcBef>
              <a:spcAft>
                <a:spcPts val="0"/>
              </a:spcAft>
              <a:buClr>
                <a:schemeClr val="dk1"/>
              </a:buClr>
              <a:buSzPts val="1200"/>
              <a:buChar char="•"/>
              <a:defRPr sz="1200"/>
            </a:lvl7pPr>
            <a:lvl8pPr indent="-304800" lvl="7" marL="3657600" algn="l">
              <a:spcBef>
                <a:spcPts val="200"/>
              </a:spcBef>
              <a:spcAft>
                <a:spcPts val="0"/>
              </a:spcAft>
              <a:buClr>
                <a:schemeClr val="dk1"/>
              </a:buClr>
              <a:buSzPts val="1200"/>
              <a:buChar char="•"/>
              <a:defRPr sz="1200"/>
            </a:lvl8pPr>
            <a:lvl9pPr indent="-304800" lvl="8" marL="4114800" algn="l">
              <a:spcBef>
                <a:spcPts val="200"/>
              </a:spcBef>
              <a:spcAft>
                <a:spcPts val="0"/>
              </a:spcAft>
              <a:buClr>
                <a:schemeClr val="dk1"/>
              </a:buClr>
              <a:buSzPts val="1200"/>
              <a:buChar char="•"/>
              <a:defRPr sz="1200"/>
            </a:lvl9pPr>
          </a:lstStyle>
          <a:p/>
        </p:txBody>
      </p:sp>
      <p:sp>
        <p:nvSpPr>
          <p:cNvPr id="91" name="Google Shape;91;p19"/>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2" name="Google Shape;92;p19"/>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9"/>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6" name="Google Shape;96;p20"/>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20"/>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20"/>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342909" y="204788"/>
            <a:ext cx="2256295" cy="871538"/>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1" name="Google Shape;101;p21"/>
          <p:cNvSpPr txBox="1"/>
          <p:nvPr>
            <p:ph idx="1" type="body"/>
          </p:nvPr>
        </p:nvSpPr>
        <p:spPr>
          <a:xfrm>
            <a:off x="2681359" y="204788"/>
            <a:ext cx="3833915" cy="4389835"/>
          </a:xfrm>
          <a:prstGeom prst="rect">
            <a:avLst/>
          </a:prstGeom>
          <a:noFill/>
          <a:ln>
            <a:noFill/>
          </a:ln>
        </p:spPr>
        <p:txBody>
          <a:bodyPr anchorCtr="0" anchor="t" bIns="34275" lIns="68575" spcFirstLastPara="1" rIns="68575" wrap="square" tIns="34275">
            <a:normAutofit/>
          </a:bodyPr>
          <a:lstStyle>
            <a:lvl1pPr indent="-381000" lvl="0" marL="457200" algn="l">
              <a:spcBef>
                <a:spcPts val="500"/>
              </a:spcBef>
              <a:spcAft>
                <a:spcPts val="0"/>
              </a:spcAft>
              <a:buClr>
                <a:schemeClr val="dk1"/>
              </a:buClr>
              <a:buSzPts val="2400"/>
              <a:buChar char="•"/>
              <a:defRPr sz="2400"/>
            </a:lvl1pPr>
            <a:lvl2pPr indent="-361950" lvl="1" marL="914400" algn="l">
              <a:spcBef>
                <a:spcPts val="400"/>
              </a:spcBef>
              <a:spcAft>
                <a:spcPts val="0"/>
              </a:spcAft>
              <a:buClr>
                <a:schemeClr val="dk1"/>
              </a:buClr>
              <a:buSzPts val="2100"/>
              <a:buChar char="–"/>
              <a:defRPr sz="2100"/>
            </a:lvl2pPr>
            <a:lvl3pPr indent="-342900" lvl="2" marL="1371600" algn="l">
              <a:spcBef>
                <a:spcPts val="400"/>
              </a:spcBef>
              <a:spcAft>
                <a:spcPts val="0"/>
              </a:spcAft>
              <a:buClr>
                <a:schemeClr val="dk1"/>
              </a:buClr>
              <a:buSzPts val="1800"/>
              <a:buChar char="•"/>
              <a:defRPr sz="1800"/>
            </a:lvl3pPr>
            <a:lvl4pPr indent="-323850" lvl="3" marL="1828800" algn="l">
              <a:spcBef>
                <a:spcPts val="300"/>
              </a:spcBef>
              <a:spcAft>
                <a:spcPts val="0"/>
              </a:spcAft>
              <a:buClr>
                <a:schemeClr val="dk1"/>
              </a:buClr>
              <a:buSzPts val="1500"/>
              <a:buChar char="–"/>
              <a:defRPr sz="1500"/>
            </a:lvl4pPr>
            <a:lvl5pPr indent="-323850" lvl="4" marL="2286000" algn="l">
              <a:spcBef>
                <a:spcPts val="300"/>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102" name="Google Shape;102;p21"/>
          <p:cNvSpPr txBox="1"/>
          <p:nvPr>
            <p:ph idx="2" type="body"/>
          </p:nvPr>
        </p:nvSpPr>
        <p:spPr>
          <a:xfrm>
            <a:off x="342909" y="1076325"/>
            <a:ext cx="2256295" cy="351829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03" name="Google Shape;103;p21"/>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1"/>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5" name="Google Shape;105;p21"/>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344252" y="3600450"/>
            <a:ext cx="4114910" cy="425054"/>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dk1"/>
              </a:buClr>
              <a:buSzPts val="1500"/>
              <a:buFont typeface="Calibri"/>
              <a:buNone/>
              <a:defRPr b="1" sz="1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8" name="Google Shape;108;p22"/>
          <p:cNvSpPr/>
          <p:nvPr>
            <p:ph idx="2" type="pic"/>
          </p:nvPr>
        </p:nvSpPr>
        <p:spPr>
          <a:xfrm>
            <a:off x="1344252" y="459581"/>
            <a:ext cx="4114910" cy="3086100"/>
          </a:xfrm>
          <a:prstGeom prst="rect">
            <a:avLst/>
          </a:prstGeom>
          <a:noFill/>
          <a:ln>
            <a:noFill/>
          </a:ln>
        </p:spPr>
      </p:sp>
      <p:sp>
        <p:nvSpPr>
          <p:cNvPr id="109" name="Google Shape;109;p22"/>
          <p:cNvSpPr txBox="1"/>
          <p:nvPr>
            <p:ph idx="1" type="body"/>
          </p:nvPr>
        </p:nvSpPr>
        <p:spPr>
          <a:xfrm>
            <a:off x="1344252" y="4025503"/>
            <a:ext cx="4114910" cy="603647"/>
          </a:xfrm>
          <a:prstGeom prst="rect">
            <a:avLst/>
          </a:prstGeom>
          <a:noFill/>
          <a:ln>
            <a:noFill/>
          </a:ln>
        </p:spPr>
        <p:txBody>
          <a:bodyPr anchorCtr="0" anchor="t" bIns="34275" lIns="68575" spcFirstLastPara="1" rIns="68575" wrap="square" tIns="34275">
            <a:normAutofit/>
          </a:bodyPr>
          <a:lstStyle>
            <a:lvl1pPr indent="-228600" lvl="0" marL="457200" algn="l">
              <a:spcBef>
                <a:spcPts val="200"/>
              </a:spcBef>
              <a:spcAft>
                <a:spcPts val="0"/>
              </a:spcAft>
              <a:buClr>
                <a:schemeClr val="dk1"/>
              </a:buClr>
              <a:buSzPts val="1100"/>
              <a:buNone/>
              <a:defRPr sz="1100"/>
            </a:lvl1pPr>
            <a:lvl2pPr indent="-228600" lvl="1" marL="914400" algn="l">
              <a:spcBef>
                <a:spcPts val="200"/>
              </a:spcBef>
              <a:spcAft>
                <a:spcPts val="0"/>
              </a:spcAft>
              <a:buClr>
                <a:schemeClr val="dk1"/>
              </a:buClr>
              <a:buSzPts val="900"/>
              <a:buNone/>
              <a:defRPr sz="900"/>
            </a:lvl2pPr>
            <a:lvl3pPr indent="-228600" lvl="2" marL="1371600" algn="l">
              <a:spcBef>
                <a:spcPts val="200"/>
              </a:spcBef>
              <a:spcAft>
                <a:spcPts val="0"/>
              </a:spcAft>
              <a:buClr>
                <a:schemeClr val="dk1"/>
              </a:buClr>
              <a:buSzPts val="800"/>
              <a:buNone/>
              <a:defRPr sz="800"/>
            </a:lvl3pPr>
            <a:lvl4pPr indent="-228600" lvl="3" marL="1828800" algn="l">
              <a:spcBef>
                <a:spcPts val="100"/>
              </a:spcBef>
              <a:spcAft>
                <a:spcPts val="0"/>
              </a:spcAft>
              <a:buClr>
                <a:schemeClr val="dk1"/>
              </a:buClr>
              <a:buSzPts val="700"/>
              <a:buNone/>
              <a:defRPr sz="700"/>
            </a:lvl4pPr>
            <a:lvl5pPr indent="-228600" lvl="4" marL="2286000" algn="l">
              <a:spcBef>
                <a:spcPts val="100"/>
              </a:spcBef>
              <a:spcAft>
                <a:spcPts val="0"/>
              </a:spcAft>
              <a:buClr>
                <a:schemeClr val="dk1"/>
              </a:buClr>
              <a:buSzPts val="700"/>
              <a:buNone/>
              <a:defRPr sz="700"/>
            </a:lvl5pPr>
            <a:lvl6pPr indent="-228600" lvl="5" marL="2743200" algn="l">
              <a:spcBef>
                <a:spcPts val="100"/>
              </a:spcBef>
              <a:spcAft>
                <a:spcPts val="0"/>
              </a:spcAft>
              <a:buClr>
                <a:schemeClr val="dk1"/>
              </a:buClr>
              <a:buSzPts val="700"/>
              <a:buNone/>
              <a:defRPr sz="700"/>
            </a:lvl6pPr>
            <a:lvl7pPr indent="-228600" lvl="6" marL="3200400" algn="l">
              <a:spcBef>
                <a:spcPts val="100"/>
              </a:spcBef>
              <a:spcAft>
                <a:spcPts val="0"/>
              </a:spcAft>
              <a:buClr>
                <a:schemeClr val="dk1"/>
              </a:buClr>
              <a:buSzPts val="700"/>
              <a:buNone/>
              <a:defRPr sz="700"/>
            </a:lvl7pPr>
            <a:lvl8pPr indent="-228600" lvl="7" marL="3657600" algn="l">
              <a:spcBef>
                <a:spcPts val="100"/>
              </a:spcBef>
              <a:spcAft>
                <a:spcPts val="0"/>
              </a:spcAft>
              <a:buClr>
                <a:schemeClr val="dk1"/>
              </a:buClr>
              <a:buSzPts val="700"/>
              <a:buNone/>
              <a:defRPr sz="700"/>
            </a:lvl8pPr>
            <a:lvl9pPr indent="-228600" lvl="8" marL="4114800" algn="l">
              <a:spcBef>
                <a:spcPts val="100"/>
              </a:spcBef>
              <a:spcAft>
                <a:spcPts val="0"/>
              </a:spcAft>
              <a:buClr>
                <a:schemeClr val="dk1"/>
              </a:buClr>
              <a:buSzPts val="700"/>
              <a:buNone/>
              <a:defRPr sz="700"/>
            </a:lvl9pPr>
          </a:lstStyle>
          <a:p/>
        </p:txBody>
      </p:sp>
      <p:sp>
        <p:nvSpPr>
          <p:cNvPr id="110" name="Google Shape;110;p22"/>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2"/>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2"/>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5" name="Google Shape;115;p23"/>
          <p:cNvSpPr txBox="1"/>
          <p:nvPr>
            <p:ph idx="1" type="body"/>
          </p:nvPr>
        </p:nvSpPr>
        <p:spPr>
          <a:xfrm rot="5400000">
            <a:off x="1731855" y="-188796"/>
            <a:ext cx="3394472" cy="6172365"/>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16" name="Google Shape;116;p2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8" name="Google Shape;118;p2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3549406" y="1628755"/>
            <a:ext cx="4388644" cy="1543091"/>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1" name="Google Shape;121;p24"/>
          <p:cNvSpPr txBox="1"/>
          <p:nvPr>
            <p:ph idx="1" type="body"/>
          </p:nvPr>
        </p:nvSpPr>
        <p:spPr>
          <a:xfrm rot="5400000">
            <a:off x="406072" y="142815"/>
            <a:ext cx="4388644" cy="4514970"/>
          </a:xfrm>
          <a:prstGeom prst="rect">
            <a:avLst/>
          </a:prstGeom>
          <a:noFill/>
          <a:ln>
            <a:noFill/>
          </a:ln>
        </p:spPr>
        <p:txBody>
          <a:bodyPr anchorCtr="0" anchor="t" bIns="34275" lIns="68575" spcFirstLastPara="1" rIns="68575" wrap="square" tIns="34275">
            <a:normAutofit/>
          </a:bodyPr>
          <a:lstStyle>
            <a:lvl1pPr indent="-317500" lvl="0" marL="457200" algn="l">
              <a:spcBef>
                <a:spcPts val="300"/>
              </a:spcBef>
              <a:spcAft>
                <a:spcPts val="0"/>
              </a:spcAft>
              <a:buClr>
                <a:schemeClr val="dk1"/>
              </a:buClr>
              <a:buSzPts val="1400"/>
              <a:buChar char="•"/>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
        <p:nvSpPr>
          <p:cNvPr id="122" name="Google Shape;122;p24"/>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3" name="Google Shape;123;p24"/>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4"/>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42909" y="205978"/>
            <a:ext cx="6172365" cy="857250"/>
          </a:xfrm>
          <a:prstGeom prst="rect">
            <a:avLst/>
          </a:prstGeom>
          <a:noFill/>
          <a:ln>
            <a:noFill/>
          </a:ln>
        </p:spPr>
        <p:txBody>
          <a:bodyPr anchorCtr="0" anchor="ctr" bIns="34275" lIns="68575" spcFirstLastPara="1" rIns="68575" wrap="square" tIns="34275">
            <a:normAutofit/>
          </a:bodyPr>
          <a:lstStyle>
            <a:lvl1pPr lvl="0" marR="0" rtl="0" algn="ctr">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342909" y="1200150"/>
            <a:ext cx="6172365" cy="3394472"/>
          </a:xfrm>
          <a:prstGeom prst="rect">
            <a:avLst/>
          </a:prstGeom>
          <a:noFill/>
          <a:ln>
            <a:noFill/>
          </a:ln>
        </p:spPr>
        <p:txBody>
          <a:bodyPr anchorCtr="0" anchor="t" bIns="34275" lIns="68575" spcFirstLastPara="1" rIns="68575" wrap="square" tIns="34275">
            <a:normAutofit/>
          </a:bodyPr>
          <a:lstStyle>
            <a:lvl1pPr indent="-381000" lvl="0" marL="457200" marR="0" rtl="0" algn="l">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342909" y="4767263"/>
            <a:ext cx="1600243"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2343212" y="4767263"/>
            <a:ext cx="2171758"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4915031" y="4767263"/>
            <a:ext cx="1600243"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QR" Type="http://schemas.openxmlformats.org/officeDocument/2006/relationships/image" Target="../media/qr-algorithmacy-lab.png"/><Relationship Id="rIdQRLink" Type="http://schemas.openxmlformats.org/officeDocument/2006/relationships/hyperlink" Target="https://github.com/rogerSuperBuilderAlpha/algorithmacy-lab"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QR" Type="http://schemas.openxmlformats.org/officeDocument/2006/relationships/image" Target="../media/qr-algorithmacy-lab.png"/><Relationship Id="rIdQRLink" Type="http://schemas.openxmlformats.org/officeDocument/2006/relationships/hyperlink" Target="https://github.com/rogerSuperBuilderAlpha/algorithmacy-lab"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QR" Type="http://schemas.openxmlformats.org/officeDocument/2006/relationships/image" Target="../media/qr-algorithmacy-lab.png"/><Relationship Id="rIdQRLink" Type="http://schemas.openxmlformats.org/officeDocument/2006/relationships/hyperlink" Target="https://github.com/rogerSuperBuilderAlpha/algorithmacy-lab"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QR" Type="http://schemas.openxmlformats.org/officeDocument/2006/relationships/image" Target="../media/qr-algorithmacy-lab.png"/><Relationship Id="rIdQRLink" Type="http://schemas.openxmlformats.org/officeDocument/2006/relationships/hyperlink" Target="https://github.com/rogerSuperBuilderAlpha/algorithmacy-lab"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QR" Type="http://schemas.openxmlformats.org/officeDocument/2006/relationships/image" Target="../media/qr-algorithmacy-lab.png"/><Relationship Id="rIdQRLink" Type="http://schemas.openxmlformats.org/officeDocument/2006/relationships/hyperlink" Target="https://github.com/rogerSuperBuilderAlpha/algorithmacy-lab"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QR" Type="http://schemas.openxmlformats.org/officeDocument/2006/relationships/image" Target="../media/qr-algorithmacy-lab.png"/><Relationship Id="rIdQRLink" Type="http://schemas.openxmlformats.org/officeDocument/2006/relationships/hyperlink" Target="https://github.com/rogerSuperBuilderAlpha/algorithmacy-lab"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QR" Type="http://schemas.openxmlformats.org/officeDocument/2006/relationships/image" Target="../media/qr-algorithmacy-lab.png"/><Relationship Id="rIdQRLink" Type="http://schemas.openxmlformats.org/officeDocument/2006/relationships/hyperlink" Target="https://github.com/rogerSuperBuilderAlpha/algorithmacy-lab"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QR" Type="http://schemas.openxmlformats.org/officeDocument/2006/relationships/image" Target="../media/qr-algorithmacy-lab.png"/><Relationship Id="rIdQRLink" Type="http://schemas.openxmlformats.org/officeDocument/2006/relationships/hyperlink" Target="https://github.com/rogerSuperBuilderAlpha/algorithmacy-lab"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QR" Type="http://schemas.openxmlformats.org/officeDocument/2006/relationships/image" Target="../media/qr-algorithmacy-lab.png"/><Relationship Id="rIdQRLink" Type="http://schemas.openxmlformats.org/officeDocument/2006/relationships/hyperlink" Target="https://github.com/rogerSuperBuilderAlpha/algorithmacy-lab"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QR" Type="http://schemas.openxmlformats.org/officeDocument/2006/relationships/image" Target="../media/qr-algorithmacy-lab.png"/><Relationship Id="rIdQRLink" Type="http://schemas.openxmlformats.org/officeDocument/2006/relationships/hyperlink" Target="https://github.com/rogerSuperBuilderAlpha/algorithmacy-lab" TargetMode="External"/></Relationships>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 name="Shape 135"/>
        <p:cNvGrpSpPr/>
        <p:nvPr/>
      </p:nvGrpSpPr>
      <p:grpSpPr>
        <a:xfrm>
          <a:off x="0" y="0"/>
          <a:ext cx="0" cy="0"/>
          <a:chOff x="0" y="0"/>
          <a:chExt cx="0" cy="0"/>
        </a:xfrm>
      </p:grpSpPr>
      <p:sp>
        <p:nvSpPr>
          <p:cNvPr id="136" name="Google Shape;136;p26"/>
          <p:cNvSpPr txBox="1"/>
          <p:nvPr/>
        </p:nvSpPr>
        <p:spPr>
          <a:xfrm>
            <a:off x="617236" y="1097280"/>
            <a:ext cx="7909542" cy="274320"/>
          </a:xfrm>
          <a:prstGeom prst="rect">
            <a:avLst/>
          </a:prstGeom>
          <a:noFill/>
          <a:ln>
            <a:noFill/>
          </a:ln>
        </p:spPr>
        <p:txBody>
          <a:bodyPr anchorCtr="0" anchor="b"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ORGANIZATION SCIENCE • IIT 4.0 • PYPHI</a:t>
            </a:r>
            <a:endParaRPr sz="1100"/>
          </a:p>
        </p:txBody>
      </p:sp>
      <p:sp>
        <p:nvSpPr>
          <p:cNvPr id="137" name="Google Shape;137;p26"/>
          <p:cNvSpPr txBox="1"/>
          <p:nvPr/>
        </p:nvSpPr>
        <p:spPr>
          <a:xfrm>
            <a:off x="617236" y="1440180"/>
            <a:ext cx="7909542" cy="822960"/>
          </a:xfrm>
          <a:prstGeom prst="rect">
            <a:avLst/>
          </a:prstGeom>
          <a:noFill/>
          <a:ln>
            <a:noFill/>
          </a:ln>
        </p:spPr>
        <p:txBody>
          <a:bodyPr anchorCtr="0" anchor="b" bIns="0" lIns="0" spcFirstLastPara="1" rIns="0" wrap="square" tIns="0">
            <a:spAutoFit/>
          </a:bodyPr>
          <a:lstStyle/>
          <a:p>
            <a:pPr indent="0" lvl="0" marL="0" marR="0" rtl="0" algn="l">
              <a:spcBef>
                <a:spcPts val="0"/>
              </a:spcBef>
              <a:spcAft>
                <a:spcPts val="0"/>
              </a:spcAft>
              <a:buNone/>
            </a:pPr>
            <a:r>
              <a:rPr b="1" i="0" lang="en" sz="3300" u="none" cap="none" strike="noStrike">
                <a:solidFill>
                  <a:srgbClr val="000000"/>
                </a:solidFill>
                <a:latin typeface="Arial"/>
                <a:ea typeface="Arial"/>
                <a:cs typeface="Arial"/>
                <a:sym typeface="Arial"/>
              </a:rPr>
              <a:t>Do Platforms Reduce to Pairs?</a:t>
            </a:r>
            <a:endParaRPr sz="1100"/>
          </a:p>
        </p:txBody>
      </p:sp>
      <p:sp>
        <p:nvSpPr>
          <p:cNvPr id="138" name="Google Shape;138;p26"/>
          <p:cNvSpPr txBox="1"/>
          <p:nvPr/>
        </p:nvSpPr>
        <p:spPr>
          <a:xfrm>
            <a:off x="617236" y="2468880"/>
            <a:ext cx="7909500" cy="1146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700" u="none" cap="none" strike="noStrike">
                <a:solidFill>
                  <a:srgbClr val="000000"/>
                </a:solidFill>
                <a:latin typeface="Arial"/>
                <a:ea typeface="Arial"/>
                <a:cs typeface="Arial"/>
                <a:sym typeface="Arial"/>
              </a:rPr>
              <a:t>Using Integrated Information Theory (IIT 4.0) and PyPhi to Test Three-Party Coordination.</a:t>
            </a:r>
            <a:endParaRPr sz="1100"/>
          </a:p>
          <a:p>
            <a:pPr indent="0" lvl="0" marL="0" marR="0" rtl="0" algn="l">
              <a:spcBef>
                <a:spcPts val="1200"/>
              </a:spcBef>
              <a:spcAft>
                <a:spcPts val="0"/>
              </a:spcAft>
              <a:buNone/>
            </a:pPr>
            <a:r>
              <a:rPr b="0" i="0" lang="en" sz="1700" u="none" cap="none" strike="noStrike">
                <a:solidFill>
                  <a:srgbClr val="000000"/>
                </a:solidFill>
                <a:latin typeface="Arial"/>
                <a:ea typeface="Arial"/>
                <a:cs typeface="Arial"/>
                <a:sym typeface="Arial"/>
              </a:rPr>
              <a:t>Organization Science Special Issue • Stage 1 Proposal • Algorithmacy Lab</a:t>
            </a:r>
            <a:endParaRPr sz="1100"/>
          </a:p>
        </p:txBody>
      </p:sp>
      <p:pic>
        <p:nvPicPr>
          <p:cNvPr id="9001" name="QR – algorithmacy-lab repo" descr="QR code: https://github.com/rogerSuperBuilderAlpha/algorithmacy-lab">
            <a:hlinkClick r:id="rIdQRLink"/>
          </p:cNvPr>
          <p:cNvPicPr>
            <a:picLocks noChangeAspect="1"/>
          </p:cNvPicPr>
          <p:nvPr/>
        </p:nvPicPr>
        <p:blipFill>
          <a:blip r:embed="rIdQR"/>
          <a:stretch>
            <a:fillRect/>
          </a:stretch>
        </p:blipFill>
        <p:spPr>
          <a:xfrm>
            <a:off x="8046720" y="228600"/>
            <a:ext cx="731520" cy="73152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 name="Shape 143"/>
        <p:cNvGrpSpPr/>
        <p:nvPr/>
      </p:nvGrpSpPr>
      <p:grpSpPr>
        <a:xfrm>
          <a:off x="0" y="0"/>
          <a:ext cx="0" cy="0"/>
          <a:chOff x="0" y="0"/>
          <a:chExt cx="0" cy="0"/>
        </a:xfrm>
      </p:grpSpPr>
      <p:sp>
        <p:nvSpPr>
          <p:cNvPr id="144" name="Google Shape;144;p27"/>
          <p:cNvSpPr txBox="1"/>
          <p:nvPr/>
        </p:nvSpPr>
        <p:spPr>
          <a:xfrm>
            <a:off x="617236" y="377190"/>
            <a:ext cx="7315200"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FOUR WAYS TO COORDINATE</a:t>
            </a:r>
            <a:endParaRPr sz="1100"/>
          </a:p>
        </p:txBody>
      </p:sp>
      <p:sp>
        <p:nvSpPr>
          <p:cNvPr id="145" name="Google Shape;145;p27"/>
          <p:cNvSpPr txBox="1"/>
          <p:nvPr/>
        </p:nvSpPr>
        <p:spPr>
          <a:xfrm>
            <a:off x="617236" y="617220"/>
            <a:ext cx="7315200"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From Literacy to Algorithmacy</a:t>
            </a:r>
            <a:endParaRPr sz="1100"/>
          </a:p>
        </p:txBody>
      </p:sp>
      <p:sp>
        <p:nvSpPr>
          <p:cNvPr id="146" name="Google Shape;146;p27"/>
          <p:cNvSpPr txBox="1"/>
          <p:nvPr/>
        </p:nvSpPr>
        <p:spPr>
          <a:xfrm>
            <a:off x="617236" y="1508760"/>
            <a:ext cx="7909542" cy="32232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600" u="none" cap="none" strike="noStrike">
                <a:solidFill>
                  <a:srgbClr val="000000"/>
                </a:solidFill>
                <a:latin typeface="Arial"/>
                <a:ea typeface="Arial"/>
                <a:cs typeface="Arial"/>
                <a:sym typeface="Arial"/>
              </a:rPr>
              <a:t>Oracy</a:t>
            </a:r>
            <a:r>
              <a:rPr b="0" i="0" lang="en" sz="1600" u="none" cap="none" strike="noStrike">
                <a:solidFill>
                  <a:srgbClr val="000000"/>
                </a:solidFill>
                <a:latin typeface="Arial"/>
                <a:ea typeface="Arial"/>
                <a:cs typeface="Arial"/>
                <a:sym typeface="Arial"/>
              </a:rPr>
              <a:t> — ONE PARTY • VOICE</a:t>
            </a:r>
            <a:endParaRPr sz="1100"/>
          </a:p>
          <a:p>
            <a:pPr indent="0" lvl="0" marL="0" marR="0" rtl="0" algn="l">
              <a:spcBef>
                <a:spcPts val="300"/>
              </a:spcBef>
              <a:spcAft>
                <a:spcPts val="0"/>
              </a:spcAft>
              <a:buNone/>
            </a:pPr>
            <a:r>
              <a:rPr b="0" i="0" lang="en" sz="1600" u="none" cap="none" strike="noStrike">
                <a:solidFill>
                  <a:srgbClr val="000000"/>
                </a:solidFill>
                <a:latin typeface="Arial"/>
                <a:ea typeface="Arial"/>
                <a:cs typeface="Arial"/>
                <a:sym typeface="Arial"/>
              </a:rPr>
              <a:t>Talking face to face in the same room.</a:t>
            </a:r>
            <a:endParaRPr sz="1100"/>
          </a:p>
          <a:p>
            <a:pPr indent="0" lvl="0" marL="0" marR="0" rtl="0" algn="l">
              <a:spcBef>
                <a:spcPts val="1200"/>
              </a:spcBef>
              <a:spcAft>
                <a:spcPts val="0"/>
              </a:spcAft>
              <a:buNone/>
            </a:pPr>
            <a:r>
              <a:rPr b="1" i="0" lang="en" sz="1600" u="none" cap="none" strike="noStrike">
                <a:solidFill>
                  <a:srgbClr val="000000"/>
                </a:solidFill>
                <a:latin typeface="Arial"/>
                <a:ea typeface="Arial"/>
                <a:cs typeface="Arial"/>
                <a:sym typeface="Arial"/>
              </a:rPr>
              <a:t>Literacy</a:t>
            </a:r>
            <a:r>
              <a:rPr b="0" i="0" lang="en" sz="1600" u="none" cap="none" strike="noStrike">
                <a:solidFill>
                  <a:srgbClr val="000000"/>
                </a:solidFill>
                <a:latin typeface="Arial"/>
                <a:ea typeface="Arial"/>
                <a:cs typeface="Arial"/>
                <a:sym typeface="Arial"/>
              </a:rPr>
              <a:t> — TWO PARTIES • TEXT</a:t>
            </a:r>
            <a:endParaRPr sz="1100"/>
          </a:p>
          <a:p>
            <a:pPr indent="0" lvl="0" marL="0" marR="0" rtl="0" algn="l">
              <a:spcBef>
                <a:spcPts val="300"/>
              </a:spcBef>
              <a:spcAft>
                <a:spcPts val="0"/>
              </a:spcAft>
              <a:buNone/>
            </a:pPr>
            <a:r>
              <a:rPr b="0" i="0" lang="en" sz="1600" u="none" cap="none" strike="noStrike">
                <a:solidFill>
                  <a:srgbClr val="000000"/>
                </a:solidFill>
                <a:latin typeface="Arial"/>
                <a:ea typeface="Arial"/>
                <a:cs typeface="Arial"/>
                <a:sym typeface="Arial"/>
              </a:rPr>
              <a:t>Following written rules, contracts, and instructions between two sides.</a:t>
            </a:r>
            <a:endParaRPr sz="1100"/>
          </a:p>
          <a:p>
            <a:pPr indent="0" lvl="0" marL="0" marR="0" rtl="0" algn="l">
              <a:spcBef>
                <a:spcPts val="1200"/>
              </a:spcBef>
              <a:spcAft>
                <a:spcPts val="0"/>
              </a:spcAft>
              <a:buNone/>
            </a:pPr>
            <a:r>
              <a:rPr b="1" i="0" lang="en" sz="1600" u="none" cap="none" strike="noStrike">
                <a:solidFill>
                  <a:srgbClr val="000000"/>
                </a:solidFill>
                <a:latin typeface="Arial"/>
                <a:ea typeface="Arial"/>
                <a:cs typeface="Arial"/>
                <a:sym typeface="Arial"/>
              </a:rPr>
              <a:t>Numeracy</a:t>
            </a:r>
            <a:r>
              <a:rPr b="0" i="0" lang="en" sz="1600" u="none" cap="none" strike="noStrike">
                <a:solidFill>
                  <a:srgbClr val="000000"/>
                </a:solidFill>
                <a:latin typeface="Arial"/>
                <a:ea typeface="Arial"/>
                <a:cs typeface="Arial"/>
                <a:sym typeface="Arial"/>
              </a:rPr>
              <a:t> — TWO PARTIES • NUMBERS</a:t>
            </a:r>
            <a:endParaRPr sz="1100"/>
          </a:p>
          <a:p>
            <a:pPr indent="0" lvl="0" marL="0" marR="0" rtl="0" algn="l">
              <a:spcBef>
                <a:spcPts val="300"/>
              </a:spcBef>
              <a:spcAft>
                <a:spcPts val="0"/>
              </a:spcAft>
              <a:buNone/>
            </a:pPr>
            <a:r>
              <a:rPr b="0" i="0" lang="en" sz="1600" u="none" cap="none" strike="noStrike">
                <a:solidFill>
                  <a:srgbClr val="000000"/>
                </a:solidFill>
                <a:latin typeface="Arial"/>
                <a:ea typeface="Arial"/>
                <a:cs typeface="Arial"/>
                <a:sym typeface="Arial"/>
              </a:rPr>
              <a:t>Tracking prices, counts, and scores across two-party exchanges.</a:t>
            </a:r>
            <a:endParaRPr sz="1100"/>
          </a:p>
          <a:p>
            <a:pPr indent="0" lvl="0" marL="0" marR="0" rtl="0" algn="l">
              <a:spcBef>
                <a:spcPts val="1200"/>
              </a:spcBef>
              <a:spcAft>
                <a:spcPts val="0"/>
              </a:spcAft>
              <a:buNone/>
            </a:pPr>
            <a:r>
              <a:rPr b="1" i="0" lang="en" sz="1600" u="none" cap="none" strike="noStrike">
                <a:solidFill>
                  <a:srgbClr val="000000"/>
                </a:solidFill>
                <a:latin typeface="Arial"/>
                <a:ea typeface="Arial"/>
                <a:cs typeface="Arial"/>
                <a:sym typeface="Arial"/>
              </a:rPr>
              <a:t>Algorithmacy</a:t>
            </a:r>
            <a:r>
              <a:rPr b="0" i="0" lang="en" sz="1600" u="none" cap="none" strike="noStrike">
                <a:solidFill>
                  <a:srgbClr val="000000"/>
                </a:solidFill>
                <a:latin typeface="Arial"/>
                <a:ea typeface="Arial"/>
                <a:cs typeface="Arial"/>
                <a:sym typeface="Arial"/>
              </a:rPr>
              <a:t> — THREE PARTIES • CODE</a:t>
            </a:r>
            <a:endParaRPr sz="1100"/>
          </a:p>
          <a:p>
            <a:pPr indent="0" lvl="0" marL="0" marR="0" rtl="0" algn="l">
              <a:spcBef>
                <a:spcPts val="300"/>
              </a:spcBef>
              <a:spcAft>
                <a:spcPts val="0"/>
              </a:spcAft>
              <a:buNone/>
            </a:pPr>
            <a:r>
              <a:rPr b="0" i="0" lang="en" sz="1600" u="none" cap="none" strike="noStrike">
                <a:solidFill>
                  <a:srgbClr val="000000"/>
                </a:solidFill>
                <a:latin typeface="Arial"/>
                <a:ea typeface="Arial"/>
                <a:cs typeface="Arial"/>
                <a:sym typeface="Arial"/>
              </a:rPr>
              <a:t>Working through a live program that reads both sides and sets what each sees next.</a:t>
            </a:r>
            <a:endParaRPr sz="1100"/>
          </a:p>
        </p:txBody>
      </p:sp>
      <p:pic>
        <p:nvPicPr>
          <p:cNvPr id="9001" name="QR – algorithmacy-lab repo" descr="QR code: https://github.com/rogerSuperBuilderAlpha/algorithmacy-lab">
            <a:hlinkClick r:id="rIdQRLink"/>
          </p:cNvPr>
          <p:cNvPicPr>
            <a:picLocks noChangeAspect="1"/>
          </p:cNvPicPr>
          <p:nvPr/>
        </p:nvPicPr>
        <p:blipFill>
          <a:blip r:embed="rIdQR"/>
          <a:stretch>
            <a:fillRect/>
          </a:stretch>
        </p:blipFill>
        <p:spPr>
          <a:xfrm>
            <a:off x="8046720" y="228600"/>
            <a:ext cx="731520" cy="73152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 name="Shape 168"/>
        <p:cNvGrpSpPr/>
        <p:nvPr/>
      </p:nvGrpSpPr>
      <p:grpSpPr>
        <a:xfrm>
          <a:off x="0" y="0"/>
          <a:ext cx="0" cy="0"/>
          <a:chOff x="0" y="0"/>
          <a:chExt cx="0" cy="0"/>
        </a:xfrm>
      </p:grpSpPr>
      <p:sp>
        <p:nvSpPr>
          <p:cNvPr id="169" name="Google Shape;169;p30"/>
          <p:cNvSpPr txBox="1"/>
          <p:nvPr/>
        </p:nvSpPr>
        <p:spPr>
          <a:xfrm>
            <a:off x="617236" y="377190"/>
            <a:ext cx="7315200"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THE METHOD</a:t>
            </a:r>
            <a:endParaRPr sz="1100"/>
          </a:p>
        </p:txBody>
      </p:sp>
      <p:sp>
        <p:nvSpPr>
          <p:cNvPr id="170" name="Google Shape;170;p30"/>
          <p:cNvSpPr txBox="1"/>
          <p:nvPr/>
        </p:nvSpPr>
        <p:spPr>
          <a:xfrm>
            <a:off x="617236" y="617220"/>
            <a:ext cx="7315200"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Testing Coordination with IIT 4.0 and PyPhi</a:t>
            </a:r>
            <a:endParaRPr sz="1100"/>
          </a:p>
        </p:txBody>
      </p:sp>
      <p:sp>
        <p:nvSpPr>
          <p:cNvPr id="171" name="Google Shape;171;p30"/>
          <p:cNvSpPr txBox="1"/>
          <p:nvPr/>
        </p:nvSpPr>
        <p:spPr>
          <a:xfrm>
            <a:off x="617236" y="1371600"/>
            <a:ext cx="7909542" cy="32232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500" u="none" cap="none" strike="noStrike">
                <a:solidFill>
                  <a:srgbClr val="000000"/>
                </a:solidFill>
                <a:latin typeface="Arial"/>
                <a:ea typeface="Arial"/>
                <a:cs typeface="Arial"/>
                <a:sym typeface="Arial"/>
              </a:rPr>
              <a:t>The Idea:</a:t>
            </a:r>
            <a:r>
              <a:rPr b="0" i="0" lang="en" sz="1500" u="none" cap="none" strike="noStrike">
                <a:solidFill>
                  <a:srgbClr val="000000"/>
                </a:solidFill>
                <a:latin typeface="Arial"/>
                <a:ea typeface="Arial"/>
                <a:cs typeface="Arial"/>
                <a:sym typeface="Arial"/>
              </a:rPr>
              <a:t> Instead of counting links or correlations, test what breaks when we cut the system (Tononi 2004; Albantakis et al. 2023; Mayner et al. 2018).</a:t>
            </a:r>
            <a:endParaRPr sz="1100"/>
          </a:p>
          <a:p>
            <a:pPr indent="0" lvl="0" marL="0" marR="0" rtl="0" algn="l">
              <a:spcBef>
                <a:spcPts val="1200"/>
              </a:spcBef>
              <a:spcAft>
                <a:spcPts val="0"/>
              </a:spcAft>
              <a:buNone/>
            </a:pPr>
            <a:r>
              <a:rPr b="1" i="0" lang="en" sz="1500" u="none" cap="none" strike="noStrike">
                <a:solidFill>
                  <a:srgbClr val="000000"/>
                </a:solidFill>
                <a:latin typeface="Arial"/>
                <a:ea typeface="Arial"/>
                <a:cs typeface="Arial"/>
                <a:sym typeface="Arial"/>
              </a:rPr>
              <a:t>PART 1 • WHY USUAL METHODS MISS IT</a:t>
            </a:r>
            <a:endParaRPr sz="1100"/>
          </a:p>
          <a:p>
            <a:pPr indent="0" lvl="0" marL="0" marR="0" rtl="0" algn="l">
              <a:spcBef>
                <a:spcPts val="300"/>
              </a:spcBef>
              <a:spcAft>
                <a:spcPts val="0"/>
              </a:spcAft>
              <a:buNone/>
            </a:pPr>
            <a:r>
              <a:rPr b="1" i="0" lang="en" sz="1400" u="none" cap="none" strike="noStrike">
                <a:solidFill>
                  <a:srgbClr val="000000"/>
                </a:solidFill>
                <a:latin typeface="Arial"/>
                <a:ea typeface="Arial"/>
                <a:cs typeface="Arial"/>
                <a:sym typeface="Arial"/>
              </a:rPr>
              <a:t>Network Maps:</a:t>
            </a:r>
            <a:r>
              <a:rPr b="0" i="0" lang="en" sz="1400" u="none" cap="none" strike="noStrike">
                <a:solidFill>
                  <a:srgbClr val="000000"/>
                </a:solidFill>
                <a:latin typeface="Arial"/>
                <a:ea typeface="Arial"/>
                <a:cs typeface="Arial"/>
                <a:sym typeface="Arial"/>
              </a:rPr>
              <a:t> Draw lines between people, but cannot tell a relay from a three-way whole.</a:t>
            </a:r>
            <a:endParaRPr sz="1100"/>
          </a:p>
          <a:p>
            <a:pPr indent="0" lvl="0" marL="0" marR="0" rtl="0" algn="l">
              <a:spcBef>
                <a:spcPts val="300"/>
              </a:spcBef>
              <a:spcAft>
                <a:spcPts val="0"/>
              </a:spcAft>
              <a:buNone/>
            </a:pPr>
            <a:r>
              <a:rPr b="1" i="0" lang="en" sz="1400" u="none" cap="none" strike="noStrike">
                <a:solidFill>
                  <a:srgbClr val="000000"/>
                </a:solidFill>
                <a:latin typeface="Arial"/>
                <a:ea typeface="Arial"/>
                <a:cs typeface="Arial"/>
                <a:sym typeface="Arial"/>
              </a:rPr>
              <a:t>Correlations:</a:t>
            </a:r>
            <a:r>
              <a:rPr b="0" i="0" lang="en" sz="1400" u="none" cap="none" strike="noStrike">
                <a:solidFill>
                  <a:srgbClr val="000000"/>
                </a:solidFill>
                <a:latin typeface="Arial"/>
                <a:ea typeface="Arial"/>
                <a:cs typeface="Arial"/>
                <a:sym typeface="Arial"/>
              </a:rPr>
              <a:t> Track who moves together, but miss 96 of the 256 possible three-party rules.</a:t>
            </a:r>
            <a:endParaRPr sz="1100"/>
          </a:p>
          <a:p>
            <a:pPr indent="0" lvl="0" marL="0" marR="0" rtl="0" algn="l">
              <a:spcBef>
                <a:spcPts val="300"/>
              </a:spcBef>
              <a:spcAft>
                <a:spcPts val="0"/>
              </a:spcAft>
              <a:buNone/>
            </a:pPr>
            <a:r>
              <a:rPr b="1" i="0" lang="en" sz="1400" u="none" cap="none" strike="noStrike">
                <a:solidFill>
                  <a:srgbClr val="000000"/>
                </a:solidFill>
                <a:latin typeface="Arial"/>
                <a:ea typeface="Arial"/>
                <a:cs typeface="Arial"/>
                <a:sym typeface="Arial"/>
              </a:rPr>
              <a:t>Case Descriptions:</a:t>
            </a:r>
            <a:r>
              <a:rPr b="0" i="0" lang="en" sz="1400" u="none" cap="none" strike="noStrike">
                <a:solidFill>
                  <a:srgbClr val="000000"/>
                </a:solidFill>
                <a:latin typeface="Arial"/>
                <a:ea typeface="Arial"/>
                <a:cs typeface="Arial"/>
                <a:sym typeface="Arial"/>
              </a:rPr>
              <a:t> Use the word “triad” for both two-step relays and real three-way wholes.</a:t>
            </a:r>
            <a:endParaRPr sz="1100"/>
          </a:p>
          <a:p>
            <a:pPr indent="0" lvl="0" marL="0" marR="0" rtl="0" algn="l">
              <a:spcBef>
                <a:spcPts val="1200"/>
              </a:spcBef>
              <a:spcAft>
                <a:spcPts val="0"/>
              </a:spcAft>
              <a:buNone/>
            </a:pPr>
            <a:r>
              <a:rPr b="1" i="0" lang="en" sz="1500" u="none" cap="none" strike="noStrike">
                <a:solidFill>
                  <a:srgbClr val="000000"/>
                </a:solidFill>
                <a:latin typeface="Arial"/>
                <a:ea typeface="Arial"/>
                <a:cs typeface="Arial"/>
                <a:sym typeface="Arial"/>
              </a:rPr>
              <a:t>PART 2 • HOW PYPHI TESTS A SYSTEM</a:t>
            </a:r>
            <a:endParaRPr sz="1100"/>
          </a:p>
          <a:p>
            <a:pPr indent="0" lvl="0" marL="0" marR="0" rtl="0" algn="l">
              <a:spcBef>
                <a:spcPts val="300"/>
              </a:spcBef>
              <a:spcAft>
                <a:spcPts val="0"/>
              </a:spcAft>
              <a:buNone/>
            </a:pPr>
            <a:r>
              <a:rPr b="1" i="0" lang="en" sz="1400" u="none" cap="none" strike="noStrike">
                <a:solidFill>
                  <a:srgbClr val="000000"/>
                </a:solidFill>
                <a:latin typeface="Arial"/>
                <a:ea typeface="Arial"/>
                <a:cs typeface="Arial"/>
                <a:sym typeface="Arial"/>
              </a:rPr>
              <a:t>Write the Rule:</a:t>
            </a:r>
            <a:r>
              <a:rPr b="0" i="0" lang="en" sz="1400" u="none" cap="none" strike="noStrike">
                <a:solidFill>
                  <a:srgbClr val="000000"/>
                </a:solidFill>
                <a:latin typeface="Arial"/>
                <a:ea typeface="Arial"/>
                <a:cs typeface="Arial"/>
                <a:sym typeface="Arial"/>
              </a:rPr>
              <a:t> State how each party's next move depends on the other two.</a:t>
            </a:r>
            <a:endParaRPr sz="1100"/>
          </a:p>
          <a:p>
            <a:pPr indent="0" lvl="0" marL="0" marR="0" rtl="0" algn="l">
              <a:spcBef>
                <a:spcPts val="300"/>
              </a:spcBef>
              <a:spcAft>
                <a:spcPts val="0"/>
              </a:spcAft>
              <a:buNone/>
            </a:pPr>
            <a:r>
              <a:rPr b="1" i="0" lang="en" sz="1400" u="none" cap="none" strike="noStrike">
                <a:solidFill>
                  <a:srgbClr val="000000"/>
                </a:solidFill>
                <a:latin typeface="Arial"/>
                <a:ea typeface="Arial"/>
                <a:cs typeface="Arial"/>
                <a:sym typeface="Arial"/>
              </a:rPr>
              <a:t>Cut Every Seam:</a:t>
            </a:r>
            <a:r>
              <a:rPr b="0" i="0" lang="en" sz="1400" u="none" cap="none" strike="noStrike">
                <a:solidFill>
                  <a:srgbClr val="000000"/>
                </a:solidFill>
                <a:latin typeface="Arial"/>
                <a:ea typeface="Arial"/>
                <a:cs typeface="Arial"/>
                <a:sym typeface="Arial"/>
              </a:rPr>
              <a:t> Split the three parties into pieces in every possible way.</a:t>
            </a:r>
            <a:endParaRPr sz="1100"/>
          </a:p>
          <a:p>
            <a:pPr indent="0" lvl="0" marL="0" marR="0" rtl="0" algn="l">
              <a:spcBef>
                <a:spcPts val="300"/>
              </a:spcBef>
              <a:spcAft>
                <a:spcPts val="0"/>
              </a:spcAft>
              <a:buNone/>
            </a:pPr>
            <a:r>
              <a:rPr b="1" i="0" lang="en" sz="1400" u="none" cap="none" strike="noStrike">
                <a:solidFill>
                  <a:srgbClr val="000000"/>
                </a:solidFill>
                <a:latin typeface="Arial"/>
                <a:ea typeface="Arial"/>
                <a:cs typeface="Arial"/>
                <a:sym typeface="Arial"/>
              </a:rPr>
              <a:t>Measure the Loss (Φ):</a:t>
            </a:r>
            <a:r>
              <a:rPr b="0" i="0" lang="en" sz="1400" u="none" cap="none" strike="noStrike">
                <a:solidFill>
                  <a:srgbClr val="000000"/>
                </a:solidFill>
                <a:latin typeface="Arial"/>
                <a:ea typeface="Arial"/>
                <a:cs typeface="Arial"/>
                <a:sym typeface="Arial"/>
              </a:rPr>
              <a:t> PyPhi measures how much coordination is lost at the weakest cut.</a:t>
            </a:r>
            <a:endParaRPr sz="1100"/>
          </a:p>
        </p:txBody>
      </p:sp>
      <p:pic>
        <p:nvPicPr>
          <p:cNvPr id="9001" name="QR – algorithmacy-lab repo" descr="QR code: https://github.com/rogerSuperBuilderAlpha/algorithmacy-lab">
            <a:hlinkClick r:id="rIdQRLink"/>
          </p:cNvPr>
          <p:cNvPicPr>
            <a:picLocks noChangeAspect="1"/>
          </p:cNvPicPr>
          <p:nvPr/>
        </p:nvPicPr>
        <p:blipFill>
          <a:blip r:embed="rIdQR"/>
          <a:stretch>
            <a:fillRect/>
          </a:stretch>
        </p:blipFill>
        <p:spPr>
          <a:xfrm>
            <a:off x="8046720" y="228600"/>
            <a:ext cx="731520" cy="73152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 name="Shape 176"/>
        <p:cNvGrpSpPr/>
        <p:nvPr/>
      </p:nvGrpSpPr>
      <p:grpSpPr>
        <a:xfrm>
          <a:off x="0" y="0"/>
          <a:ext cx="0" cy="0"/>
          <a:chOff x="0" y="0"/>
          <a:chExt cx="0" cy="0"/>
        </a:xfrm>
      </p:grpSpPr>
      <p:sp>
        <p:nvSpPr>
          <p:cNvPr id="177" name="Google Shape;177;p31"/>
          <p:cNvSpPr txBox="1"/>
          <p:nvPr/>
        </p:nvSpPr>
        <p:spPr>
          <a:xfrm>
            <a:off x="617236" y="377190"/>
            <a:ext cx="7315200"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CASE STUDY • RIDE-HAIL DISPATCH</a:t>
            </a:r>
            <a:endParaRPr sz="1100"/>
          </a:p>
        </p:txBody>
      </p:sp>
      <p:sp>
        <p:nvSpPr>
          <p:cNvPr id="178" name="Google Shape;178;p31"/>
          <p:cNvSpPr txBox="1"/>
          <p:nvPr/>
        </p:nvSpPr>
        <p:spPr>
          <a:xfrm>
            <a:off x="617236" y="617220"/>
            <a:ext cx="7315200"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Same Three Parties, Two Different Rules</a:t>
            </a:r>
            <a:endParaRPr sz="1100"/>
          </a:p>
        </p:txBody>
      </p:sp>
      <p:sp>
        <p:nvSpPr>
          <p:cNvPr id="179" name="Google Shape;179;p31"/>
          <p:cNvSpPr txBox="1"/>
          <p:nvPr/>
        </p:nvSpPr>
        <p:spPr>
          <a:xfrm>
            <a:off x="617236" y="1508760"/>
            <a:ext cx="7909542" cy="2971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500" u="none" cap="none" strike="noStrike">
                <a:solidFill>
                  <a:srgbClr val="000000"/>
                </a:solidFill>
                <a:latin typeface="Arial"/>
                <a:ea typeface="Arial"/>
                <a:cs typeface="Arial"/>
                <a:sym typeface="Arial"/>
              </a:rPr>
              <a:t>CHAIN OF PAIRS — One Step at a Time (Φ = 0.0)</a:t>
            </a:r>
            <a:endParaRPr sz="1100"/>
          </a:p>
          <a:p>
            <a:pPr indent="0" lvl="0" marL="0" marR="0" rtl="0" algn="l">
              <a:spcBef>
                <a:spcPts val="300"/>
              </a:spcBef>
              <a:spcAft>
                <a:spcPts val="0"/>
              </a:spcAft>
              <a:buNone/>
            </a:pPr>
            <a:r>
              <a:rPr b="0" i="0" lang="en" sz="1500" u="none" cap="none" strike="noStrike">
                <a:solidFill>
                  <a:srgbClr val="000000"/>
                </a:solidFill>
                <a:latin typeface="Arial"/>
                <a:ea typeface="Arial"/>
                <a:cs typeface="Arial"/>
                <a:sym typeface="Arial"/>
              </a:rPr>
              <a:t>P′ = D • Driver Updates App, Rider Reads It Later</a:t>
            </a:r>
            <a:endParaRPr sz="1100"/>
          </a:p>
          <a:p>
            <a:pPr indent="0" lvl="0" marL="0" marR="0" rtl="0" algn="l">
              <a:spcBef>
                <a:spcPts val="300"/>
              </a:spcBef>
              <a:spcAft>
                <a:spcPts val="0"/>
              </a:spcAft>
              <a:buNone/>
            </a:pPr>
            <a:r>
              <a:rPr b="1" i="0" lang="en" sz="1500" u="none" cap="none" strike="noStrike">
                <a:solidFill>
                  <a:srgbClr val="000000"/>
                </a:solidFill>
                <a:latin typeface="Arial"/>
                <a:ea typeface="Arial"/>
                <a:cs typeface="Arial"/>
                <a:sym typeface="Arial"/>
              </a:rPr>
              <a:t>Two Separate Steps:</a:t>
            </a:r>
            <a:r>
              <a:rPr b="0" i="0" lang="en" sz="1500" u="none" cap="none" strike="noStrike">
                <a:solidFill>
                  <a:srgbClr val="000000"/>
                </a:solidFill>
                <a:latin typeface="Arial"/>
                <a:ea typeface="Arial"/>
                <a:cs typeface="Arial"/>
                <a:sym typeface="Arial"/>
              </a:rPr>
              <a:t> The platform passes driver status to the rider one link at a time.</a:t>
            </a:r>
            <a:endParaRPr sz="1100"/>
          </a:p>
          <a:p>
            <a:pPr indent="0" lvl="0" marL="0" marR="0" rtl="0" algn="l">
              <a:spcBef>
                <a:spcPts val="300"/>
              </a:spcBef>
              <a:spcAft>
                <a:spcPts val="0"/>
              </a:spcAft>
              <a:buNone/>
            </a:pPr>
            <a:r>
              <a:rPr b="1" i="0" lang="en" sz="1500" u="none" cap="none" strike="noStrike">
                <a:solidFill>
                  <a:srgbClr val="000000"/>
                </a:solidFill>
                <a:latin typeface="Arial"/>
                <a:ea typeface="Arial"/>
                <a:cs typeface="Arial"/>
                <a:sym typeface="Arial"/>
              </a:rPr>
              <a:t>Splits Cleanly:</a:t>
            </a:r>
            <a:r>
              <a:rPr b="0" i="0" lang="en" sz="1500" u="none" cap="none" strike="noStrike">
                <a:solidFill>
                  <a:srgbClr val="000000"/>
                </a:solidFill>
                <a:latin typeface="Arial"/>
                <a:ea typeface="Arial"/>
                <a:cs typeface="Arial"/>
                <a:sym typeface="Arial"/>
              </a:rPr>
              <a:t> Cutting the loop at its weakest seam loses zero coordination.</a:t>
            </a:r>
            <a:endParaRPr sz="1100"/>
          </a:p>
          <a:p>
            <a:pPr indent="0" lvl="0" marL="0" marR="0" rtl="0" algn="l">
              <a:spcBef>
                <a:spcPts val="300"/>
              </a:spcBef>
              <a:spcAft>
                <a:spcPts val="0"/>
              </a:spcAft>
              <a:buNone/>
            </a:pPr>
            <a:r>
              <a:rPr b="1" i="0" lang="en" sz="1500" u="none" cap="none" strike="noStrike">
                <a:solidFill>
                  <a:srgbClr val="000000"/>
                </a:solidFill>
                <a:latin typeface="Arial"/>
                <a:ea typeface="Arial"/>
                <a:cs typeface="Arial"/>
                <a:sym typeface="Arial"/>
              </a:rPr>
              <a:t>Result:</a:t>
            </a:r>
            <a:r>
              <a:rPr b="0" i="0" lang="en" sz="1500" u="none" cap="none" strike="noStrike">
                <a:solidFill>
                  <a:srgbClr val="000000"/>
                </a:solidFill>
                <a:latin typeface="Arial"/>
                <a:ea typeface="Arial"/>
                <a:cs typeface="Arial"/>
                <a:sym typeface="Arial"/>
              </a:rPr>
              <a:t> Just a fast switchboard; reduces to pairs.</a:t>
            </a:r>
            <a:endParaRPr sz="1100"/>
          </a:p>
          <a:p>
            <a:pPr indent="0" lvl="0" marL="0" marR="0" rtl="0" algn="l">
              <a:spcBef>
                <a:spcPts val="1000"/>
              </a:spcBef>
              <a:spcAft>
                <a:spcPts val="0"/>
              </a:spcAft>
              <a:buNone/>
            </a:pPr>
            <a:r>
              <a:rPr b="1" i="0" lang="en" sz="1500" u="none" cap="none" strike="noStrike">
                <a:solidFill>
                  <a:srgbClr val="000000"/>
                </a:solidFill>
                <a:latin typeface="Arial"/>
                <a:ea typeface="Arial"/>
                <a:cs typeface="Arial"/>
                <a:sym typeface="Arial"/>
              </a:rPr>
              <a:t>REAL TRIAD — Both Sides Lock In Together (Φ = 2.0)</a:t>
            </a:r>
            <a:endParaRPr sz="1100"/>
          </a:p>
          <a:p>
            <a:pPr indent="0" lvl="0" marL="0" marR="0" rtl="0" algn="l">
              <a:spcBef>
                <a:spcPts val="300"/>
              </a:spcBef>
              <a:spcAft>
                <a:spcPts val="0"/>
              </a:spcAft>
              <a:buNone/>
            </a:pPr>
            <a:r>
              <a:rPr b="0" i="0" lang="en" sz="1500" u="none" cap="none" strike="noStrike">
                <a:solidFill>
                  <a:srgbClr val="000000"/>
                </a:solidFill>
                <a:latin typeface="Arial"/>
                <a:ea typeface="Arial"/>
                <a:cs typeface="Arial"/>
                <a:sym typeface="Arial"/>
              </a:rPr>
              <a:t>P′ = D </a:t>
            </a:r>
            <a:r>
              <a:rPr b="0" i="0" lang="en" sz="1500" u="none" cap="none" strike="noStrike">
                <a:solidFill>
                  <a:srgbClr val="000000"/>
                </a:solidFill>
                <a:latin typeface="Cambria Math"/>
                <a:ea typeface="Cambria Math"/>
                <a:cs typeface="Cambria Math"/>
                <a:sym typeface="Cambria Math"/>
              </a:rPr>
              <a:t>∧</a:t>
            </a:r>
            <a:r>
              <a:rPr b="0" i="0" lang="en" sz="1500" u="none" cap="none" strike="noStrike">
                <a:solidFill>
                  <a:srgbClr val="000000"/>
                </a:solidFill>
                <a:latin typeface="Arial"/>
                <a:ea typeface="Arial"/>
                <a:cs typeface="Arial"/>
                <a:sym typeface="Arial"/>
              </a:rPr>
              <a:t> R • Platform Commits Only When Both Accept</a:t>
            </a:r>
            <a:endParaRPr sz="1100"/>
          </a:p>
          <a:p>
            <a:pPr indent="0" lvl="0" marL="0" marR="0" rtl="0" algn="l">
              <a:spcBef>
                <a:spcPts val="300"/>
              </a:spcBef>
              <a:spcAft>
                <a:spcPts val="0"/>
              </a:spcAft>
              <a:buNone/>
            </a:pPr>
            <a:r>
              <a:rPr b="1" i="0" lang="en" sz="1500" u="none" cap="none" strike="noStrike">
                <a:solidFill>
                  <a:srgbClr val="000000"/>
                </a:solidFill>
                <a:latin typeface="Arial"/>
                <a:ea typeface="Arial"/>
                <a:cs typeface="Arial"/>
                <a:sym typeface="Arial"/>
              </a:rPr>
              <a:t>Joint Lock-In:</a:t>
            </a:r>
            <a:r>
              <a:rPr b="0" i="0" lang="en" sz="1500" u="none" cap="none" strike="noStrike">
                <a:solidFill>
                  <a:srgbClr val="000000"/>
                </a:solidFill>
                <a:latin typeface="Arial"/>
                <a:ea typeface="Arial"/>
                <a:cs typeface="Arial"/>
                <a:sym typeface="Arial"/>
              </a:rPr>
              <a:t> A trip happens only when driver and rider commit in the same step.</a:t>
            </a:r>
            <a:endParaRPr sz="1100"/>
          </a:p>
          <a:p>
            <a:pPr indent="0" lvl="0" marL="0" marR="0" rtl="0" algn="l">
              <a:spcBef>
                <a:spcPts val="300"/>
              </a:spcBef>
              <a:spcAft>
                <a:spcPts val="0"/>
              </a:spcAft>
              <a:buNone/>
            </a:pPr>
            <a:r>
              <a:rPr b="1" i="0" lang="en" sz="1500" u="none" cap="none" strike="noStrike">
                <a:solidFill>
                  <a:srgbClr val="000000"/>
                </a:solidFill>
                <a:latin typeface="Arial"/>
                <a:ea typeface="Arial"/>
                <a:cs typeface="Arial"/>
                <a:sym typeface="Arial"/>
              </a:rPr>
              <a:t>Cannot Be Split:</a:t>
            </a:r>
            <a:r>
              <a:rPr b="0" i="0" lang="en" sz="1500" u="none" cap="none" strike="noStrike">
                <a:solidFill>
                  <a:srgbClr val="000000"/>
                </a:solidFill>
                <a:latin typeface="Arial"/>
                <a:ea typeface="Arial"/>
                <a:cs typeface="Arial"/>
                <a:sym typeface="Arial"/>
              </a:rPr>
              <a:t> Cutting any link breaks 2.0 bits of three-way coordination.</a:t>
            </a:r>
            <a:endParaRPr sz="1100"/>
          </a:p>
          <a:p>
            <a:pPr indent="0" lvl="0" marL="0" marR="0" rtl="0" algn="l">
              <a:spcBef>
                <a:spcPts val="300"/>
              </a:spcBef>
              <a:spcAft>
                <a:spcPts val="0"/>
              </a:spcAft>
              <a:buNone/>
            </a:pPr>
            <a:r>
              <a:rPr b="1" i="0" lang="en" sz="1500" u="none" cap="none" strike="noStrike">
                <a:solidFill>
                  <a:srgbClr val="000000"/>
                </a:solidFill>
                <a:latin typeface="Arial"/>
                <a:ea typeface="Arial"/>
                <a:cs typeface="Arial"/>
                <a:sym typeface="Arial"/>
              </a:rPr>
              <a:t>Result:</a:t>
            </a:r>
            <a:r>
              <a:rPr b="0" i="0" lang="en" sz="1500" u="none" cap="none" strike="noStrike">
                <a:solidFill>
                  <a:srgbClr val="000000"/>
                </a:solidFill>
                <a:latin typeface="Arial"/>
                <a:ea typeface="Arial"/>
                <a:cs typeface="Arial"/>
                <a:sym typeface="Arial"/>
              </a:rPr>
              <a:t> A genuine three-party unit that requires algorithmacy.</a:t>
            </a:r>
            <a:endParaRPr sz="1100"/>
          </a:p>
        </p:txBody>
      </p:sp>
      <p:pic>
        <p:nvPicPr>
          <p:cNvPr id="9001" name="QR – algorithmacy-lab repo" descr="QR code: https://github.com/rogerSuperBuilderAlpha/algorithmacy-lab">
            <a:hlinkClick r:id="rIdQRLink"/>
          </p:cNvPr>
          <p:cNvPicPr>
            <a:picLocks noChangeAspect="1"/>
          </p:cNvPicPr>
          <p:nvPr/>
        </p:nvPicPr>
        <p:blipFill>
          <a:blip r:embed="rIdQR"/>
          <a:stretch>
            <a:fillRect/>
          </a:stretch>
        </p:blipFill>
        <p:spPr>
          <a:xfrm>
            <a:off x="8046720" y="228600"/>
            <a:ext cx="731520" cy="73152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5" name="Shape 235"/>
        <p:cNvGrpSpPr/>
        <p:nvPr/>
      </p:nvGrpSpPr>
      <p:grpSpPr>
        <a:xfrm>
          <a:off x="0" y="0"/>
          <a:ext cx="0" cy="0"/>
          <a:chOff x="0" y="0"/>
          <a:chExt cx="0" cy="0"/>
        </a:xfrm>
      </p:grpSpPr>
      <p:sp>
        <p:nvSpPr>
          <p:cNvPr id="236" name="Google Shape;236;p38"/>
          <p:cNvSpPr txBox="1"/>
          <p:nvPr/>
        </p:nvSpPr>
        <p:spPr>
          <a:xfrm>
            <a:off x="617236" y="377190"/>
            <a:ext cx="7315200"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THE MEASURE</a:t>
            </a:r>
            <a:endParaRPr sz="1100"/>
          </a:p>
        </p:txBody>
      </p:sp>
      <p:sp>
        <p:nvSpPr>
          <p:cNvPr id="237" name="Google Shape;237;p38"/>
          <p:cNvSpPr txBox="1"/>
          <p:nvPr/>
        </p:nvSpPr>
        <p:spPr>
          <a:xfrm>
            <a:off x="617236" y="617220"/>
            <a:ext cx="7315200"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Two Questions Every Three-Party System Answers</a:t>
            </a:r>
            <a:endParaRPr sz="1100"/>
          </a:p>
        </p:txBody>
      </p:sp>
      <p:sp>
        <p:nvSpPr>
          <p:cNvPr id="238" name="Google Shape;238;p38"/>
          <p:cNvSpPr txBox="1"/>
          <p:nvPr/>
        </p:nvSpPr>
        <p:spPr>
          <a:xfrm>
            <a:off x="617236" y="1828800"/>
            <a:ext cx="7909542" cy="2971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600" u="none" cap="none" strike="noStrike">
                <a:solidFill>
                  <a:srgbClr val="000000"/>
                </a:solidFill>
                <a:latin typeface="Arial"/>
                <a:ea typeface="Arial"/>
                <a:cs typeface="Arial"/>
                <a:sym typeface="Arial"/>
              </a:rPr>
              <a:t>Φ = 0</a:t>
            </a:r>
            <a:r>
              <a:rPr b="0" i="0" lang="en" sz="1600" u="none" cap="none" strike="noStrike">
                <a:solidFill>
                  <a:srgbClr val="000000"/>
                </a:solidFill>
                <a:latin typeface="Arial"/>
                <a:ea typeface="Arial"/>
                <a:cs typeface="Arial"/>
                <a:sym typeface="Arial"/>
              </a:rPr>
              <a:t> — The system splits into pairs: cutting its weakest seam loses nothing.</a:t>
            </a:r>
            <a:endParaRPr sz="1100"/>
          </a:p>
          <a:p>
            <a:pPr indent="0" lvl="0" marL="0" marR="0" rtl="0" algn="l">
              <a:spcBef>
                <a:spcPts val="1200"/>
              </a:spcBef>
              <a:spcAft>
                <a:spcPts val="0"/>
              </a:spcAft>
              <a:buNone/>
            </a:pPr>
            <a:r>
              <a:rPr b="1" i="0" lang="en" sz="1600" u="none" cap="none" strike="noStrike">
                <a:solidFill>
                  <a:srgbClr val="000000"/>
                </a:solidFill>
                <a:latin typeface="Arial"/>
                <a:ea typeface="Arial"/>
                <a:cs typeface="Arial"/>
                <a:sym typeface="Arial"/>
              </a:rPr>
              <a:t>Φ &gt; 0</a:t>
            </a:r>
            <a:r>
              <a:rPr b="0" i="0" lang="en" sz="1600" u="none" cap="none" strike="noStrike">
                <a:solidFill>
                  <a:srgbClr val="000000"/>
                </a:solidFill>
                <a:latin typeface="Arial"/>
                <a:ea typeface="Arial"/>
                <a:cs typeface="Arial"/>
                <a:sym typeface="Arial"/>
              </a:rPr>
              <a:t> — The system holds together as a whole: every cut breaks the coordination.</a:t>
            </a:r>
            <a:endParaRPr sz="1100"/>
          </a:p>
          <a:p>
            <a:pPr indent="0" lvl="0" marL="0" marR="0" rtl="0" algn="l">
              <a:spcBef>
                <a:spcPts val="1200"/>
              </a:spcBef>
              <a:spcAft>
                <a:spcPts val="0"/>
              </a:spcAft>
              <a:buNone/>
            </a:pPr>
            <a:r>
              <a:rPr b="1" i="0" lang="en" sz="1600" u="none" cap="none" strike="noStrike">
                <a:solidFill>
                  <a:srgbClr val="000000"/>
                </a:solidFill>
                <a:latin typeface="Arial"/>
                <a:ea typeface="Arial"/>
                <a:cs typeface="Arial"/>
                <a:sym typeface="Arial"/>
              </a:rPr>
              <a:t>Why We Ask Two Questions, Not One</a:t>
            </a:r>
            <a:endParaRPr sz="1100"/>
          </a:p>
          <a:p>
            <a:pPr indent="0" lvl="0" marL="0" marR="0" rtl="0" algn="l">
              <a:spcBef>
                <a:spcPts val="300"/>
              </a:spcBef>
              <a:spcAft>
                <a:spcPts val="0"/>
              </a:spcAft>
              <a:buNone/>
            </a:pPr>
            <a:r>
              <a:rPr b="0" i="0" lang="en" sz="1600" u="none" cap="none" strike="noStrike">
                <a:solidFill>
                  <a:srgbClr val="000000"/>
                </a:solidFill>
                <a:latin typeface="Arial"/>
                <a:ea typeface="Arial"/>
                <a:cs typeface="Arial"/>
                <a:sym typeface="Arial"/>
              </a:rPr>
              <a:t>First: does any party need two others at once to decide its next move? Second: does the whole three-party loop hold together (Φ &gt; 0)? A system can have either one without the other.</a:t>
            </a:r>
            <a:endParaRPr sz="1100"/>
          </a:p>
        </p:txBody>
      </p:sp>
      <p:pic>
        <p:nvPicPr>
          <p:cNvPr id="9001" name="QR – algorithmacy-lab repo" descr="QR code: https://github.com/rogerSuperBuilderAlpha/algorithmacy-lab">
            <a:hlinkClick r:id="rIdQRLink"/>
          </p:cNvPr>
          <p:cNvPicPr>
            <a:picLocks noChangeAspect="1"/>
          </p:cNvPicPr>
          <p:nvPr/>
        </p:nvPicPr>
        <p:blipFill>
          <a:blip r:embed="rIdQR"/>
          <a:stretch>
            <a:fillRect/>
          </a:stretch>
        </p:blipFill>
        <p:spPr>
          <a:xfrm>
            <a:off x="8046720" y="228600"/>
            <a:ext cx="731520" cy="73152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3" name="Shape 243"/>
        <p:cNvGrpSpPr/>
        <p:nvPr/>
      </p:nvGrpSpPr>
      <p:grpSpPr>
        <a:xfrm>
          <a:off x="0" y="0"/>
          <a:ext cx="0" cy="0"/>
          <a:chOff x="0" y="0"/>
          <a:chExt cx="0" cy="0"/>
        </a:xfrm>
      </p:grpSpPr>
      <p:sp>
        <p:nvSpPr>
          <p:cNvPr id="244" name="Google Shape;244;p39"/>
          <p:cNvSpPr txBox="1"/>
          <p:nvPr/>
        </p:nvSpPr>
        <p:spPr>
          <a:xfrm>
            <a:off x="617236" y="377190"/>
            <a:ext cx="7315200"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ALL 256 THREE-PARTY RULES</a:t>
            </a:r>
            <a:endParaRPr sz="1100"/>
          </a:p>
        </p:txBody>
      </p:sp>
      <p:sp>
        <p:nvSpPr>
          <p:cNvPr id="245" name="Google Shape;245;p39"/>
          <p:cNvSpPr txBox="1"/>
          <p:nvPr/>
        </p:nvSpPr>
        <p:spPr>
          <a:xfrm>
            <a:off x="617236" y="617220"/>
            <a:ext cx="7315200"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Four Kinds of Three-Party Coordination</a:t>
            </a:r>
            <a:endParaRPr sz="1100"/>
          </a:p>
        </p:txBody>
      </p:sp>
      <p:graphicFrame>
        <p:nvGraphicFramePr>
          <p:cNvPr id="246" name="Google Shape;246;p39"/>
          <p:cNvGraphicFramePr/>
          <p:nvPr/>
        </p:nvGraphicFramePr>
        <p:xfrm>
          <a:off x="617236" y="1714500"/>
          <a:ext cx="3000000" cy="3000000"/>
        </p:xfrm>
        <a:graphic>
          <a:graphicData uri="http://schemas.openxmlformats.org/drawingml/2006/table">
            <a:tbl>
              <a:tblPr>
                <a:noFill/>
                <a:tableStyleId>{5762D1E5-19F7-4FD5-A18D-EC55B6832050}</a:tableStyleId>
              </a:tblPr>
              <a:tblGrid>
                <a:gridCol w="1581900"/>
                <a:gridCol w="1581900"/>
                <a:gridCol w="1581900"/>
                <a:gridCol w="1581900"/>
                <a:gridCol w="1581900"/>
              </a:tblGrid>
              <a:tr h="377175">
                <a:tc>
                  <a:txBody>
                    <a:bodyPr/>
                    <a:lstStyle/>
                    <a:p>
                      <a:pPr indent="0" lvl="0" marL="0" marR="0" rtl="0" algn="l">
                        <a:spcBef>
                          <a:spcPts val="0"/>
                        </a:spcBef>
                        <a:spcAft>
                          <a:spcPts val="0"/>
                        </a:spcAft>
                        <a:buNone/>
                      </a:pPr>
                      <a:r>
                        <a:rPr b="1" i="0" lang="en" sz="1400" u="none" cap="none" strike="noStrike">
                          <a:solidFill>
                            <a:srgbClr val="000000"/>
                          </a:solidFill>
                          <a:latin typeface="Arial"/>
                          <a:ea typeface="Arial"/>
                          <a:cs typeface="Arial"/>
                          <a:sym typeface="Arial"/>
                        </a:rPr>
                        <a:t>Type</a:t>
                      </a:r>
                      <a:endParaRPr sz="14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i="0" lang="en" sz="1400">
                          <a:solidFill>
                            <a:srgbClr val="000000"/>
                          </a:solidFill>
                          <a:latin typeface="Arial"/>
                          <a:ea typeface="Arial"/>
                          <a:cs typeface="Arial"/>
                          <a:sym typeface="Arial"/>
                        </a:rPr>
                        <a:t>Needs Two Inputs?</a:t>
                      </a:r>
                      <a:endParaRPr sz="14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i="0" lang="en" sz="1400">
                          <a:solidFill>
                            <a:srgbClr val="000000"/>
                          </a:solidFill>
                          <a:latin typeface="Arial"/>
                          <a:ea typeface="Arial"/>
                          <a:cs typeface="Arial"/>
                          <a:sym typeface="Arial"/>
                        </a:rPr>
                        <a:t>Holds Together (Φ)?</a:t>
                      </a:r>
                      <a:endParaRPr sz="14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i="0" lang="en" sz="1400">
                          <a:solidFill>
                            <a:srgbClr val="000000"/>
                          </a:solidFill>
                          <a:latin typeface="Arial"/>
                          <a:ea typeface="Arial"/>
                          <a:cs typeface="Arial"/>
                          <a:sym typeface="Arial"/>
                        </a:rPr>
                        <a:t>What It Does</a:t>
                      </a:r>
                      <a:endParaRPr sz="14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1" i="0" lang="en" sz="1400">
                          <a:solidFill>
                            <a:srgbClr val="000000"/>
                          </a:solidFill>
                          <a:latin typeface="Arial"/>
                          <a:ea typeface="Arial"/>
                          <a:cs typeface="Arial"/>
                          <a:sym typeface="Arial"/>
                        </a:rPr>
                        <a:t>How You Navigate It</a:t>
                      </a:r>
                      <a:endParaRPr sz="14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7175">
                <a:tc>
                  <a:txBody>
                    <a:bodyPr/>
                    <a:lstStyle/>
                    <a:p>
                      <a:pPr indent="0" lvl="0" marL="0" marR="0" rtl="0" algn="l">
                        <a:spcBef>
                          <a:spcPts val="0"/>
                        </a:spcBef>
                        <a:spcAft>
                          <a:spcPts val="0"/>
                        </a:spcAft>
                        <a:buNone/>
                      </a:pPr>
                      <a:r>
                        <a:rPr b="0" i="0" lang="en" sz="1400">
                          <a:solidFill>
                            <a:srgbClr val="000000"/>
                          </a:solidFill>
                          <a:latin typeface="Arial"/>
                          <a:ea typeface="Arial"/>
                          <a:cs typeface="Arial"/>
                          <a:sym typeface="Arial"/>
                        </a:rPr>
                        <a:t>Chain of Pairs</a:t>
                      </a:r>
                      <a:endParaRPr sz="14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400">
                          <a:solidFill>
                            <a:srgbClr val="000000"/>
                          </a:solidFill>
                          <a:latin typeface="Arial"/>
                          <a:ea typeface="Arial"/>
                          <a:cs typeface="Arial"/>
                          <a:sym typeface="Arial"/>
                        </a:rPr>
                        <a:t>No (one input)</a:t>
                      </a:r>
                      <a:endParaRPr sz="14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400">
                          <a:solidFill>
                            <a:srgbClr val="000000"/>
                          </a:solidFill>
                          <a:latin typeface="Arial"/>
                          <a:ea typeface="Arial"/>
                          <a:cs typeface="Arial"/>
                          <a:sym typeface="Arial"/>
                        </a:rPr>
                        <a:t>Φ = 0.0</a:t>
                      </a:r>
                      <a:endParaRPr sz="14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400">
                          <a:solidFill>
                            <a:srgbClr val="000000"/>
                          </a:solidFill>
                          <a:latin typeface="Arial"/>
                          <a:ea typeface="Arial"/>
                          <a:cs typeface="Arial"/>
                          <a:sym typeface="Arial"/>
                        </a:rPr>
                        <a:t>One party passes a signal to the next</a:t>
                      </a:r>
                      <a:endParaRPr sz="14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400">
                          <a:solidFill>
                            <a:srgbClr val="000000"/>
                          </a:solidFill>
                          <a:latin typeface="Arial"/>
                          <a:ea typeface="Arial"/>
                          <a:cs typeface="Arial"/>
                          <a:sym typeface="Arial"/>
                        </a:rPr>
                        <a:t>Literacy (follow your link)</a:t>
                      </a:r>
                      <a:endParaRPr sz="14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7175">
                <a:tc>
                  <a:txBody>
                    <a:bodyPr/>
                    <a:lstStyle/>
                    <a:p>
                      <a:pPr indent="0" lvl="0" marL="0" marR="0" rtl="0" algn="l">
                        <a:spcBef>
                          <a:spcPts val="0"/>
                        </a:spcBef>
                        <a:spcAft>
                          <a:spcPts val="0"/>
                        </a:spcAft>
                        <a:buNone/>
                      </a:pPr>
                      <a:r>
                        <a:rPr b="0" i="0" lang="en" sz="1400">
                          <a:solidFill>
                            <a:srgbClr val="000000"/>
                          </a:solidFill>
                          <a:latin typeface="Arial"/>
                          <a:ea typeface="Arial"/>
                          <a:cs typeface="Arial"/>
                          <a:sym typeface="Arial"/>
                        </a:rPr>
                        <a:t>Closed Ring</a:t>
                      </a:r>
                      <a:endParaRPr sz="14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400">
                          <a:solidFill>
                            <a:srgbClr val="000000"/>
                          </a:solidFill>
                          <a:latin typeface="Arial"/>
                          <a:ea typeface="Arial"/>
                          <a:cs typeface="Arial"/>
                          <a:sym typeface="Arial"/>
                        </a:rPr>
                        <a:t>No (one input)</a:t>
                      </a:r>
                      <a:endParaRPr sz="14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400">
                          <a:solidFill>
                            <a:srgbClr val="000000"/>
                          </a:solidFill>
                          <a:latin typeface="Arial"/>
                          <a:ea typeface="Arial"/>
                          <a:cs typeface="Arial"/>
                          <a:sym typeface="Arial"/>
                        </a:rPr>
                        <a:t>Φ &gt; 0</a:t>
                      </a:r>
                      <a:endParaRPr sz="14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400">
                          <a:solidFill>
                            <a:srgbClr val="000000"/>
                          </a:solidFill>
                          <a:latin typeface="Arial"/>
                          <a:ea typeface="Arial"/>
                          <a:cs typeface="Arial"/>
                          <a:sym typeface="Arial"/>
                        </a:rPr>
                        <a:t>A loop of one-to-one steps</a:t>
                      </a:r>
                      <a:endParaRPr sz="14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400">
                          <a:solidFill>
                            <a:srgbClr val="000000"/>
                          </a:solidFill>
                          <a:latin typeface="Arial"/>
                          <a:ea typeface="Arial"/>
                          <a:cs typeface="Arial"/>
                          <a:sym typeface="Arial"/>
                        </a:rPr>
                        <a:t>Track the loop</a:t>
                      </a:r>
                      <a:endParaRPr sz="14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7175">
                <a:tc>
                  <a:txBody>
                    <a:bodyPr/>
                    <a:lstStyle/>
                    <a:p>
                      <a:pPr indent="0" lvl="0" marL="0" marR="0" rtl="0" algn="l">
                        <a:spcBef>
                          <a:spcPts val="0"/>
                        </a:spcBef>
                        <a:spcAft>
                          <a:spcPts val="0"/>
                        </a:spcAft>
                        <a:buNone/>
                      </a:pPr>
                      <a:r>
                        <a:rPr b="0" i="0" lang="en" sz="1400">
                          <a:solidFill>
                            <a:srgbClr val="000000"/>
                          </a:solidFill>
                          <a:latin typeface="Arial"/>
                          <a:ea typeface="Arial"/>
                          <a:cs typeface="Arial"/>
                          <a:sym typeface="Arial"/>
                        </a:rPr>
                        <a:t>Two-Way Core + Extra</a:t>
                      </a:r>
                      <a:endParaRPr sz="14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400">
                          <a:solidFill>
                            <a:srgbClr val="000000"/>
                          </a:solidFill>
                          <a:latin typeface="Arial"/>
                          <a:ea typeface="Arial"/>
                          <a:cs typeface="Arial"/>
                          <a:sym typeface="Arial"/>
                        </a:rPr>
                        <a:t>Yes (two inputs)</a:t>
                      </a:r>
                      <a:endParaRPr sz="14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400">
                          <a:solidFill>
                            <a:srgbClr val="000000"/>
                          </a:solidFill>
                          <a:latin typeface="Arial"/>
                          <a:ea typeface="Arial"/>
                          <a:cs typeface="Arial"/>
                          <a:sym typeface="Arial"/>
                        </a:rPr>
                        <a:t>Φ = 0.0 (for 3)</a:t>
                      </a:r>
                      <a:endParaRPr sz="14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400">
                          <a:solidFill>
                            <a:srgbClr val="000000"/>
                          </a:solidFill>
                          <a:latin typeface="Arial"/>
                          <a:ea typeface="Arial"/>
                          <a:cs typeface="Arial"/>
                          <a:sym typeface="Arial"/>
                        </a:rPr>
                        <a:t>Two parties lock in; the third drops out</a:t>
                      </a:r>
                      <a:endParaRPr sz="14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400">
                          <a:solidFill>
                            <a:srgbClr val="000000"/>
                          </a:solidFill>
                          <a:latin typeface="Arial"/>
                          <a:ea typeface="Arial"/>
                          <a:cs typeface="Arial"/>
                          <a:sym typeface="Arial"/>
                        </a:rPr>
                        <a:t>Deal with the one partner</a:t>
                      </a:r>
                      <a:endParaRPr sz="14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77175">
                <a:tc>
                  <a:txBody>
                    <a:bodyPr/>
                    <a:lstStyle/>
                    <a:p>
                      <a:pPr indent="0" lvl="0" marL="0" marR="0" rtl="0" algn="l">
                        <a:spcBef>
                          <a:spcPts val="0"/>
                        </a:spcBef>
                        <a:spcAft>
                          <a:spcPts val="0"/>
                        </a:spcAft>
                        <a:buNone/>
                      </a:pPr>
                      <a:r>
                        <a:rPr b="0" i="0" lang="en" sz="1400">
                          <a:solidFill>
                            <a:srgbClr val="000000"/>
                          </a:solidFill>
                          <a:latin typeface="Arial"/>
                          <a:ea typeface="Arial"/>
                          <a:cs typeface="Arial"/>
                          <a:sym typeface="Arial"/>
                        </a:rPr>
                        <a:t>Real Triad</a:t>
                      </a:r>
                      <a:endParaRPr sz="14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400">
                          <a:solidFill>
                            <a:srgbClr val="000000"/>
                          </a:solidFill>
                          <a:latin typeface="Arial"/>
                          <a:ea typeface="Arial"/>
                          <a:cs typeface="Arial"/>
                          <a:sym typeface="Arial"/>
                        </a:rPr>
                        <a:t>Yes (two inputs)</a:t>
                      </a:r>
                      <a:endParaRPr sz="14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400">
                          <a:solidFill>
                            <a:srgbClr val="000000"/>
                          </a:solidFill>
                          <a:latin typeface="Arial"/>
                          <a:ea typeface="Arial"/>
                          <a:cs typeface="Arial"/>
                          <a:sym typeface="Arial"/>
                        </a:rPr>
                        <a:t>Φ &gt; 0</a:t>
                      </a:r>
                      <a:endParaRPr sz="14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400">
                          <a:solidFill>
                            <a:srgbClr val="000000"/>
                          </a:solidFill>
                          <a:latin typeface="Arial"/>
                          <a:ea typeface="Arial"/>
                          <a:cs typeface="Arial"/>
                          <a:sym typeface="Arial"/>
                        </a:rPr>
                        <a:t>All three parties lock in together</a:t>
                      </a:r>
                      <a:endParaRPr sz="14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marR="0" rtl="0" algn="l">
                        <a:spcBef>
                          <a:spcPts val="0"/>
                        </a:spcBef>
                        <a:spcAft>
                          <a:spcPts val="0"/>
                        </a:spcAft>
                        <a:buNone/>
                      </a:pPr>
                      <a:r>
                        <a:rPr b="0" i="0" lang="en" sz="1400">
                          <a:solidFill>
                            <a:srgbClr val="000000"/>
                          </a:solidFill>
                          <a:latin typeface="Arial"/>
                          <a:ea typeface="Arial"/>
                          <a:cs typeface="Arial"/>
                          <a:sym typeface="Arial"/>
                        </a:rPr>
                        <a:t>Algorithmacy (read the whole)</a:t>
                      </a:r>
                      <a:endParaRPr sz="1400"/>
                    </a:p>
                  </a:txBody>
                  <a:tcPr marT="34300" marB="34300" marR="54875" marL="5487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pic>
        <p:nvPicPr>
          <p:cNvPr id="9001" name="QR – algorithmacy-lab repo" descr="QR code: https://github.com/rogerSuperBuilderAlpha/algorithmacy-lab">
            <a:hlinkClick r:id="rIdQRLink"/>
          </p:cNvPr>
          <p:cNvPicPr>
            <a:picLocks noChangeAspect="1"/>
          </p:cNvPicPr>
          <p:nvPr/>
        </p:nvPicPr>
        <p:blipFill>
          <a:blip r:embed="rIdQR"/>
          <a:stretch>
            <a:fillRect/>
          </a:stretch>
        </p:blipFill>
        <p:spPr>
          <a:xfrm>
            <a:off x="8046720" y="228600"/>
            <a:ext cx="731520" cy="73152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5" name="Shape 275"/>
        <p:cNvGrpSpPr/>
        <p:nvPr/>
      </p:nvGrpSpPr>
      <p:grpSpPr>
        <a:xfrm>
          <a:off x="0" y="0"/>
          <a:ext cx="0" cy="0"/>
          <a:chOff x="0" y="0"/>
          <a:chExt cx="0" cy="0"/>
        </a:xfrm>
      </p:grpSpPr>
      <p:sp>
        <p:nvSpPr>
          <p:cNvPr id="276" name="Google Shape;276;p43"/>
          <p:cNvSpPr txBox="1"/>
          <p:nvPr/>
        </p:nvSpPr>
        <p:spPr>
          <a:xfrm>
            <a:off x="617236" y="377190"/>
            <a:ext cx="7315200"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POWER AND STRATEGY IN PLATFORM WORK</a:t>
            </a:r>
            <a:endParaRPr sz="1100"/>
          </a:p>
        </p:txBody>
      </p:sp>
      <p:sp>
        <p:nvSpPr>
          <p:cNvPr id="277" name="Google Shape;277;p43"/>
          <p:cNvSpPr txBox="1"/>
          <p:nvPr/>
        </p:nvSpPr>
        <p:spPr>
          <a:xfrm>
            <a:off x="617236" y="617220"/>
            <a:ext cx="7315200"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400" u="none" cap="none" strike="noStrike">
                <a:solidFill>
                  <a:srgbClr val="000000"/>
                </a:solidFill>
                <a:latin typeface="Arial"/>
                <a:ea typeface="Arial"/>
                <a:cs typeface="Arial"/>
                <a:sym typeface="Arial"/>
              </a:rPr>
              <a:t>How Platforms Keep Lock-In — and How It Breaks</a:t>
            </a:r>
            <a:endParaRPr sz="1100"/>
          </a:p>
        </p:txBody>
      </p:sp>
      <p:sp>
        <p:nvSpPr>
          <p:cNvPr id="278" name="Google Shape;278;p43"/>
          <p:cNvSpPr txBox="1"/>
          <p:nvPr/>
        </p:nvSpPr>
        <p:spPr>
          <a:xfrm>
            <a:off x="617236" y="1508760"/>
            <a:ext cx="7909542" cy="32232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400" u="none" cap="none" strike="noStrike">
                <a:solidFill>
                  <a:srgbClr val="000000"/>
                </a:solidFill>
                <a:latin typeface="Arial"/>
                <a:ea typeface="Arial"/>
                <a:cs typeface="Arial"/>
                <a:sym typeface="Arial"/>
              </a:rPr>
              <a:t>How the Platform Keeps Control</a:t>
            </a:r>
            <a:endParaRPr sz="1100"/>
          </a:p>
          <a:p>
            <a:pPr indent="0" lvl="0" marL="0" marR="0" rtl="0" algn="l">
              <a:spcBef>
                <a:spcPts val="300"/>
              </a:spcBef>
              <a:spcAft>
                <a:spcPts val="0"/>
              </a:spcAft>
              <a:buNone/>
            </a:pPr>
            <a:r>
              <a:rPr b="0" i="0" lang="en" sz="1400" u="none" cap="none" strike="noStrike">
                <a:solidFill>
                  <a:srgbClr val="000000"/>
                </a:solidFill>
                <a:latin typeface="Arial"/>
                <a:ea typeface="Arial"/>
                <a:cs typeface="Arial"/>
                <a:sym typeface="Arial"/>
              </a:rPr>
              <a:t>Across 60/60 tests of mediated rules, blocking outside options and direct contact keeps all three locked in (Φ = 2.0).</a:t>
            </a:r>
            <a:endParaRPr sz="1100"/>
          </a:p>
          <a:p>
            <a:pPr indent="0" lvl="0" marL="0" marR="0" rtl="0" algn="l">
              <a:spcBef>
                <a:spcPts val="1200"/>
              </a:spcBef>
              <a:spcAft>
                <a:spcPts val="0"/>
              </a:spcAft>
              <a:buNone/>
            </a:pPr>
            <a:r>
              <a:rPr b="1" i="0" lang="en" sz="1400" u="none" cap="none" strike="noStrike">
                <a:solidFill>
                  <a:srgbClr val="000000"/>
                </a:solidFill>
                <a:latin typeface="Arial"/>
                <a:ea typeface="Arial"/>
                <a:cs typeface="Arial"/>
                <a:sym typeface="Arial"/>
              </a:rPr>
              <a:t>Swappable Workers (Driver Pool)</a:t>
            </a:r>
            <a:endParaRPr sz="1100"/>
          </a:p>
          <a:p>
            <a:pPr indent="0" lvl="0" marL="0" marR="0" rtl="0" algn="l">
              <a:spcBef>
                <a:spcPts val="300"/>
              </a:spcBef>
              <a:spcAft>
                <a:spcPts val="0"/>
              </a:spcAft>
              <a:buNone/>
            </a:pPr>
            <a:r>
              <a:rPr b="0" i="0" lang="en" sz="1400" u="none" cap="none" strike="noStrike">
                <a:solidFill>
                  <a:srgbClr val="000000"/>
                </a:solidFill>
                <a:latin typeface="Arial"/>
                <a:ea typeface="Arial"/>
                <a:cs typeface="Arial"/>
                <a:sym typeface="Arial"/>
              </a:rPr>
              <a:t>When any driver in a pool can fill the ride, the driver drops out of the core—only platform and rider stay locked in (Φ = 1.0).</a:t>
            </a:r>
            <a:endParaRPr sz="1100"/>
          </a:p>
          <a:p>
            <a:pPr indent="0" lvl="0" marL="0" marR="0" rtl="0" algn="l">
              <a:spcBef>
                <a:spcPts val="1200"/>
              </a:spcBef>
              <a:spcAft>
                <a:spcPts val="0"/>
              </a:spcAft>
              <a:buNone/>
            </a:pPr>
            <a:r>
              <a:rPr b="1" i="0" lang="en" sz="1400" u="none" cap="none" strike="noStrike">
                <a:solidFill>
                  <a:srgbClr val="000000"/>
                </a:solidFill>
                <a:latin typeface="Arial"/>
                <a:ea typeface="Arial"/>
                <a:cs typeface="Arial"/>
                <a:sym typeface="Arial"/>
              </a:rPr>
              <a:t>Going Off-App (Direct Deal)</a:t>
            </a:r>
            <a:endParaRPr sz="1100"/>
          </a:p>
          <a:p>
            <a:pPr indent="0" lvl="0" marL="0" marR="0" rtl="0" algn="l">
              <a:spcBef>
                <a:spcPts val="300"/>
              </a:spcBef>
              <a:spcAft>
                <a:spcPts val="0"/>
              </a:spcAft>
              <a:buNone/>
            </a:pPr>
            <a:r>
              <a:rPr b="0" i="0" lang="en" sz="1400" u="none" cap="none" strike="noStrike">
                <a:solidFill>
                  <a:srgbClr val="000000"/>
                </a:solidFill>
                <a:latin typeface="Arial"/>
                <a:ea typeface="Arial"/>
                <a:cs typeface="Arial"/>
                <a:sym typeface="Arial"/>
              </a:rPr>
              <a:t>When driver and rider swap phone numbers for repeat rides, they form their own two-way core (Φ = 1.198) and bypass the app.</a:t>
            </a:r>
            <a:endParaRPr sz="1100"/>
          </a:p>
          <a:p>
            <a:pPr indent="0" lvl="0" marL="0" marR="0" rtl="0" algn="l">
              <a:spcBef>
                <a:spcPts val="1200"/>
              </a:spcBef>
              <a:spcAft>
                <a:spcPts val="0"/>
              </a:spcAft>
              <a:buNone/>
            </a:pPr>
            <a:r>
              <a:rPr b="1" i="0" lang="en" sz="1400" u="none" cap="none" strike="noStrike">
                <a:solidFill>
                  <a:srgbClr val="000000"/>
                </a:solidFill>
                <a:latin typeface="Arial"/>
                <a:ea typeface="Arial"/>
                <a:cs typeface="Arial"/>
                <a:sym typeface="Arial"/>
              </a:rPr>
              <a:t>Outside Options</a:t>
            </a:r>
            <a:endParaRPr sz="1100"/>
          </a:p>
          <a:p>
            <a:pPr indent="0" lvl="0" marL="0" marR="0" rtl="0" algn="l">
              <a:spcBef>
                <a:spcPts val="300"/>
              </a:spcBef>
              <a:spcAft>
                <a:spcPts val="0"/>
              </a:spcAft>
              <a:buNone/>
            </a:pPr>
            <a:r>
              <a:rPr b="0" i="0" lang="en" sz="1400" u="none" cap="none" strike="noStrike">
                <a:solidFill>
                  <a:srgbClr val="000000"/>
                </a:solidFill>
                <a:latin typeface="Arial"/>
                <a:ea typeface="Arial"/>
                <a:cs typeface="Arial"/>
                <a:sym typeface="Arial"/>
              </a:rPr>
              <a:t>One outside option shrinks the core to two parties; outside options on both sides break the triad completely (Φ = 2.0 → 0.0).</a:t>
            </a:r>
            <a:endParaRPr sz="1100"/>
          </a:p>
        </p:txBody>
      </p:sp>
      <p:pic>
        <p:nvPicPr>
          <p:cNvPr id="9001" name="QR – algorithmacy-lab repo" descr="QR code: https://github.com/rogerSuperBuilderAlpha/algorithmacy-lab">
            <a:hlinkClick r:id="rIdQRLink"/>
          </p:cNvPr>
          <p:cNvPicPr>
            <a:picLocks noChangeAspect="1"/>
          </p:cNvPicPr>
          <p:nvPr/>
        </p:nvPicPr>
        <p:blipFill>
          <a:blip r:embed="rIdQR"/>
          <a:stretch>
            <a:fillRect/>
          </a:stretch>
        </p:blipFill>
        <p:spPr>
          <a:xfrm>
            <a:off x="8046720" y="228600"/>
            <a:ext cx="731520" cy="73152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3" name="Shape 283"/>
        <p:cNvGrpSpPr/>
        <p:nvPr/>
      </p:nvGrpSpPr>
      <p:grpSpPr>
        <a:xfrm>
          <a:off x="0" y="0"/>
          <a:ext cx="0" cy="0"/>
          <a:chOff x="0" y="0"/>
          <a:chExt cx="0" cy="0"/>
        </a:xfrm>
      </p:grpSpPr>
      <p:sp>
        <p:nvSpPr>
          <p:cNvPr id="284" name="Google Shape;284;p44"/>
          <p:cNvSpPr txBox="1"/>
          <p:nvPr/>
        </p:nvSpPr>
        <p:spPr>
          <a:xfrm>
            <a:off x="617236" y="377190"/>
            <a:ext cx="7315200"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OPEN SCIENCE • STAGE 2 (JAN–MAY 2027)</a:t>
            </a:r>
            <a:endParaRPr sz="1100"/>
          </a:p>
        </p:txBody>
      </p:sp>
      <p:sp>
        <p:nvSpPr>
          <p:cNvPr id="285" name="Google Shape;285;p44"/>
          <p:cNvSpPr txBox="1"/>
          <p:nvPr/>
        </p:nvSpPr>
        <p:spPr>
          <a:xfrm>
            <a:off x="617236" y="617220"/>
            <a:ext cx="7315200"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Fork the Repo and Test Your Own Case</a:t>
            </a:r>
            <a:endParaRPr sz="1100"/>
          </a:p>
        </p:txBody>
      </p:sp>
      <p:sp>
        <p:nvSpPr>
          <p:cNvPr id="286" name="Google Shape;286;p44"/>
          <p:cNvSpPr txBox="1"/>
          <p:nvPr/>
        </p:nvSpPr>
        <p:spPr>
          <a:xfrm>
            <a:off x="617236" y="1508760"/>
            <a:ext cx="7909542" cy="32232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500" u="none" cap="none" strike="noStrike">
                <a:solidFill>
                  <a:srgbClr val="000000"/>
                </a:solidFill>
                <a:latin typeface="Arial"/>
                <a:ea typeface="Arial"/>
                <a:cs typeface="Arial"/>
                <a:sym typeface="Arial"/>
              </a:rPr>
              <a:t>github.com/rogerSuperBuilderAlpha/algorithmacy-lab — MIT License, Python 3.10+</a:t>
            </a:r>
            <a:endParaRPr sz="1100"/>
          </a:p>
          <a:p>
            <a:pPr indent="0" lvl="0" marL="0" marR="0" rtl="0" algn="l">
              <a:spcBef>
                <a:spcPts val="1200"/>
              </a:spcBef>
              <a:spcAft>
                <a:spcPts val="0"/>
              </a:spcAft>
              <a:buNone/>
            </a:pPr>
            <a:r>
              <a:rPr b="1" i="0" lang="en" sz="1500" u="none" cap="none" strike="noStrike">
                <a:solidFill>
                  <a:srgbClr val="000000"/>
                </a:solidFill>
                <a:latin typeface="Arial"/>
                <a:ea typeface="Arial"/>
                <a:cs typeface="Arial"/>
                <a:sym typeface="Arial"/>
              </a:rPr>
              <a:t>1. Bring Any Three-Party Case</a:t>
            </a:r>
            <a:endParaRPr sz="1100"/>
          </a:p>
          <a:p>
            <a:pPr indent="0" lvl="0" marL="0" marR="0" rtl="0" algn="l">
              <a:spcBef>
                <a:spcPts val="300"/>
              </a:spcBef>
              <a:spcAft>
                <a:spcPts val="0"/>
              </a:spcAft>
              <a:buNone/>
            </a:pPr>
            <a:r>
              <a:rPr b="0" i="0" lang="en" sz="1400" u="none" cap="none" strike="noStrike">
                <a:solidFill>
                  <a:srgbClr val="000000"/>
                </a:solidFill>
                <a:latin typeface="Arial"/>
                <a:ea typeface="Arial"/>
                <a:cs typeface="Arial"/>
                <a:sym typeface="Arial"/>
              </a:rPr>
              <a:t>Fork the repo and describe a workflow or field case; your AI agents build rival models and PyPhi runs the exact test.</a:t>
            </a:r>
            <a:endParaRPr sz="1100"/>
          </a:p>
          <a:p>
            <a:pPr indent="0" lvl="0" marL="0" marR="0" rtl="0" algn="l">
              <a:spcBef>
                <a:spcPts val="1200"/>
              </a:spcBef>
              <a:spcAft>
                <a:spcPts val="0"/>
              </a:spcAft>
              <a:buNone/>
            </a:pPr>
            <a:r>
              <a:rPr b="1" i="0" lang="en" sz="1500" u="none" cap="none" strike="noStrike">
                <a:solidFill>
                  <a:srgbClr val="000000"/>
                </a:solidFill>
                <a:latin typeface="Arial"/>
                <a:ea typeface="Arial"/>
                <a:cs typeface="Arial"/>
                <a:sym typeface="Arial"/>
              </a:rPr>
              <a:t>2. Stage 2 Plan: Testing the Workplace Canon</a:t>
            </a:r>
            <a:endParaRPr sz="1100"/>
          </a:p>
          <a:p>
            <a:pPr indent="0" lvl="0" marL="0" marR="0" rtl="0" algn="l">
              <a:spcBef>
                <a:spcPts val="300"/>
              </a:spcBef>
              <a:spcAft>
                <a:spcPts val="0"/>
              </a:spcAft>
              <a:buNone/>
            </a:pPr>
            <a:r>
              <a:rPr b="0" i="0" lang="en" sz="1400" u="none" cap="none" strike="noStrike">
                <a:solidFill>
                  <a:srgbClr val="000000"/>
                </a:solidFill>
                <a:latin typeface="Arial"/>
                <a:ea typeface="Arial"/>
                <a:cs typeface="Arial"/>
                <a:sym typeface="Arial"/>
              </a:rPr>
              <a:t>Re-test 10–15 classic workplace ethnographies, map what keeps or breaks lock-in, and ship the multi-state PyPhi tool.</a:t>
            </a:r>
            <a:endParaRPr sz="1100"/>
          </a:p>
          <a:p>
            <a:pPr indent="0" lvl="0" marL="0" marR="0" rtl="0" algn="l">
              <a:spcBef>
                <a:spcPts val="1200"/>
              </a:spcBef>
              <a:spcAft>
                <a:spcPts val="0"/>
              </a:spcAft>
              <a:buNone/>
            </a:pPr>
            <a:r>
              <a:rPr b="1" i="0" lang="en" sz="1500" u="none" cap="none" strike="noStrike">
                <a:solidFill>
                  <a:srgbClr val="000000"/>
                </a:solidFill>
                <a:latin typeface="Arial"/>
                <a:ea typeface="Arial"/>
                <a:cs typeface="Arial"/>
                <a:sym typeface="Arial"/>
              </a:rPr>
              <a:t>3. What Organization Science Gains</a:t>
            </a:r>
            <a:endParaRPr sz="1100"/>
          </a:p>
          <a:p>
            <a:pPr indent="0" lvl="0" marL="0" marR="0" rtl="0" algn="l">
              <a:spcBef>
                <a:spcPts val="300"/>
              </a:spcBef>
              <a:spcAft>
                <a:spcPts val="0"/>
              </a:spcAft>
              <a:buNone/>
            </a:pPr>
            <a:r>
              <a:rPr b="0" i="0" lang="en" sz="1400" u="none" cap="none" strike="noStrike">
                <a:solidFill>
                  <a:srgbClr val="000000"/>
                </a:solidFill>
                <a:latin typeface="Arial"/>
                <a:ea typeface="Arial"/>
                <a:cs typeface="Arial"/>
                <a:sym typeface="Arial"/>
              </a:rPr>
              <a:t>A clear, repeatable test for when platform work is just pairs in disguise (Φ = 0) and when it is a real triad (Φ &gt; 0).</a:t>
            </a:r>
            <a:endParaRPr sz="1100"/>
          </a:p>
        </p:txBody>
      </p:sp>
      <p:pic>
        <p:nvPicPr>
          <p:cNvPr id="9001" name="QR – algorithmacy-lab repo" descr="QR code: https://github.com/rogerSuperBuilderAlpha/algorithmacy-lab">
            <a:hlinkClick r:id="rIdQRLink"/>
          </p:cNvPr>
          <p:cNvPicPr>
            <a:picLocks noChangeAspect="1"/>
          </p:cNvPicPr>
          <p:nvPr/>
        </p:nvPicPr>
        <p:blipFill>
          <a:blip r:embed="rIdQR"/>
          <a:stretch>
            <a:fillRect/>
          </a:stretch>
        </p:blipFill>
        <p:spPr>
          <a:xfrm>
            <a:off x="8046720" y="228600"/>
            <a:ext cx="731520" cy="73152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6" name="Shape 176"/>
        <p:cNvGrpSpPr/>
        <p:nvPr/>
      </p:nvGrpSpPr>
      <p:grpSpPr>
        <a:xfrm>
          <a:off x="0" y="0"/>
          <a:ext cx="0" cy="0"/>
          <a:chOff x="0" y="0"/>
          <a:chExt cx="0" cy="0"/>
        </a:xfrm>
      </p:grpSpPr>
      <p:sp>
        <p:nvSpPr>
          <p:cNvPr id="177" name="Google Shape;177;p31"/>
          <p:cNvSpPr txBox="1"/>
          <p:nvPr/>
        </p:nvSpPr>
        <p:spPr>
          <a:xfrm>
            <a:off x="617236" y="377190"/>
            <a:ext cx="7315200"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THE OPEN QUESTION</a:t>
            </a:r>
            <a:endParaRPr sz="1100"/>
          </a:p>
        </p:txBody>
      </p:sp>
      <p:sp>
        <p:nvSpPr>
          <p:cNvPr id="178" name="Google Shape;178;p31"/>
          <p:cNvSpPr txBox="1"/>
          <p:nvPr/>
        </p:nvSpPr>
        <p:spPr>
          <a:xfrm>
            <a:off x="617236" y="617220"/>
            <a:ext cx="7315200"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Is a Platform a Third Party</a:t>
            </a:r>
            <a:br>
              <a:rPr b="1" i="0" lang="en" sz="2600" u="none" cap="none" strike="noStrike">
                <a:solidFill>
                  <a:srgbClr val="000000"/>
                </a:solidFill>
                <a:latin typeface="Arial"/>
                <a:ea typeface="Arial"/>
                <a:cs typeface="Arial"/>
                <a:sym typeface="Arial"/>
              </a:rPr>
            </a:br>
            <a:r>
              <a:rPr b="1" i="0" lang="en" sz="2600" u="none" cap="none" strike="noStrike">
                <a:solidFill>
                  <a:srgbClr val="000000"/>
                </a:solidFill>
                <a:latin typeface="Arial"/>
                <a:ea typeface="Arial"/>
                <a:cs typeface="Arial"/>
                <a:sym typeface="Arial"/>
              </a:rPr>
              <a:t>or Just a Fast Go-Between?</a:t>
            </a:r>
            <a:endParaRPr sz="1100"/>
          </a:p>
        </p:txBody>
      </p:sp>
      <p:sp>
        <p:nvSpPr>
          <p:cNvPr id="179" name="Google Shape;179;p31"/>
          <p:cNvSpPr txBox="1"/>
          <p:nvPr/>
        </p:nvSpPr>
        <p:spPr>
          <a:xfrm>
            <a:off x="617236" y="1828800"/>
            <a:ext cx="3749039" cy="21031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400" u="none" cap="none" strike="noStrike">
                <a:solidFill>
                  <a:srgbClr val="000000"/>
                </a:solidFill>
                <a:latin typeface="Arial"/>
                <a:ea typeface="Arial"/>
                <a:cs typeface="Arial"/>
                <a:sym typeface="Arial"/>
              </a:rPr>
              <a:t>VIEW 1 • A NEW WHOLE</a:t>
            </a:r>
            <a:endParaRPr sz="1100"/>
          </a:p>
          <a:p>
            <a:pPr indent="0" lvl="0" marL="0" marR="0" rtl="0" algn="l">
              <a:spcBef>
                <a:spcPts val="900"/>
              </a:spcBef>
              <a:spcAft>
                <a:spcPts val="0"/>
              </a:spcAft>
              <a:buNone/>
            </a:pPr>
            <a:r>
              <a:rPr b="1" i="0" lang="en" sz="1600" u="none" cap="none" strike="noStrike">
                <a:solidFill>
                  <a:srgbClr val="000000"/>
                </a:solidFill>
                <a:latin typeface="Arial"/>
                <a:ea typeface="Arial"/>
                <a:cs typeface="Arial"/>
                <a:sym typeface="Arial"/>
              </a:rPr>
              <a:t>Three Parties Acting as One</a:t>
            </a:r>
            <a:endParaRPr sz="1100"/>
          </a:p>
          <a:p>
            <a:pPr indent="0" lvl="0" marL="0" marR="0" rtl="0" algn="l">
              <a:spcBef>
                <a:spcPts val="900"/>
              </a:spcBef>
              <a:spcAft>
                <a:spcPts val="0"/>
              </a:spcAft>
              <a:buNone/>
            </a:pPr>
            <a:r>
              <a:rPr b="0" i="0" lang="en" sz="1500" u="none" cap="none" strike="noStrike">
                <a:solidFill>
                  <a:srgbClr val="000000"/>
                </a:solidFill>
                <a:latin typeface="Arial"/>
                <a:ea typeface="Arial"/>
                <a:cs typeface="Arial"/>
                <a:sym typeface="Arial"/>
              </a:rPr>
              <a:t>The platform binds worker and customer into a single unit.</a:t>
            </a:r>
            <a:endParaRPr sz="1100"/>
          </a:p>
          <a:p>
            <a:pPr indent="0" lvl="0" marL="0" marR="0" rtl="0" algn="l">
              <a:spcBef>
                <a:spcPts val="900"/>
              </a:spcBef>
              <a:spcAft>
                <a:spcPts val="0"/>
              </a:spcAft>
              <a:buNone/>
            </a:pPr>
            <a:r>
              <a:rPr b="0" i="0" lang="en" sz="1500" u="none" cap="none" strike="noStrike">
                <a:solidFill>
                  <a:srgbClr val="000000"/>
                </a:solidFill>
                <a:latin typeface="Arial"/>
                <a:ea typeface="Arial"/>
                <a:cs typeface="Arial"/>
                <a:sym typeface="Arial"/>
              </a:rPr>
              <a:t>Split the three apart and the coordination disappears.</a:t>
            </a:r>
            <a:endParaRPr sz="1100"/>
          </a:p>
          <a:p>
            <a:pPr indent="0" lvl="0" marL="0" marR="0" rtl="0" algn="l">
              <a:spcBef>
                <a:spcPts val="900"/>
              </a:spcBef>
              <a:spcAft>
                <a:spcPts val="0"/>
              </a:spcAft>
              <a:buNone/>
            </a:pPr>
            <a:r>
              <a:rPr b="0" i="0" lang="en" sz="1500" u="none" cap="none" strike="noStrike">
                <a:solidFill>
                  <a:srgbClr val="000000"/>
                </a:solidFill>
                <a:latin typeface="Arial"/>
                <a:ea typeface="Arial"/>
                <a:cs typeface="Arial"/>
                <a:sym typeface="Arial"/>
              </a:rPr>
              <a:t>Assumed in workplace studies, never formally tested.</a:t>
            </a:r>
            <a:endParaRPr sz="1100"/>
          </a:p>
        </p:txBody>
      </p:sp>
      <p:sp>
        <p:nvSpPr>
          <p:cNvPr id="180" name="Google Shape;180;g1"/>
          <p:cNvSpPr txBox="1"/>
          <p:nvPr/>
        </p:nvSpPr>
        <p:spPr>
          <a:xfrm>
            <a:off x="4777740" y="1828800"/>
            <a:ext cx="3749039" cy="21031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400" u="none" cap="none" strike="noStrike">
                <a:solidFill>
                  <a:srgbClr val="000000"/>
                </a:solidFill>
                <a:latin typeface="Arial"/>
                <a:ea typeface="Arial"/>
                <a:cs typeface="Arial"/>
                <a:sym typeface="Arial"/>
              </a:rPr>
              <a:t>VIEW 2 • PAIRS IN A ROW</a:t>
            </a:r>
            <a:endParaRPr sz="1100"/>
          </a:p>
          <a:p>
            <a:pPr indent="0" lvl="0" marL="0" marR="0" rtl="0" algn="l">
              <a:spcBef>
                <a:spcPts val="900"/>
              </a:spcBef>
              <a:spcAft>
                <a:spcPts val="0"/>
              </a:spcAft>
              <a:buNone/>
            </a:pPr>
            <a:r>
              <a:rPr b="1" i="0" lang="en" sz="1600" u="none" cap="none" strike="noStrike">
                <a:solidFill>
                  <a:srgbClr val="000000"/>
                </a:solidFill>
                <a:latin typeface="Arial"/>
                <a:ea typeface="Arial"/>
                <a:cs typeface="Arial"/>
                <a:sym typeface="Arial"/>
              </a:rPr>
              <a:t>Two-Party Deals Run Fast</a:t>
            </a:r>
            <a:endParaRPr sz="1100"/>
          </a:p>
          <a:p>
            <a:pPr indent="0" lvl="0" marL="0" marR="0" rtl="0" algn="l">
              <a:spcBef>
                <a:spcPts val="900"/>
              </a:spcBef>
              <a:spcAft>
                <a:spcPts val="0"/>
              </a:spcAft>
              <a:buNone/>
            </a:pPr>
            <a:r>
              <a:rPr b="0" i="0" lang="en" sz="1500" u="none" cap="none" strike="noStrike">
                <a:solidFill>
                  <a:srgbClr val="000000"/>
                </a:solidFill>
                <a:latin typeface="Arial"/>
                <a:ea typeface="Arial"/>
                <a:cs typeface="Arial"/>
                <a:sym typeface="Arial"/>
              </a:rPr>
              <a:t>The platform just passes messages between worker and customer.</a:t>
            </a:r>
            <a:endParaRPr sz="1100"/>
          </a:p>
          <a:p>
            <a:pPr indent="0" lvl="0" marL="0" marR="0" rtl="0" algn="l">
              <a:spcBef>
                <a:spcPts val="900"/>
              </a:spcBef>
              <a:spcAft>
                <a:spcPts val="0"/>
              </a:spcAft>
              <a:buNone/>
            </a:pPr>
            <a:r>
              <a:rPr b="0" i="0" lang="en" sz="1500" u="none" cap="none" strike="noStrike">
                <a:solidFill>
                  <a:srgbClr val="000000"/>
                </a:solidFill>
                <a:latin typeface="Arial"/>
                <a:ea typeface="Arial"/>
                <a:cs typeface="Arial"/>
                <a:sym typeface="Arial"/>
              </a:rPr>
              <a:t>Every step is still a deal between two sides.</a:t>
            </a:r>
            <a:endParaRPr sz="1100"/>
          </a:p>
          <a:p>
            <a:pPr indent="0" lvl="0" marL="0" marR="0" rtl="0" algn="l">
              <a:spcBef>
                <a:spcPts val="900"/>
              </a:spcBef>
              <a:spcAft>
                <a:spcPts val="0"/>
              </a:spcAft>
              <a:buNone/>
            </a:pPr>
            <a:r>
              <a:rPr b="0" i="0" lang="en" sz="1500" u="none" cap="none" strike="noStrike">
                <a:solidFill>
                  <a:srgbClr val="000000"/>
                </a:solidFill>
                <a:latin typeface="Arial"/>
                <a:ea typeface="Arial"/>
                <a:cs typeface="Arial"/>
                <a:sym typeface="Arial"/>
              </a:rPr>
              <a:t>Assumed in market theory, never formally tested.</a:t>
            </a:r>
            <a:endParaRPr sz="1100"/>
          </a:p>
        </p:txBody>
      </p:sp>
      <p:sp>
        <p:nvSpPr>
          <p:cNvPr id="181" name="Google Shape;181;g1"/>
          <p:cNvSpPr txBox="1"/>
          <p:nvPr/>
        </p:nvSpPr>
        <p:spPr>
          <a:xfrm>
            <a:off x="617220" y="4297680"/>
            <a:ext cx="790956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600" u="none" cap="none" strike="noStrike">
                <a:solidFill>
                  <a:srgbClr val="000000"/>
                </a:solidFill>
                <a:latin typeface="Arial"/>
                <a:ea typeface="Arial"/>
                <a:cs typeface="Arial"/>
                <a:sym typeface="Arial"/>
              </a:rPr>
              <a:t>Since Simmel (1902) and Thompson (1967), we have had no test to tell a real triad from pairs in a row.</a:t>
            </a:r>
            <a:endParaRPr sz="1100"/>
          </a:p>
        </p:txBody>
      </p:sp>
      <p:pic>
        <p:nvPicPr>
          <p:cNvPr id="9001" name="QR – algorithmacy-lab repo" descr="QR code: https://github.com/rogerSuperBuilderAlpha/algorithmacy-lab">
            <a:hlinkClick r:id="rIdQRLink"/>
          </p:cNvPr>
          <p:cNvPicPr>
            <a:picLocks noChangeAspect="1"/>
          </p:cNvPicPr>
          <p:nvPr/>
        </p:nvPicPr>
        <p:blipFill>
          <a:blip r:embed="rIdQR"/>
          <a:stretch>
            <a:fillRect/>
          </a:stretch>
        </p:blipFill>
        <p:spPr>
          <a:xfrm>
            <a:off x="8046720" y="228600"/>
            <a:ext cx="731520" cy="73152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8" name="Shape 168"/>
        <p:cNvGrpSpPr/>
        <p:nvPr/>
      </p:nvGrpSpPr>
      <p:grpSpPr>
        <a:xfrm>
          <a:off x="0" y="0"/>
          <a:ext cx="0" cy="0"/>
          <a:chOff x="0" y="0"/>
          <a:chExt cx="0" cy="0"/>
        </a:xfrm>
      </p:grpSpPr>
      <p:sp>
        <p:nvSpPr>
          <p:cNvPr id="169" name="Google Shape;169;p30"/>
          <p:cNvSpPr txBox="1"/>
          <p:nvPr/>
        </p:nvSpPr>
        <p:spPr>
          <a:xfrm>
            <a:off x="617236" y="377190"/>
            <a:ext cx="7315200" cy="2057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100" u="none" cap="none" strike="noStrike">
                <a:solidFill>
                  <a:srgbClr val="000000"/>
                </a:solidFill>
                <a:latin typeface="Arial"/>
                <a:ea typeface="Arial"/>
                <a:cs typeface="Arial"/>
                <a:sym typeface="Arial"/>
              </a:rPr>
              <a:t>HOW THE HARNESS WORKS</a:t>
            </a:r>
            <a:endParaRPr sz="1100"/>
          </a:p>
        </p:txBody>
      </p:sp>
      <p:sp>
        <p:nvSpPr>
          <p:cNvPr id="170" name="Google Shape;170;p30"/>
          <p:cNvSpPr txBox="1"/>
          <p:nvPr/>
        </p:nvSpPr>
        <p:spPr>
          <a:xfrm>
            <a:off x="617236" y="617220"/>
            <a:ext cx="7315200" cy="7543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2600" u="none" cap="none" strike="noStrike">
                <a:solidFill>
                  <a:srgbClr val="000000"/>
                </a:solidFill>
                <a:latin typeface="Arial"/>
                <a:ea typeface="Arial"/>
                <a:cs typeface="Arial"/>
                <a:sym typeface="Arial"/>
              </a:rPr>
              <a:t>An Open AI Harness, Not an AI Judge</a:t>
            </a:r>
            <a:endParaRPr sz="1100"/>
          </a:p>
        </p:txBody>
      </p:sp>
      <p:sp>
        <p:nvSpPr>
          <p:cNvPr id="171" name="Google Shape;171;p30"/>
          <p:cNvSpPr txBox="1"/>
          <p:nvPr/>
        </p:nvSpPr>
        <p:spPr>
          <a:xfrm>
            <a:off x="617236" y="1371600"/>
            <a:ext cx="7909560" cy="2971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400" u="none" cap="none" strike="noStrike">
                <a:solidFill>
                  <a:srgbClr val="000000"/>
                </a:solidFill>
                <a:latin typeface="Arial"/>
                <a:ea typeface="Arial"/>
                <a:cs typeface="Arial"/>
                <a:sym typeface="Arial"/>
              </a:rPr>
              <a:t>The Role of AI:</a:t>
            </a:r>
            <a:r>
              <a:rPr b="0" i="0" lang="en" sz="1400" u="none" cap="none" strike="noStrike">
                <a:solidFill>
                  <a:srgbClr val="000000"/>
                </a:solidFill>
                <a:latin typeface="Arial"/>
                <a:ea typeface="Arial"/>
                <a:cs typeface="Arial"/>
                <a:sym typeface="Arial"/>
              </a:rPr>
              <a:t> AI agents translate the case; PyPhi computes the answer.</a:t>
            </a:r>
            <a:endParaRPr sz="1100"/>
          </a:p>
          <a:p>
            <a:pPr indent="0" lvl="0" marL="0" marR="0" rtl="0" algn="l">
              <a:spcBef>
                <a:spcPts val="900"/>
              </a:spcBef>
              <a:spcAft>
                <a:spcPts val="0"/>
              </a:spcAft>
              <a:buNone/>
            </a:pPr>
            <a:r>
              <a:rPr b="1" i="0" lang="en" sz="1400" u="none" cap="none" strike="noStrike">
                <a:solidFill>
                  <a:srgbClr val="000000"/>
                </a:solidFill>
                <a:latin typeface="Arial"/>
                <a:ea typeface="Arial"/>
                <a:cs typeface="Arial"/>
                <a:sym typeface="Arial"/>
              </a:rPr>
              <a:t>PART 1 • WHY AI ALONE GETS IT WRONG</a:t>
            </a:r>
            <a:endParaRPr sz="1100"/>
          </a:p>
          <a:p>
            <a:pPr indent="0" lvl="0" marL="0" marR="0" rtl="0" algn="l">
              <a:spcBef>
                <a:spcPts val="300"/>
              </a:spcBef>
              <a:spcAft>
                <a:spcPts val="0"/>
              </a:spcAft>
              <a:buNone/>
            </a:pPr>
            <a:r>
              <a:rPr b="1" i="0" lang="en" sz="1400" u="none" cap="none" strike="noStrike">
                <a:solidFill>
                  <a:srgbClr val="000000"/>
                </a:solidFill>
                <a:latin typeface="Arial"/>
                <a:ea typeface="Arial"/>
                <a:cs typeface="Arial"/>
                <a:sym typeface="Arial"/>
              </a:rPr>
              <a:t>1. Guesses from Words:</a:t>
            </a:r>
            <a:r>
              <a:rPr b="0" i="0" lang="en" sz="1400" u="none" cap="none" strike="noStrike">
                <a:solidFill>
                  <a:srgbClr val="000000"/>
                </a:solidFill>
                <a:latin typeface="Arial"/>
                <a:ea typeface="Arial"/>
                <a:cs typeface="Arial"/>
                <a:sym typeface="Arial"/>
              </a:rPr>
              <a:t> Chatbots react to words like “platform” instead of testing rules.</a:t>
            </a:r>
            <a:endParaRPr sz="1100"/>
          </a:p>
          <a:p>
            <a:pPr indent="0" lvl="0" marL="0" marR="0" rtl="0" algn="l">
              <a:spcBef>
                <a:spcPts val="300"/>
              </a:spcBef>
              <a:spcAft>
                <a:spcPts val="0"/>
              </a:spcAft>
              <a:buNone/>
            </a:pPr>
            <a:r>
              <a:rPr b="1" i="0" lang="en" sz="1400" u="none" cap="none" strike="noStrike">
                <a:solidFill>
                  <a:srgbClr val="000000"/>
                </a:solidFill>
                <a:latin typeface="Arial"/>
                <a:ea typeface="Arial"/>
                <a:cs typeface="Arial"/>
                <a:sym typeface="Arial"/>
              </a:rPr>
              <a:t>2. Wrong on Driver Pools:</a:t>
            </a:r>
            <a:r>
              <a:rPr b="0" i="0" lang="en" sz="1400" u="none" cap="none" strike="noStrike">
                <a:solidFill>
                  <a:srgbClr val="000000"/>
                </a:solidFill>
                <a:latin typeface="Arial"/>
                <a:ea typeface="Arial"/>
                <a:cs typeface="Arial"/>
                <a:sym typeface="Arial"/>
              </a:rPr>
              <a:t> AI alone called a driver pool a triad; PyPhi showed the driver drops out.</a:t>
            </a:r>
            <a:endParaRPr sz="1100"/>
          </a:p>
          <a:p>
            <a:pPr indent="0" lvl="0" marL="0" marR="0" rtl="0" algn="l">
              <a:spcBef>
                <a:spcPts val="300"/>
              </a:spcBef>
              <a:spcAft>
                <a:spcPts val="0"/>
              </a:spcAft>
              <a:buNone/>
            </a:pPr>
            <a:r>
              <a:rPr b="1" i="0" lang="en" sz="1400" u="none" cap="none" strike="noStrike">
                <a:solidFill>
                  <a:srgbClr val="000000"/>
                </a:solidFill>
                <a:latin typeface="Arial"/>
                <a:ea typeface="Arial"/>
                <a:cs typeface="Arial"/>
                <a:sym typeface="Arial"/>
              </a:rPr>
              <a:t>3. Wrong on Direct Deals:</a:t>
            </a:r>
            <a:r>
              <a:rPr b="0" i="0" lang="en" sz="1400" u="none" cap="none" strike="noStrike">
                <a:solidFill>
                  <a:srgbClr val="000000"/>
                </a:solidFill>
                <a:latin typeface="Arial"/>
                <a:ea typeface="Arial"/>
                <a:cs typeface="Arial"/>
                <a:sym typeface="Arial"/>
              </a:rPr>
              <a:t> AI predicted collapse; PyPhi showed driver and rider stay locked in.</a:t>
            </a:r>
            <a:endParaRPr sz="1100"/>
          </a:p>
          <a:p>
            <a:pPr indent="0" lvl="0" marL="0" marR="0" rtl="0" algn="l">
              <a:spcBef>
                <a:spcPts val="900"/>
              </a:spcBef>
              <a:spcAft>
                <a:spcPts val="0"/>
              </a:spcAft>
              <a:buNone/>
            </a:pPr>
            <a:r>
              <a:rPr b="1" i="0" lang="en" sz="1400" u="none" cap="none" strike="noStrike">
                <a:solidFill>
                  <a:srgbClr val="000000"/>
                </a:solidFill>
                <a:latin typeface="Arial"/>
                <a:ea typeface="Arial"/>
                <a:cs typeface="Arial"/>
                <a:sym typeface="Arial"/>
              </a:rPr>
              <a:t>PART 2 • RESEARCHER + AI AGENTS + PYPHI</a:t>
            </a:r>
            <a:endParaRPr sz="1100"/>
          </a:p>
          <a:p>
            <a:pPr indent="0" lvl="0" marL="0" marR="0" rtl="0" algn="l">
              <a:spcBef>
                <a:spcPts val="300"/>
              </a:spcBef>
              <a:spcAft>
                <a:spcPts val="0"/>
              </a:spcAft>
              <a:buNone/>
            </a:pPr>
            <a:r>
              <a:rPr b="1" i="0" lang="en" sz="1400" u="none" cap="none" strike="noStrike">
                <a:solidFill>
                  <a:srgbClr val="000000"/>
                </a:solidFill>
                <a:latin typeface="Arial"/>
                <a:ea typeface="Arial"/>
                <a:cs typeface="Arial"/>
                <a:sym typeface="Arial"/>
              </a:rPr>
              <a:t>• Competing AI Agents:</a:t>
            </a:r>
            <a:r>
              <a:rPr b="0" i="0" lang="en" sz="1400" u="none" cap="none" strike="noStrike">
                <a:solidFill>
                  <a:srgbClr val="000000"/>
                </a:solidFill>
                <a:latin typeface="Arial"/>
                <a:ea typeface="Arial"/>
                <a:cs typeface="Arial"/>
                <a:sym typeface="Arial"/>
              </a:rPr>
              <a:t> Rival agents turn field notes into formal rules tied to exact quotes.</a:t>
            </a:r>
            <a:endParaRPr sz="1100"/>
          </a:p>
          <a:p>
            <a:pPr indent="0" lvl="0" marL="0" marR="0" rtl="0" algn="l">
              <a:spcBef>
                <a:spcPts val="300"/>
              </a:spcBef>
              <a:spcAft>
                <a:spcPts val="0"/>
              </a:spcAft>
              <a:buNone/>
            </a:pPr>
            <a:r>
              <a:rPr b="1" i="0" lang="en" sz="1400" u="none" cap="none" strike="noStrike">
                <a:solidFill>
                  <a:srgbClr val="000000"/>
                </a:solidFill>
                <a:latin typeface="Arial"/>
                <a:ea typeface="Arial"/>
                <a:cs typeface="Arial"/>
                <a:sym typeface="Arial"/>
              </a:rPr>
              <a:t>• Exact Math Check:</a:t>
            </a:r>
            <a:r>
              <a:rPr b="0" i="0" lang="en" sz="1400" u="none" cap="none" strike="noStrike">
                <a:solidFill>
                  <a:srgbClr val="000000"/>
                </a:solidFill>
                <a:latin typeface="Arial"/>
                <a:ea typeface="Arial"/>
                <a:cs typeface="Arial"/>
                <a:sym typeface="Arial"/>
              </a:rPr>
              <a:t> PyPhi and four baseline tests compute the cut; no prompt can bend it.</a:t>
            </a:r>
            <a:endParaRPr sz="1100"/>
          </a:p>
          <a:p>
            <a:pPr indent="0" lvl="0" marL="0" marR="0" rtl="0" algn="l">
              <a:spcBef>
                <a:spcPts val="900"/>
              </a:spcBef>
              <a:spcAft>
                <a:spcPts val="0"/>
              </a:spcAft>
              <a:buNone/>
            </a:pPr>
            <a:r>
              <a:rPr b="1" i="0" lang="en" sz="1400" u="none" cap="none" strike="noStrike">
                <a:solidFill>
                  <a:srgbClr val="000000"/>
                </a:solidFill>
                <a:latin typeface="Arial"/>
                <a:ea typeface="Arial"/>
                <a:cs typeface="Arial"/>
                <a:sym typeface="Arial"/>
              </a:rPr>
              <a:t>Researcher, AI agents, and PyPhi form the three-party coordination we study.</a:t>
            </a:r>
            <a:endParaRPr sz="1100"/>
          </a:p>
        </p:txBody>
      </p:sp>
      <p:pic>
        <p:nvPicPr>
          <p:cNvPr id="9001" name="QR – algorithmacy-lab repo" descr="QR code: https://github.com/rogerSuperBuilderAlpha/algorithmacy-lab">
            <a:hlinkClick r:id="rIdQRLink"/>
          </p:cNvPr>
          <p:cNvPicPr>
            <a:picLocks noChangeAspect="1"/>
          </p:cNvPicPr>
          <p:nvPr/>
        </p:nvPicPr>
        <p:blipFill>
          <a:blip r:embed="rIdQR"/>
          <a:stretch>
            <a:fillRect/>
          </a:stretch>
        </p:blipFill>
        <p:spPr>
          <a:xfrm>
            <a:off x="8046720" y="228600"/>
            <a:ext cx="731520" cy="73152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