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g1_durrow.jpg" ContentType="image/jpg"/>
  <Override PartName="/ppt/media/g1_scriptio.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6.xml" ContentType="application/vnd.openxmlformats-officedocument.presentationml.notesSlide+xml"/>
  <Override PartName="/ppt/notesSlides/notesSlide20.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9" r:id="rId5"/>
    <p:sldId id="271" r:id="rId17"/>
    <p:sldId id="258" r:id="rId4"/>
    <p:sldId id="262" r:id="rId8"/>
    <p:sldId id="278" r:id="rId24"/>
    <p:sldId id="275" r:id="rId21"/>
    <p:sldId id="261" r:id="rId7"/>
    <p:sldId id="266" r:id="rId12"/>
    <p:sldId id="267" r:id="rId13"/>
  </p:sld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4.xml"/><Relationship Id="rId5" Type="http://schemas.openxmlformats.org/officeDocument/2006/relationships/slide" Target="slides/slide2.xml"/><Relationship Id="rId7" Type="http://schemas.openxmlformats.org/officeDocument/2006/relationships/slide" Target="slides/slide8.xml"/><Relationship Id="rId8" Type="http://schemas.openxmlformats.org/officeDocument/2006/relationships/slide" Target="slides/slide5.xml"/><Relationship Id="rId12" Type="http://schemas.openxmlformats.org/officeDocument/2006/relationships/slide" Target="slides/slide9.xml"/><Relationship Id="rId13" Type="http://schemas.openxmlformats.org/officeDocument/2006/relationships/slide" Target="slides/slide10.xml"/><Relationship Id="rId17" Type="http://schemas.openxmlformats.org/officeDocument/2006/relationships/slide" Target="slides/slide3.xml"/><Relationship Id="rId21" Type="http://schemas.openxmlformats.org/officeDocument/2006/relationships/slide" Target="slides/slide7.xml"/><Relationship Id="rId24" Type="http://schemas.openxmlformats.org/officeDocument/2006/relationships/slide" Target="slides/slide6.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Spaces in the Stream. Roger Hunt, Algorithmacy Lab, 2026.</a:t>
            </a:r>
          </a:p>
          <a:p>
            <a:r>
              <a:rPr lang="en-US" dirty="0"/>
              <a:t>The big idea: about 1,300 years ago, putting blank spaces between words changed how people read. Today, AI tools pour out text in one long stream, and they need a similar kind of mark to show readers where the decisions are.</a:t>
            </a:r>
          </a:p>
          <a:p>
            <a:r>
              <a:rPr lang="en-US" dirty="0"/>
              <a:t>Source: submissions/phd1750_spaces_in_stream/paper/gdoc_full_2026-10-22d.md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slide is only about the history of reading and writing. Spaces between words made reading easier, but as more people learned to read, these problems went unfixed.</a:t>
            </a:r>
          </a:p>
          <a:p>
            <a:r>
              <a:rPr lang="en-US" dirty="0"/>
              <a:t>1) In 19th-century Canadian cities (Hamilton, Kingston, London, Ontario), literacy did little to lift workers out of their class; ethnicity, class and gender shaped their lives more (Graff, 1991). 2) One school-based kind of literacy was treated as the only real kind, the “autonomous model” (Street, 1984). 3) Reading alone did not make people better thinkers in general; among the Vai of Liberia, who learned their script outside school, its effects were tied to specific uses (Scribner &amp; Cole, 1981). 4) In England from 1066 to 1307, trust slowly moved from memory and spoken witness to written records (Clanchy, 2013). 5) Print broke the church’s monopoly of knowledge, but new monopolies formed around it (Innis, 1951). 6) The authority of print came from the people and institutions around it, not the machine (Johns, 2002). 7) In Greece the alphabet came about 700 BCE, but only a skilled few used it (“craft literacy”) until schooling spread reading near the end of the 5th century BCE (Havelock, 1963).</a:t>
            </a:r>
          </a:p>
          <a:p>
            <a:r>
              <a:rPr lang="en-US" dirty="0"/>
              <a:t>References:</a:t>
            </a:r>
          </a:p>
          <a:p>
            <a:r>
              <a:rPr lang="en-US" dirty="0"/>
              <a:t>Clanchy, M. T. (2013). From Memory to Written Record: England 1066–1307 (3rd ed.). Wiley-Blackwell. (Released Sept. 2012; title page 2013.) https://www.wiley.com/en-us/From+Memory+to+Written+Record%3A+England+1066+-+1307%2C+3rd+Edition-p-9781405157919</a:t>
            </a:r>
          </a:p>
          <a:p>
            <a:r>
              <a:rPr lang="en-US" dirty="0"/>
              <a:t>Graff, H. J. (1991). The Literacy Myth: Cultural Integration and Social Structure in the Nineteenth Century. Transaction Publishers. (Orig. Academic Press, 1979.) https://wacclearinghouse.org/books/landmarks/literacy-myth/</a:t>
            </a:r>
          </a:p>
          <a:p>
            <a:r>
              <a:rPr lang="en-US" dirty="0"/>
              <a:t>Havelock, E. A. (1963). Preface to Plato. Belknap Press of Harvard University Press.</a:t>
            </a:r>
          </a:p>
          <a:p>
            <a:r>
              <a:rPr lang="en-US" dirty="0"/>
              <a:t>Innis, H. A. (1951). The Bias of Communication. University of Toronto Press.</a:t>
            </a:r>
          </a:p>
          <a:p>
            <a:r>
              <a:rPr lang="en-US" dirty="0"/>
              <a:t>Johns, A. (2002). How to acknowledge a revolution. American Historical Review, 107(1), 106–125. https://doi.org/10.1086/532099</a:t>
            </a:r>
          </a:p>
          <a:p>
            <a:r>
              <a:rPr lang="en-US" dirty="0"/>
              <a:t>Scribner, S., &amp; Cole, M. (1981). The Psychology of Literacy. Harvard University Press.</a:t>
            </a:r>
          </a:p>
          <a:p>
            <a:r>
              <a:rPr lang="en-US" dirty="0"/>
              <a:t>Street, B. V. (1984). Literacy in Theory and Practice. Cambridge University Press.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Roman imperial times, most Greek and Latin books ran the letters together: no spaces between words and very little punctuation. (Early Latin texts used dots between words, but scribes later dropped them to copy the Greek style.)</a:t>
            </a:r>
          </a:p>
          <a:p>
            <a:r>
              <a:rPr lang="en-US" dirty="0"/>
              <a:t>Readers could not see where one word ended and the next began. So they usually sounded the letters out, often aloud, and listened for the words. Skilled readers could read silently when they needed to (Knox 1968; Johnson 2000), but reading was mostly done out loud (Saenger 1997).</a:t>
            </a:r>
          </a:p>
          <a:p>
            <a:r>
              <a:rPr lang="en-US" dirty="0"/>
              <a:t>Sources: Saenger, P. (1997) Space Between Words; Johnson, W. A. (2000) Toward a sociology of reading in classical antiquity; Knox, B. M. W. (1968) Silent reading in antiquity.</a:t>
            </a:r>
          </a:p>
          <a:p>
            <a:r>
              <a:rPr lang="en-US" dirty="0"/>
              <a:t>Image (pulled, not AI-generated): Vergilius Augusteus, page with Virgil, Georgics, lines 141 ff. (as labeled on Wikimedia Commons), written in Roman square capitals with no spaces. Vatican Library (Biblioteca Apostolica Vaticana), MS Vat. lat. 3256 (three other leaves: Staatsbibliothek zu Berlin, Lat. fol. 416). Late antiquity, probably 4th century. Public domain (PD-Art). Converted to grayscale for this deck.</a:t>
            </a:r>
          </a:p>
          <a:p>
            <a:r>
              <a:rPr lang="en-US" dirty="0"/>
              <a:t>Source URL: https://commons.wikimedia.org/wiki/File:Vergilius_Augusteus,_Georgica_141.jpg</a:t>
            </a:r>
          </a:p>
          <a:p>
            <a:r>
              <a:rPr lang="en-US" dirty="0"/>
              <a:t>Holding and shelfmark: https://en.wikipedia.org/wiki/Vergilius_Augusteus ; https://commons.wikimedia.org/wiki/Category:Vergilius_Augusteus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is a basic skill for a different kind of material: oracy for speech, literacy for writing, numeracy for numbers. Algorithmacy is the one the paper proposes for AI: steering an AI system without handing over your judgment. (The term “oracy” was coined by Wilkinson in 1965.)</a:t>
            </a:r>
          </a:p>
          <a:p>
            <a:r>
              <a:rPr lang="en-US" dirty="0"/>
              <a:t>Real control needs two things at once. You have to see where the decision is, and you have to know how the tool works and fails. The paper proposes that if either one is missing, you lose control.</a:t>
            </a:r>
          </a:p>
          <a:p>
            <a:r>
              <a:rPr lang="en-US" dirty="0"/>
              <a:t>There are four places in an AI’s output where decisions hide: right before something can’t be undone, at a fork in the road, at a key assumption, and when the AI moves on to a new step.</a:t>
            </a:r>
          </a:p>
          <a:p>
            <a:r>
              <a:rPr lang="en-US" dirty="0"/>
              <a:t>Sources: Spaces in the Stream, Table 4.1, Proposition 1, sections 4.2–4.5; the formula is adapted from Hoover &amp; Gough (1990); Ronacher (2025); Zacks et al. (2009); Kumar et al. (2023).</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Old manuscripts ran words together with no spaces, so readers had to work line by line to find where one word ended. AI chat output does something similar with decisions: it streams one smooth block of text and does not mark where the real choices are. Card 1: GPT-4o’s API streams about 45 words per second (Xiao &amp; Yang, 2025). Adults read English non-fiction silently at about 238 words a minute, about 4 per second (Brysbaert, 2019). In Xiao &amp; Yang’s study, even the 99th-percentile comfortable streaming speed was about 12 words per second for hard text and 21 for easy text. Card 2: Each new word popping up at the bottom can grab attention, so your eyes follow the cursor instead of going back to check. This is the paper’s proposal, built on Yantis &amp; Jonides (1984) and Wolfe (2021); it has not been tested on AI streams yet. Card 3: When the window scrolls by itself, earlier text slides out of view. In a lab study that turned words into x’s once the eyes passed them, so readers could not look back, comprehension fell from 78% to 71% (Schotter, Tran &amp; Rayner, 2014). Sources: Brysbaert, M. (2019) How many words do we read per minute? Journal of Memory and Language 109, 104047, https://doi.org/10.1016/j.jml.2019.104047 ; Xiao, C. &amp; Yang, B. (2025) Streaming, fast and slow, UIST ’25, https://doi.org/10.1145/3746059.3747721 ; Liu et al. (2024); Yantis &amp; Jonides (1984); Wolfe (2021); Schotter, Tran &amp; Rayner (2014), https://doi.org/10.1177/0956797614531148 ; Booth &amp; Weger (2013).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When blank spaces came into writing, readers could finally see where one word ended and the next began. Decision Marks are meant to do the same job for AI output. This is a design proposal; it has not been tested yet. First, the stream stops on its own when the AI reaches a real choice or something it can’t undo, so nobody is rushed. Second, clear breaks split the long scroll into sections and point out key assumptions. Third, the page stops scrolling while you decide, so you can look back up and check earlier facts. Sources: Spaces in the Stream §4.6–4.8; Rayner, Fischer &amp; Pollatsek (1998); Zacks, Speer &amp; Reynolds (2009); Schotter, Tran &amp; Rayner (2014).</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a mock-up of a chat with Decision Marks. The first mark points out a key assumption and lets you check its source. The second mark shows where a new step starts. The third mark shows three options side by side, with none picked for you. The last mark stops the stream before any files change, and the page stays still so you can scroll up. The panel on the right sums up the three ideas. The options, times, and file count are made-up examples, not measured results.</a:t>
            </a:r>
          </a:p>
          <a:p>
            <a:r>
              <a:rPr lang="en-US" dirty="0"/>
              <a:t>Image (made by script for this talk, not AI-generated, not a screenshot): drawn with Python (PIL) in IBM Plex fonts (draw_g4.py).</a:t>
            </a:r>
          </a:p>
          <a:p>
            <a:r>
              <a:rPr lang="en-US" dirty="0"/>
              <a:t>Source: Spaces in the Stream §4.5, §4.9, §5.2.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7th and 8th centuries, Irish and then Anglo-Saxon scribes started leaving blank spaces between words. Latin was a foreign language to them, and the spaces made it easier to read. The habit reached the rest of Europe only in the late 10th century (Saenger, 1997).</a:t>
            </a:r>
          </a:p>
          <a:p>
            <a:r>
              <a:rPr lang="en-US" dirty="0"/>
              <a:t>That small change let the eye find each word without sounding it out. Silent reading existed before, but spacing made fast, silent reading much easier.</a:t>
            </a:r>
          </a:p>
          <a:p>
            <a:r>
              <a:rPr lang="en-US" dirty="0"/>
              <a:t>The numbers: take the spaces out of English text and skilled adults read 44–58% slower (54% for sentences and 44% for passages in Experiment 1; 58% in Experiment 2). In sentences, the share of eye movements that jump backward rises from 9.7% to 17.3%, and the eyes land near the start of words instead of just left of the middle (Rayner, Fischer &amp; Pollatsek, 1998, Table 1, pp. 1132, 1138).</a:t>
            </a:r>
          </a:p>
          <a:p>
            <a:r>
              <a:rPr lang="en-US" dirty="0"/>
              <a:t>Sources: Parkes, M. B. (1992) Pause and Effect: An Introduction to the History of Punctuation in the West, Scolar Press; Saenger, P. (1997) Space Between Words: The Origins of Silent Reading, Stanford University Press, https://www.sup.org/books/literary-studies-and-literature/space-between-words ; Rayner, Fischer &amp; Pollatsek (1998), Unspaced text interferes with both word identification and eye movement control, Vision Research 38(8), 1129–1144: https://doi.org/10.1016/s0042-6989(97)00274-5 ; Drieghe, Fitzsimmons &amp; Liversedge (2017).</a:t>
            </a:r>
          </a:p>
          <a:p>
            <a:r>
              <a:rPr lang="en-US" dirty="0"/>
              <a:t>Image 1 (pulled, not AI-generated): Vergilius Augusteus, Georgics 1.141 ff., Vatican Library, MS Vat. lat. 3256, probably 4th century. Public domain. Grayscale. Source URL: https://commons.wikimedia.org/wiki/File:Vergilius_Augusteus,_Georgica_141.jpg</a:t>
            </a:r>
          </a:p>
          <a:p>
            <a:r>
              <a:rPr lang="en-US" dirty="0"/>
              <a:t>Image 2 (pulled, not AI-generated): Book of Durrow, folio 7r, Trinity College Dublin Library, IE TCD MS 57, made c. 700 (where it was made, Ireland, Iona or Northumbria, is debated, so the caption says Insular). Photo by Trinity College Dublin Library, Digital Collections. License: CC BY 4.0 (https://creativecommons.org/licenses/by/4.0/), credit: The Board of Trinity College Dublin. Cropped and converted to grayscale for this deck. Source URL: https://commons.wikimedia.org/wiki/File:IE_TCD_MS_57_fol.7r.jpg ; TCD record: https://doi.org/10.48495/wm117t53k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AI agents write the questions they ask you and the answers you get to pick from. That means you steer less. Mostly you say yes to a plan the AI already made.</a:t>
            </a:r>
          </a:p>
          <a:p>
            <a:r>
              <a:rPr lang="en-US" dirty="0"/>
              <a:t>Top row: the tool pauses mainly for permission, plan approval, or a question the AI wrote. The plan shows one approach, leaves out the others, and the menu puts “use auto mode” first. Anthropic’s docs pitch auto mode as a way of “reducing prompt fatigue.”</a:t>
            </a:r>
          </a:p>
          <a:p>
            <a:r>
              <a:rPr lang="en-US" dirty="0"/>
              <a:t>Bottom row (a proposal, not a shipped product): with Decision Experience Design, the interface pauses at every real decision, shows the real options side by side with no default picked, and lets you choose.</a:t>
            </a:r>
          </a:p>
          <a:p>
            <a:r>
              <a:rPr lang="en-US" dirty="0"/>
              <a:t>Sources: Spaces in the Stream, Table 3.1 and sections 3.1, 3.5, 4.1; Stark &amp; Vanden Broeck (2024); Johnson (2000); Kim et al. (2025); Steyvers et al. (2025); Anthropic (2026a) on “prompt fatigue.”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normal picture is that people prompt the AI. In today’s coding tools it often runs the other way: the AI writes the questions and the plan, and the person picks an answer.</a:t>
            </a:r>
          </a:p>
          <a:p>
            <a:r>
              <a:rPr lang="en-US" dirty="0"/>
              <a:t>01: Plan mode appears in the Claude Code changelog by June 2025 (v1.0.33). As of December 2025, its instructions told the AI to “Include only your recommended approach, not all alternatives” (Ronacher, 2025). 02 (October 2025): v2.0.21 added an interactive question tool (now AskUserQuestion) that lets the AI write multiple-choice questions for the user. Until July 2026 (v2.1.200), these questions auto-continued by default if the user did not answer; now they stay open unless you set a timeout. Permission prompts and plan approval never auto-resolve. 03: “Yes, and use auto mode” is the first option on the plan approval menu (Anthropic docs). In August 2026 (v2.1.247), Bash permission prompts gained a “Yes, and switch to auto mode” option, and from September 2026 (v2.1.283–2.1.284) auto mode became the starting mode on every plan and provider (earlier it was the default only on Pro, Max and Team). Anthropic’s docs list auto mode as being for “reducing prompt fatigue.”</a:t>
            </a:r>
          </a:p>
          <a:p>
            <a:r>
              <a:rPr lang="en-US" dirty="0"/>
              <a:t>Image (made by script for this talk, not AI-generated, not a screenshot): a re-created black-and-white terminal view drawn with Python (PIL) in IBM Plex Mono. The plan-menu wording “Yes, and use auto mode / Yes, manually approve edits / No, keep planning” follows Anthropic’s Claude Code docs; the session-handling question and its options are made-up examples.</a:t>
            </a:r>
          </a:p>
          <a:p>
            <a:r>
              <a:rPr lang="en-US" dirty="0"/>
              <a:t>Sources: Anthropic, Claude Code docs, Choose a permission mode: https://code.claude.com/docs/en/permission-modes ; Tools reference (AskUserQuestion): https://code.claude.com/docs/en/tools-reference ; Claude Code changelog: https://github.com/anthropics/claude-code/blob/main/CHANGELOG.md ; Ronacher, A. (2025, Dec. 17) What actually is Claude Code’s plan mode? https://lucumr.pocoo.org/2025/12/17/what-is-plan-mode/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G1Img1" Type="http://schemas.openxmlformats.org/officeDocument/2006/relationships/image" Target="../media/g1_scriptio.jpg"/><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G1Img1" Type="http://schemas.openxmlformats.org/officeDocument/2006/relationships/image" Target="../media/g1_scriptio.jpg"/><Relationship Id="rIdG1Img2" Type="http://schemas.openxmlformats.org/officeDocument/2006/relationships/image" Target="../media/g1_durrow.jpg"/><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6.xml.rels><?xml version='1.0' encoding='UTF-8' standalone='yes'?>
<Relationships xmlns="http://schemas.openxmlformats.org/package/2006/relationships"><Relationship Id="rIdG1Img1" Type="http://schemas.openxmlformats.org/officeDocument/2006/relationships/image" Target="../media/g2_claude_prompt.png"/><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G1Img1" Type="http://schemas.openxmlformats.org/officeDocument/2006/relationships/image" Target="../media/g3_decision_marks_ui.png"/><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05256" y="3882542"/>
            <a:ext cx="10381183" cy="2975458"/>
          </a:xfrm>
          <a:prstGeom prst="rect">
            <a:avLst/>
          </a:prstGeom>
          <a:solidFill>
            <a:srgbClr val="000000">
              <a:alpha val="73000"/>
            </a:srgbClr>
          </a:solidFill>
          <a:ln/>
        </p:spPr>
      </p:sp>
      <p:sp>
        <p:nvSpPr>
          <p:cNvPr id="3" name="Text 1"/>
          <p:cNvSpPr/>
          <p:nvPr/>
        </p:nvSpPr>
        <p:spPr>
          <a:xfrm>
            <a:off x="1666951" y="553212"/>
            <a:ext cx="3657600" cy="215798"/>
          </a:xfrm>
          <a:prstGeom prst="rect">
            <a:avLst/>
          </a:prstGeom>
          <a:noFill/>
          <a:ln/>
        </p:spPr>
        <p:txBody>
          <a:bodyPr wrap="square" rtlCol="0" anchor="t">
            <a:noAutofit/>
          </a:bodyPr>
          <a:lstStyle/>
          <a:p>
            <a:pPr algn="l">
              <a:buNone/>
            </a:pPr>
            <a:r>
              <a:rPr lang="en-US" sz="800" b="0" i="0" dirty="0">
                <a:solidFill>
                  <a:srgbClr val="000000"/>
                </a:solidFill>
                <a:latin typeface="IBM Plex Sans"/>
                <a:ea typeface="IBM Plex Sans"/>
                <a:cs typeface="IBM Plex Sans"/>
              </a:rPr>
              <a:t>Roger Hunt  ·  Algorithmacy Lab  ·  2026</a:t>
            </a:r>
          </a:p>
        </p:txBody>
      </p:sp>
      <p:sp>
        <p:nvSpPr>
          <p:cNvPr id="4" name="Shape 2"/>
          <p:cNvSpPr/>
          <p:nvPr/>
        </p:nvSpPr>
        <p:spPr>
          <a:xfrm>
            <a:off x="980237" y="601675"/>
            <a:ext cx="125273" cy="125273"/>
          </a:xfrm>
          <a:prstGeom prst="ellipse">
            <a:avLst/>
          </a:prstGeom>
          <a:solidFill>
            <a:srgbClr val="262626"/>
          </a:solidFill>
          <a:ln/>
        </p:spPr>
      </p:sp>
      <p:sp>
        <p:nvSpPr>
          <p:cNvPr id="5" name="Shape 3"/>
          <p:cNvSpPr/>
          <p:nvPr/>
        </p:nvSpPr>
        <p:spPr>
          <a:xfrm>
            <a:off x="1010412" y="631850"/>
            <a:ext cx="64922" cy="64922"/>
          </a:xfrm>
          <a:prstGeom prst="ellipse">
            <a:avLst/>
          </a:prstGeom>
          <a:noFill/>
          <a:ln w="9525">
            <a:solidFill>
              <a:srgbClr val="FFFFFF"/>
            </a:solidFill>
            <a:prstDash val="solid"/>
          </a:ln>
        </p:spPr>
      </p:sp>
      <p:sp>
        <p:nvSpPr>
          <p:cNvPr id="6" name="Shape 4"/>
          <p:cNvSpPr/>
          <p:nvPr/>
        </p:nvSpPr>
        <p:spPr>
          <a:xfrm>
            <a:off x="1145743" y="601675"/>
            <a:ext cx="125273" cy="125273"/>
          </a:xfrm>
          <a:prstGeom prst="ellipse">
            <a:avLst/>
          </a:prstGeom>
          <a:solidFill>
            <a:srgbClr val="3F3F3F"/>
          </a:solidFill>
          <a:ln/>
        </p:spPr>
      </p:sp>
      <p:sp>
        <p:nvSpPr>
          <p:cNvPr id="7" name="Shape 5"/>
          <p:cNvSpPr/>
          <p:nvPr/>
        </p:nvSpPr>
        <p:spPr>
          <a:xfrm>
            <a:off x="1175918" y="631850"/>
            <a:ext cx="64922" cy="64922"/>
          </a:xfrm>
          <a:prstGeom prst="ellipse">
            <a:avLst/>
          </a:prstGeom>
          <a:noFill/>
          <a:ln w="9525">
            <a:solidFill>
              <a:srgbClr val="FFFFFF"/>
            </a:solidFill>
            <a:prstDash val="solid"/>
          </a:ln>
        </p:spPr>
      </p:sp>
      <p:sp>
        <p:nvSpPr>
          <p:cNvPr id="8" name="Shape 6"/>
          <p:cNvSpPr/>
          <p:nvPr/>
        </p:nvSpPr>
        <p:spPr>
          <a:xfrm>
            <a:off x="1311250" y="601675"/>
            <a:ext cx="125273" cy="125273"/>
          </a:xfrm>
          <a:prstGeom prst="ellipse">
            <a:avLst/>
          </a:prstGeom>
          <a:solidFill>
            <a:srgbClr val="7F7F7F"/>
          </a:solidFill>
          <a:ln/>
        </p:spPr>
      </p:sp>
      <p:sp>
        <p:nvSpPr>
          <p:cNvPr id="9" name="Shape 7"/>
          <p:cNvSpPr/>
          <p:nvPr/>
        </p:nvSpPr>
        <p:spPr>
          <a:xfrm>
            <a:off x="1341425" y="631850"/>
            <a:ext cx="64922" cy="64922"/>
          </a:xfrm>
          <a:prstGeom prst="ellipse">
            <a:avLst/>
          </a:prstGeom>
          <a:noFill/>
          <a:ln w="9525">
            <a:solidFill>
              <a:srgbClr val="FFFFFF"/>
            </a:solidFill>
            <a:prstDash val="solid"/>
          </a:ln>
        </p:spPr>
      </p:sp>
      <p:sp>
        <p:nvSpPr>
          <p:cNvPr id="10" name="Shape 8"/>
          <p:cNvSpPr/>
          <p:nvPr/>
        </p:nvSpPr>
        <p:spPr>
          <a:xfrm>
            <a:off x="1472184" y="601675"/>
            <a:ext cx="125273" cy="125273"/>
          </a:xfrm>
          <a:prstGeom prst="ellipse">
            <a:avLst/>
          </a:prstGeom>
          <a:solidFill>
            <a:srgbClr val="A5A5A5"/>
          </a:solidFill>
          <a:ln/>
        </p:spPr>
      </p:sp>
      <p:sp>
        <p:nvSpPr>
          <p:cNvPr id="11" name="Shape 9"/>
          <p:cNvSpPr/>
          <p:nvPr/>
        </p:nvSpPr>
        <p:spPr>
          <a:xfrm>
            <a:off x="1502359" y="631850"/>
            <a:ext cx="64922" cy="64922"/>
          </a:xfrm>
          <a:prstGeom prst="ellipse">
            <a:avLst/>
          </a:prstGeom>
          <a:noFill/>
          <a:ln w="9525">
            <a:solidFill>
              <a:srgbClr val="FFFFFF"/>
            </a:solidFill>
            <a:prstDash val="solid"/>
          </a:ln>
        </p:spPr>
      </p:sp>
      <p:sp>
        <p:nvSpPr>
          <p:cNvPr id="12" name="Shape 10"/>
          <p:cNvSpPr/>
          <p:nvPr/>
        </p:nvSpPr>
        <p:spPr>
          <a:xfrm>
            <a:off x="10171786" y="1825142"/>
            <a:ext cx="0" cy="2231136"/>
          </a:xfrm>
          <a:prstGeom prst="line">
            <a:avLst/>
          </a:prstGeom>
          <a:noFill/>
          <a:ln w="9525">
            <a:solidFill>
              <a:srgbClr val="0C0C0C"/>
            </a:solidFill>
            <a:prstDash val="solid"/>
          </a:ln>
        </p:spPr>
      </p:sp>
      <p:sp>
        <p:nvSpPr>
          <p:cNvPr id="13" name="Shape 11"/>
          <p:cNvSpPr/>
          <p:nvPr/>
        </p:nvSpPr>
        <p:spPr>
          <a:xfrm>
            <a:off x="10171786" y="2583180"/>
            <a:ext cx="0" cy="713232"/>
          </a:xfrm>
          <a:prstGeom prst="line">
            <a:avLst/>
          </a:prstGeom>
          <a:noFill/>
          <a:ln w="69850">
            <a:solidFill>
              <a:srgbClr val="0C0C0C"/>
            </a:solidFill>
            <a:prstDash val="solid"/>
          </a:ln>
        </p:spPr>
      </p:sp>
      <p:sp>
        <p:nvSpPr>
          <p:cNvPr id="14" name="Shape 12"/>
          <p:cNvSpPr/>
          <p:nvPr/>
        </p:nvSpPr>
        <p:spPr>
          <a:xfrm>
            <a:off x="2043684" y="1825142"/>
            <a:ext cx="0" cy="2231136"/>
          </a:xfrm>
          <a:prstGeom prst="line">
            <a:avLst/>
          </a:prstGeom>
          <a:noFill/>
          <a:ln w="9525">
            <a:solidFill>
              <a:srgbClr val="0C0C0C"/>
            </a:solidFill>
            <a:prstDash val="solid"/>
          </a:ln>
        </p:spPr>
      </p:sp>
      <p:sp>
        <p:nvSpPr>
          <p:cNvPr id="15" name="Shape 13"/>
          <p:cNvSpPr/>
          <p:nvPr/>
        </p:nvSpPr>
        <p:spPr>
          <a:xfrm>
            <a:off x="2043684" y="2583180"/>
            <a:ext cx="0" cy="713232"/>
          </a:xfrm>
          <a:prstGeom prst="line">
            <a:avLst/>
          </a:prstGeom>
          <a:noFill/>
          <a:ln w="69850">
            <a:solidFill>
              <a:srgbClr val="0C0C0C"/>
            </a:solidFill>
            <a:prstDash val="solid"/>
          </a:ln>
        </p:spPr>
      </p:sp>
      <p:sp>
        <p:nvSpPr>
          <p:cNvPr id="16" name="Text 14"/>
          <p:cNvSpPr/>
          <p:nvPr/>
        </p:nvSpPr>
        <p:spPr>
          <a:xfrm>
            <a:off x="2651760" y="2057400"/>
            <a:ext cx="6885432" cy="685800"/>
          </a:xfrm>
          <a:prstGeom prst="rect">
            <a:avLst/>
          </a:prstGeom>
          <a:noFill/>
          <a:ln/>
        </p:spPr>
        <p:txBody>
          <a:bodyPr wrap="square" rtlCol="0" anchor="t">
            <a:noAutofit/>
          </a:bodyPr>
          <a:lstStyle/>
          <a:p>
            <a:pPr algn="ctr">
              <a:lnSpc>
                <a:spcPct val="114999"/>
              </a:lnSpc>
              <a:buNone/>
            </a:pPr>
            <a:r>
              <a:rPr lang="en-US" sz="1300" b="0" dirty="0" spc="200">
                <a:solidFill>
                  <a:srgbClr val="000000"/>
                </a:solidFill>
                <a:latin typeface="DM Serif Display"/>
                <a:ea typeface="DM Serif Display"/>
                <a:cs typeface="DM Serif Display"/>
              </a:rPr>
              <a:t>DECISION EXPERIENCE DESIGN · HUMAN FACTORS</a:t>
            </a:r>
          </a:p>
        </p:txBody>
      </p:sp>
      <p:sp>
        <p:nvSpPr>
          <p:cNvPr id="17" name="Text 15"/>
          <p:cNvSpPr/>
          <p:nvPr/>
        </p:nvSpPr>
        <p:spPr>
          <a:xfrm>
            <a:off x="5405933" y="3300070"/>
            <a:ext cx="1380744" cy="421538"/>
          </a:xfrm>
          <a:prstGeom prst="rect">
            <a:avLst/>
          </a:prstGeom>
          <a:noFill/>
          <a:ln/>
        </p:spPr>
        <p:txBody>
          <a:bodyPr wrap="square" rtlCol="0" anchor="t">
            <a:noAutofit/>
          </a:bodyPr>
          <a:lstStyle/>
          <a:p>
            <a:pPr algn="ctr">
              <a:buNone/>
            </a:pPr>
            <a:r>
              <a:rPr lang="en-US" sz="2800" b="0" i="0" dirty="0">
                <a:solidFill>
                  <a:srgbClr val="000000"/>
                </a:solidFill>
                <a:latin typeface="DM Serif Display"/>
                <a:ea typeface="DM Serif Display"/>
                <a:cs typeface="DM Serif Display"/>
              </a:rPr>
              <a:t>-2026-</a:t>
            </a:r>
          </a:p>
        </p:txBody>
      </p:sp>
      <p:sp>
        <p:nvSpPr>
          <p:cNvPr id="18" name="Text 16"/>
          <p:cNvSpPr/>
          <p:nvPr/>
        </p:nvSpPr>
        <p:spPr>
          <a:xfrm>
            <a:off x="9052560" y="464515"/>
            <a:ext cx="2308860" cy="413309"/>
          </a:xfrm>
          <a:prstGeom prst="rect">
            <a:avLst/>
          </a:prstGeom>
          <a:noFill/>
          <a:ln/>
        </p:spPr>
        <p:txBody>
          <a:bodyPr wrap="square" rtlCol="0" anchor="t">
            <a:noAutofit/>
          </a:bodyPr>
          <a:lstStyle/>
          <a:p>
            <a:pPr algn="r">
              <a:buNone/>
            </a:pPr>
            <a:r>
              <a:rPr lang="en-US" sz="1100" b="0" i="0" dirty="0">
                <a:solidFill>
                  <a:srgbClr val="000000"/>
                </a:solidFill>
                <a:latin typeface="DM Serif Display"/>
                <a:ea typeface="DM Serif Display"/>
                <a:cs typeface="DM Serif Display"/>
              </a:rPr>
              <a:t>_ DXD · 2026 _</a:t>
            </a:r>
          </a:p>
        </p:txBody>
      </p:sp>
      <p:sp>
        <p:nvSpPr>
          <p:cNvPr id="19" name="Text 17"/>
          <p:cNvSpPr/>
          <p:nvPr/>
        </p:nvSpPr>
        <p:spPr>
          <a:xfrm>
            <a:off x="1069848" y="4069080"/>
            <a:ext cx="10058400" cy="1234440"/>
          </a:xfrm>
          <a:prstGeom prst="rect">
            <a:avLst/>
          </a:prstGeom>
          <a:noFill/>
          <a:ln/>
        </p:spPr>
        <p:txBody>
          <a:bodyPr wrap="square" rtlCol="0" anchor="t">
            <a:noAutofit/>
          </a:bodyPr>
          <a:lstStyle/>
          <a:p>
            <a:pPr algn="ctr">
              <a:buNone/>
            </a:pPr>
            <a:r>
              <a:rPr lang="en-US" sz="7200" b="0" i="0" dirty="0">
                <a:solidFill>
                  <a:srgbClr val="FFFFFF"/>
                </a:solidFill>
                <a:latin typeface="DM Serif Display"/>
                <a:ea typeface="DM Serif Display"/>
                <a:cs typeface="DM Serif Display"/>
              </a:rPr>
              <a:t>Spaces in the Stream</a:t>
            </a:r>
          </a:p>
        </p:txBody>
      </p:sp>
      <p:sp>
        <p:nvSpPr>
          <p:cNvPr id="20" name="Text 18"/>
          <p:cNvSpPr/>
          <p:nvPr/>
        </p:nvSpPr>
        <p:spPr>
          <a:xfrm>
            <a:off x="1069848" y="5303520"/>
            <a:ext cx="10058400" cy="457200"/>
          </a:xfrm>
          <a:prstGeom prst="rect">
            <a:avLst/>
          </a:prstGeom>
          <a:noFill/>
          <a:ln/>
        </p:spPr>
        <p:txBody>
          <a:bodyPr wrap="square" rtlCol="0" anchor="t">
            <a:noAutofit/>
          </a:bodyPr>
          <a:lstStyle/>
          <a:p>
            <a:pPr algn="ctr">
              <a:buNone/>
            </a:pPr>
            <a:r>
              <a:rPr lang="en-US" sz="1800" b="0" i="0" dirty="0">
                <a:solidFill>
                  <a:srgbClr val="FFFFFF"/>
                </a:solidFill>
                <a:latin typeface="IBM Plex Sans"/>
                <a:ea typeface="IBM Plex Sans"/>
                <a:cs typeface="IBM Plex Sans"/>
              </a:rPr>
              <a:t>How word spaces changed reading—and why AI streams need decision marks.</a:t>
            </a:r>
          </a:p>
        </p:txBody>
      </p:sp>
      <p:sp>
        <p:nvSpPr>
          <p:cNvPr id="21" name="Shape 19"/>
          <p:cNvSpPr/>
          <p:nvPr/>
        </p:nvSpPr>
        <p:spPr>
          <a:xfrm rot="16200000">
            <a:off x="5832043" y="6158484"/>
            <a:ext cx="592531" cy="277978"/>
          </a:xfrm>
          <a:prstGeom prst="roundRect">
            <a:avLst>
              <a:gd name="adj" fmla="val 50000"/>
            </a:avLst>
          </a:prstGeom>
          <a:noFill/>
          <a:ln w="9525">
            <a:solidFill>
              <a:srgbClr val="FFFFFF"/>
            </a:solidFill>
            <a:prstDash val="solid"/>
          </a:ln>
        </p:spPr>
      </p:sp>
      <p:sp>
        <p:nvSpPr>
          <p:cNvPr id="22" name="Shape 20"/>
          <p:cNvSpPr/>
          <p:nvPr/>
        </p:nvSpPr>
        <p:spPr>
          <a:xfrm>
            <a:off x="6056071" y="6372454"/>
            <a:ext cx="140818" cy="140818"/>
          </a:xfrm>
          <a:prstGeom prst="ellipse">
            <a:avLst/>
          </a:prstGeom>
          <a:solidFill>
            <a:srgbClr val="FFFFFF"/>
          </a:solidFill>
          <a:ln/>
        </p:spPr>
      </p:sp>
      <p:sp>
        <p:nvSpPr>
          <p:cNvPr id="23" name="Shape 21"/>
          <p:cNvSpPr/>
          <p:nvPr/>
        </p:nvSpPr>
        <p:spPr>
          <a:xfrm>
            <a:off x="6128309" y="6060643"/>
            <a:ext cx="0" cy="202082"/>
          </a:xfrm>
          <a:prstGeom prst="line">
            <a:avLst/>
          </a:prstGeom>
          <a:noFill/>
          <a:ln w="9525">
            <a:solidFill>
              <a:srgbClr val="FFFFF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610405" y="748894"/>
            <a:ext cx="6782105" cy="3429000"/>
          </a:xfrm>
          <a:prstGeom prst="rect">
            <a:avLst/>
          </a:prstGeom>
          <a:noFill/>
          <a:ln/>
        </p:spPr>
        <p:txBody>
          <a:bodyPr/>
          <a:p/>
        </p:txBody>
      </p:sp>
      <p:sp>
        <p:nvSpPr>
          <p:cNvPr id="3" name="Shape 1"/>
          <p:cNvSpPr/>
          <p:nvPr/>
        </p:nvSpPr>
        <p:spPr>
          <a:xfrm>
            <a:off x="4610405" y="761695"/>
            <a:ext cx="6782105" cy="3416198"/>
          </a:xfrm>
          <a:prstGeom prst="rect">
            <a:avLst/>
          </a:prstGeom>
          <a:solidFill>
            <a:srgbClr val="000000">
              <a:alpha val="63000"/>
            </a:srgbClr>
          </a:solidFill>
          <a:ln/>
        </p:spPr>
        <p:txBody>
          <a:bodyPr/>
          <a:p/>
        </p:txBody>
      </p:sp>
      <p:pic>
        <p:nvPicPr>
          <p:cNvPr id="29" name="G1 Picture 1" descr="Vergilius Augusteus, Georgics folio, square capitals written in scriptio continua (Wikimedia Commons, public domain)"/>
          <p:cNvPicPr>
            <a:picLocks noChangeAspect="1"/>
          </p:cNvPicPr>
          <p:nvPr/>
        </p:nvPicPr>
        <p:blipFill>
          <a:blip r:embed="rIdG1Img1"/>
          <a:srcRect l="0" t="6921" r="0" b="6921"/>
          <a:stretch>
            <a:fillRect/>
          </a:stretch>
        </p:blipFill>
        <p:spPr>
          <a:xfrm>
            <a:off x="4610405" y="748894"/>
            <a:ext cx="3063240" cy="3429000"/>
          </a:xfrm>
          <a:prstGeom prst="rect">
            <a:avLst/>
          </a:prstGeom>
          <a:ln w="9525">
            <a:solidFill>
              <a:srgbClr val="000000"/>
            </a:solidFill>
          </a:ln>
        </p:spPr>
      </p:pic>
      <p:sp>
        <p:nvSpPr>
          <p:cNvPr id="33" name="Image Credit"/>
          <p:cNvSpPr/>
          <p:nvPr/>
        </p:nvSpPr>
        <p:spPr>
          <a:xfrm>
            <a:off x="4610404" y="4206240"/>
            <a:ext cx="6782104" cy="228600"/>
          </a:xfrm>
          <a:prstGeom prst="rect">
            <a:avLst/>
          </a:prstGeom>
          <a:noFill/>
          <a:ln/>
        </p:spPr>
        <p:txBody>
          <a:bodyPr wrap="square" rtlCol="0" anchor="t">
            <a:noAutofit/>
          </a:bodyPr>
          <a:lstStyle/>
          <a:p>
            <a:pPr algn="l">
              <a:buNone/>
            </a:pPr>
            <a:r>
              <a:rPr lang="en-US" sz="750" b="1" i="0" dirty="0">
                <a:solidFill>
                  <a:srgbClr val="555555"/>
                </a:solidFill>
                <a:latin typeface="IBM Plex Sans"/>
                <a:ea typeface="IBM Plex Sans"/>
                <a:cs typeface="IBM Plex Sans"/>
              </a:rPr>
              <a:t>Image: </a:t>
            </a:r>
            <a:r>
              <a:rPr lang="en-US" sz="750" b="0" i="0" dirty="0">
                <a:solidFill>
                  <a:srgbClr val="555555"/>
                </a:solidFill>
                <a:latin typeface="IBM Plex Sans"/>
                <a:ea typeface="IBM Plex Sans"/>
                <a:cs typeface="IBM Plex Sans"/>
              </a:rPr>
              <a:t>Vergilius Augusteus (Virgil, Georgics 141 ff.), Vatican Library, Vat. lat. 3256, probably 4th c. Wikimedia Commons, public domain.</a:t>
            </a:r>
          </a:p>
        </p:txBody>
      </p:sp>
      <p:sp>
        <p:nvSpPr>
          <p:cNvPr id="4" name="Text 2"/>
          <p:cNvSpPr/>
          <p:nvPr/>
        </p:nvSpPr>
        <p:spPr>
          <a:xfrm>
            <a:off x="7882128" y="1965960"/>
            <a:ext cx="3337560" cy="2057400"/>
          </a:xfrm>
          <a:prstGeom prst="rect">
            <a:avLst/>
          </a:prstGeom>
          <a:noFill/>
          <a:ln/>
        </p:spPr>
        <p:txBody>
          <a:bodyPr wrap="square" rtlCol="0" anchor="t">
            <a:noAutofit/>
          </a:bodyPr>
          <a:lstStyle/>
          <a:p>
            <a:pPr algn="l">
              <a:lnSpc>
                <a:spcPct val="114999"/>
              </a:lnSpc>
              <a:spcAft>
                <a:spcPts val="700"/>
              </a:spcAft>
              <a:buNone/>
            </a:pPr>
            <a:r>
              <a:rPr lang="en-US" sz="1000" b="0" i="0" dirty="0">
                <a:solidFill>
                  <a:srgbClr val="FFFFFF"/>
                </a:solidFill>
                <a:latin typeface="IBM Plex Sans"/>
                <a:ea typeface="IBM Plex Sans"/>
                <a:cs typeface="IBM Plex Sans"/>
              </a:rPr>
              <a:t>With no spaces to show where words started or ended, readers usually sounded the letters out, aloud or under the breath, to hear the words. Skilled readers could also read silently (Knox, 1968).</a:t>
            </a:r>
          </a:p>
          <a:p>
            <a:pPr algn="l">
              <a:lnSpc>
                <a:spcPct val="114999"/>
              </a:lnSpc>
              <a:spcAft>
                <a:spcPts val="700"/>
              </a:spcAft>
              <a:buNone/>
            </a:pPr>
            <a:r>
              <a:rPr lang="en-US" sz="900" b="0" i="1" dirty="0">
                <a:solidFill>
                  <a:srgbClr val="FFFFFF"/>
                </a:solidFill>
                <a:latin typeface="IBM Plex Sans"/>
                <a:ea typeface="IBM Plex Sans"/>
                <a:cs typeface="IBM Plex Sans"/>
              </a:rPr>
              <a:t>Left: Vergilius Augusteus (probably 4th century CE), in square capitals. The letters run on with no spaces.</a:t>
            </a:r>
          </a:p>
        </p:txBody>
      </p:sp>
      <p:sp>
        <p:nvSpPr>
          <p:cNvPr id="32" name="G1 Ring Desc 3"/>
          <p:cNvSpPr/>
          <p:nvPr/>
        </p:nvSpPr>
        <p:spPr>
          <a:xfrm>
            <a:off x="10058400" y="4709160"/>
            <a:ext cx="1600200" cy="1463040"/>
          </a:xfrm>
          <a:prstGeom prst="rect">
            <a:avLst/>
          </a:prstGeom>
          <a:noFill/>
          <a:ln/>
        </p:spPr>
        <p:txBody>
          <a:bodyPr wrap="square" rtlCol="0" anchor="t">
            <a:noAutofit/>
          </a:bodyPr>
          <a:lstStyle/>
          <a:p>
            <a:pPr algn="l">
              <a:lnSpc>
                <a:spcPct val="110000"/>
              </a:lnSpc>
              <a:spcAft>
                <a:spcPts val="300"/>
              </a:spcAft>
              <a:buNone/>
            </a:pPr>
            <a:r>
              <a:rPr lang="en-US" sz="1200" b="1" i="0" dirty="0">
                <a:solidFill>
                  <a:srgbClr val="000000"/>
                </a:solidFill>
                <a:latin typeface="DM Serif Display"/>
                <a:ea typeface="DM Serif Display"/>
                <a:cs typeface="DM Serif Display"/>
              </a:rPr>
              <a:t>3. Hear Words</a:t>
            </a:r>
          </a:p>
          <a:p>
            <a:pPr algn="l">
              <a:lnSpc>
                <a:spcPct val="110000"/>
              </a:lnSpc>
              <a:spcAft>
                <a:spcPts val="300"/>
              </a:spcAft>
              <a:buNone/>
            </a:pPr>
            <a:r>
              <a:rPr lang="en-US" sz="950" b="0" i="0" dirty="0">
                <a:solidFill>
                  <a:srgbClr val="000000"/>
                </a:solidFill>
                <a:latin typeface="IBM Plex Sans"/>
                <a:ea typeface="IBM Plex Sans"/>
                <a:cs typeface="IBM Plex Sans"/>
              </a:rPr>
              <a:t>Recognize where words begin and end by ear</a:t>
            </a:r>
          </a:p>
        </p:txBody>
      </p:sp>
      <p:sp>
        <p:nvSpPr>
          <p:cNvPr id="31" name="G1 Ring Desc 2"/>
          <p:cNvSpPr/>
          <p:nvPr/>
        </p:nvSpPr>
        <p:spPr>
          <a:xfrm>
            <a:off x="6355080" y="4709160"/>
            <a:ext cx="1783080" cy="1463040"/>
          </a:xfrm>
          <a:prstGeom prst="rect">
            <a:avLst/>
          </a:prstGeom>
          <a:noFill/>
          <a:ln/>
        </p:spPr>
        <p:txBody>
          <a:bodyPr wrap="square" rtlCol="0" anchor="t">
            <a:noAutofit/>
          </a:bodyPr>
          <a:lstStyle/>
          <a:p>
            <a:pPr algn="l">
              <a:lnSpc>
                <a:spcPct val="110000"/>
              </a:lnSpc>
              <a:spcAft>
                <a:spcPts val="300"/>
              </a:spcAft>
              <a:buNone/>
            </a:pPr>
            <a:r>
              <a:rPr lang="en-US" sz="1200" b="1" i="0" dirty="0">
                <a:solidFill>
                  <a:srgbClr val="000000"/>
                </a:solidFill>
                <a:latin typeface="DM Serif Display"/>
                <a:ea typeface="DM Serif Display"/>
                <a:cs typeface="DM Serif Display"/>
              </a:rPr>
              <a:t>2. Sound Out</a:t>
            </a:r>
          </a:p>
          <a:p>
            <a:pPr algn="l">
              <a:lnSpc>
                <a:spcPct val="110000"/>
              </a:lnSpc>
              <a:spcAft>
                <a:spcPts val="300"/>
              </a:spcAft>
              <a:buNone/>
            </a:pPr>
            <a:r>
              <a:rPr lang="en-US" sz="950" b="0" i="0" dirty="0">
                <a:solidFill>
                  <a:srgbClr val="000000"/>
                </a:solidFill>
                <a:latin typeface="IBM Plex Sans"/>
                <a:ea typeface="IBM Plex Sans"/>
                <a:cs typeface="IBM Plex Sans"/>
              </a:rPr>
              <a:t>Say the syllables aloud or under the breath</a:t>
            </a:r>
          </a:p>
        </p:txBody>
      </p:sp>
      <p:sp>
        <p:nvSpPr>
          <p:cNvPr id="30" name="G1 Ring Desc 1"/>
          <p:cNvSpPr/>
          <p:nvPr/>
        </p:nvSpPr>
        <p:spPr>
          <a:xfrm>
            <a:off x="2926080" y="4709160"/>
            <a:ext cx="1481328" cy="1463040"/>
          </a:xfrm>
          <a:prstGeom prst="rect">
            <a:avLst/>
          </a:prstGeom>
          <a:noFill/>
          <a:ln/>
        </p:spPr>
        <p:txBody>
          <a:bodyPr wrap="square" rtlCol="0" anchor="t">
            <a:noAutofit/>
          </a:bodyPr>
          <a:lstStyle/>
          <a:p>
            <a:pPr algn="l">
              <a:lnSpc>
                <a:spcPct val="110000"/>
              </a:lnSpc>
              <a:spcAft>
                <a:spcPts val="300"/>
              </a:spcAft>
              <a:buNone/>
            </a:pPr>
            <a:r>
              <a:rPr lang="en-US" sz="1200" b="1" i="0" dirty="0">
                <a:solidFill>
                  <a:srgbClr val="000000"/>
                </a:solidFill>
                <a:latin typeface="DM Serif Display"/>
                <a:ea typeface="DM Serif Display"/>
                <a:cs typeface="DM Serif Display"/>
              </a:rPr>
              <a:t>1. Scan</a:t>
            </a:r>
          </a:p>
          <a:p>
            <a:pPr algn="l">
              <a:lnSpc>
                <a:spcPct val="110000"/>
              </a:lnSpc>
              <a:spcAft>
                <a:spcPts val="300"/>
              </a:spcAft>
              <a:buNone/>
            </a:pPr>
            <a:r>
              <a:rPr lang="en-US" sz="950" b="0" i="0" dirty="0">
                <a:solidFill>
                  <a:srgbClr val="000000"/>
                </a:solidFill>
                <a:latin typeface="IBM Plex Sans"/>
                <a:ea typeface="IBM Plex Sans"/>
                <a:cs typeface="IBM Plex Sans"/>
              </a:rPr>
              <a:t>Look at an unbroken wall of letters on the page</a:t>
            </a:r>
          </a:p>
        </p:txBody>
      </p:sp>
      <p:sp>
        <p:nvSpPr>
          <p:cNvPr id="5" name="Text 3"/>
          <p:cNvSpPr/>
          <p:nvPr/>
        </p:nvSpPr>
        <p:spPr>
          <a:xfrm>
            <a:off x="892454" y="685800"/>
            <a:ext cx="3566160" cy="1463040"/>
          </a:xfrm>
          <a:prstGeom prst="rect">
            <a:avLst/>
          </a:prstGeom>
          <a:noFill/>
          <a:ln/>
        </p:spPr>
        <p:txBody>
          <a:bodyPr wrap="square" rtlCol="0" anchor="t">
            <a:noAutofit/>
          </a:bodyPr>
          <a:lstStyle/>
          <a:p>
            <a:pPr algn="l">
              <a:lnSpc>
                <a:spcPct val="95000"/>
              </a:lnSpc>
              <a:buNone/>
            </a:pPr>
            <a:r>
              <a:rPr lang="en-US" sz="2800" b="0" i="0" dirty="0">
                <a:solidFill>
                  <a:srgbClr val="000000"/>
                </a:solidFill>
                <a:latin typeface="DM Serif Display"/>
                <a:ea typeface="DM Serif Display"/>
                <a:cs typeface="DM Serif Display"/>
              </a:rPr>
              <a:t>Scriptura Continua:</a:t>
            </a:r>
          </a:p>
          <a:p>
            <a:pPr algn="l">
              <a:lnSpc>
                <a:spcPct val="95000"/>
              </a:lnSpc>
              <a:buNone/>
            </a:pPr>
            <a:r>
              <a:rPr lang="en-US" sz="2800" b="0" i="0" dirty="0">
                <a:solidFill>
                  <a:srgbClr val="000000"/>
                </a:solidFill>
                <a:latin typeface="DM Serif Display"/>
                <a:ea typeface="DM Serif Display"/>
                <a:cs typeface="DM Serif Display"/>
              </a:rPr>
              <a:t>When Reading Relied on Speaking Aloud</a:t>
            </a:r>
          </a:p>
        </p:txBody>
      </p:sp>
      <p:sp>
        <p:nvSpPr>
          <p:cNvPr id="6" name="Text 4"/>
          <p:cNvSpPr/>
          <p:nvPr/>
        </p:nvSpPr>
        <p:spPr>
          <a:xfrm>
            <a:off x="892454" y="2240280"/>
            <a:ext cx="3474720" cy="2103120"/>
          </a:xfrm>
          <a:prstGeom prst="rect">
            <a:avLst/>
          </a:prstGeom>
          <a:noFill/>
          <a:ln/>
        </p:spPr>
        <p:txBody>
          <a:bodyPr wrap="square" rtlCol="0" anchor="t">
            <a:noAutofit/>
          </a:bodyPr>
          <a:lstStyle/>
          <a:p>
            <a:pPr algn="l">
              <a:lnSpc>
                <a:spcPct val="105000"/>
              </a:lnSpc>
              <a:spcAft>
                <a:spcPts val="600"/>
              </a:spcAft>
              <a:buNone/>
            </a:pPr>
            <a:r>
              <a:rPr lang="en-US" sz="1400" b="0" i="0" dirty="0">
                <a:solidFill>
                  <a:srgbClr val="000000"/>
                </a:solidFill>
                <a:latin typeface="DM Serif Display"/>
                <a:ea typeface="DM Serif Display"/>
                <a:cs typeface="DM Serif Display"/>
              </a:rPr>
              <a:t>By Roman imperial times, most Greek and Latin books ran the letters together, with no spaces and little punctuation.</a:t>
            </a:r>
          </a:p>
          <a:p>
            <a:pPr algn="l">
              <a:lnSpc>
                <a:spcPct val="105000"/>
              </a:lnSpc>
              <a:spcAft>
                <a:spcPts val="600"/>
              </a:spcAft>
              <a:buNone/>
            </a:pPr>
            <a:r>
              <a:rPr lang="en-US" sz="1200" b="1" i="0" dirty="0">
                <a:solidFill>
                  <a:srgbClr val="000000"/>
                </a:solidFill>
                <a:latin typeface="DM Serif Display"/>
                <a:ea typeface="DM Serif Display"/>
                <a:cs typeface="DM Serif Display"/>
              </a:rPr>
              <a:t>Without spaces on the page, the voice usually did the work that the layout did not.</a:t>
            </a:r>
          </a:p>
          <a:p>
            <a:pPr algn="l">
              <a:lnSpc>
                <a:spcPct val="105000"/>
              </a:lnSpc>
              <a:spcAft>
                <a:spcPts val="600"/>
              </a:spcAft>
              <a:buNone/>
            </a:pPr>
            <a:r>
              <a:rPr lang="en-US" sz="900" b="0" i="0" dirty="0">
                <a:solidFill>
                  <a:srgbClr val="595959"/>
                </a:solidFill>
                <a:latin typeface="IBM Plex Sans"/>
                <a:ea typeface="IBM Plex Sans"/>
                <a:cs typeface="IBM Plex Sans"/>
              </a:rPr>
              <a:t>Saenger 1997 · Johnson 2000 · Knox 1968</a:t>
            </a:r>
          </a:p>
        </p:txBody>
      </p:sp>
      <p:sp>
        <p:nvSpPr>
          <p:cNvPr id="7" name="Text 5"/>
          <p:cNvSpPr/>
          <p:nvPr/>
        </p:nvSpPr>
        <p:spPr>
          <a:xfrm>
            <a:off x="7882128" y="987552"/>
            <a:ext cx="3383280" cy="868680"/>
          </a:xfrm>
          <a:prstGeom prst="rect">
            <a:avLst/>
          </a:prstGeom>
          <a:noFill/>
          <a:ln/>
        </p:spPr>
        <p:txBody>
          <a:bodyPr wrap="square" rtlCol="0" anchor="t">
            <a:noAutofit/>
          </a:bodyPr>
          <a:lstStyle/>
          <a:p>
            <a:pPr algn="l">
              <a:lnSpc>
                <a:spcPct val="110000"/>
              </a:lnSpc>
              <a:buNone/>
            </a:pPr>
            <a:r>
              <a:rPr lang="en-US" sz="1100" b="0" i="0" dirty="0">
                <a:solidFill>
                  <a:srgbClr val="FFFFFF"/>
                </a:solidFill>
                <a:latin typeface="IBM Plex Mono"/>
                <a:ea typeface="IBM Plex Mono"/>
                <a:cs typeface="IBM Plex Mono"/>
              </a:rPr>
              <a:t>IN PRINCIPIO ERAT VERBVM</a:t>
            </a:r>
          </a:p>
          <a:p>
            <a:pPr algn="l">
              <a:lnSpc>
                <a:spcPct val="110000"/>
              </a:lnSpc>
              <a:buNone/>
            </a:pPr>
            <a:r>
              <a:rPr lang="en-US" sz="1100" b="0" i="0" dirty="0">
                <a:solidFill>
                  <a:srgbClr val="FFFFFF"/>
                </a:solidFill>
                <a:latin typeface="IBM Plex Mono"/>
                <a:ea typeface="IBM Plex Mono"/>
                <a:cs typeface="IBM Plex Mono"/>
              </a:rPr>
              <a:t>→</a:t>
            </a:r>
          </a:p>
          <a:p>
            <a:pPr algn="l">
              <a:lnSpc>
                <a:spcPct val="110000"/>
              </a:lnSpc>
              <a:buNone/>
            </a:pPr>
            <a:r>
              <a:rPr lang="en-US" sz="1100" b="1" i="0" dirty="0">
                <a:solidFill>
                  <a:srgbClr val="FFFFFF"/>
                </a:solidFill>
                <a:latin typeface="IBM Plex Mono"/>
                <a:ea typeface="IBM Plex Mono"/>
                <a:cs typeface="IBM Plex Mono"/>
              </a:rPr>
              <a:t>INPRINCIPIOERATVERBVM</a:t>
            </a:r>
          </a:p>
        </p:txBody>
      </p:sp>
      <p:sp>
        <p:nvSpPr>
          <p:cNvPr id="14" name="Shape 12"/>
          <p:cNvSpPr/>
          <p:nvPr/>
        </p:nvSpPr>
        <p:spPr>
          <a:xfrm>
            <a:off x="1100938" y="4483303"/>
            <a:ext cx="1726387" cy="1726387"/>
          </a:xfrm>
          <a:prstGeom prst="ellipse">
            <a:avLst/>
          </a:prstGeom>
          <a:noFill/>
          <a:ln w="12700">
            <a:solidFill>
              <a:srgbClr val="BFBFBF"/>
            </a:solidFill>
            <a:prstDash val="solid"/>
          </a:ln>
        </p:spPr>
        <p:txBody>
          <a:bodyPr/>
          <a:p/>
        </p:txBody>
      </p:sp>
      <p:sp>
        <p:nvSpPr>
          <p:cNvPr id="15" name="Shape 13"/>
          <p:cNvSpPr/>
          <p:nvPr/>
        </p:nvSpPr>
        <p:spPr>
          <a:xfrm>
            <a:off x="1438351" y="4836262"/>
            <a:ext cx="1023214" cy="1012241"/>
          </a:xfrm>
          <a:prstGeom prst="roundRect">
            <a:avLst>
              <a:gd name="adj" fmla="val 22000"/>
            </a:avLst>
          </a:prstGeom>
          <a:noFill/>
          <a:ln w="12700">
            <a:solidFill>
              <a:srgbClr val="BFBFBF"/>
            </a:solidFill>
            <a:prstDash val="solid"/>
          </a:ln>
        </p:spPr>
        <p:txBody>
          <a:bodyPr/>
          <a:p/>
        </p:txBody>
      </p:sp>
      <p:sp>
        <p:nvSpPr>
          <p:cNvPr id="16" name="Shape 14"/>
          <p:cNvSpPr/>
          <p:nvPr/>
        </p:nvSpPr>
        <p:spPr>
          <a:xfrm>
            <a:off x="1724851" y="5119689"/>
            <a:ext cx="450214" cy="445386"/>
          </a:xfrm>
          <a:prstGeom prst="ellipse">
            <a:avLst/>
          </a:prstGeom>
          <a:noFill/>
          <a:ln w="12700">
            <a:solidFill>
              <a:srgbClr val="BFBFBF"/>
            </a:solidFill>
            <a:prstDash val="solid"/>
          </a:ln>
        </p:spPr>
        <p:txBody>
          <a:bodyPr/>
          <a:p/>
        </p:txBody>
      </p:sp>
      <p:sp>
        <p:nvSpPr>
          <p:cNvPr id="17" name="Shape 15"/>
          <p:cNvSpPr/>
          <p:nvPr/>
        </p:nvSpPr>
        <p:spPr>
          <a:xfrm>
            <a:off x="4513478" y="4483303"/>
            <a:ext cx="1726387" cy="1726387"/>
          </a:xfrm>
          <a:prstGeom prst="ellipse">
            <a:avLst/>
          </a:prstGeom>
          <a:noFill/>
          <a:ln w="12700">
            <a:solidFill>
              <a:srgbClr val="BFBFBF"/>
            </a:solidFill>
            <a:prstDash val="solid"/>
          </a:ln>
        </p:spPr>
        <p:txBody>
          <a:bodyPr/>
          <a:p/>
        </p:txBody>
      </p:sp>
      <p:sp>
        <p:nvSpPr>
          <p:cNvPr id="18" name="Shape 16"/>
          <p:cNvSpPr/>
          <p:nvPr/>
        </p:nvSpPr>
        <p:spPr>
          <a:xfrm>
            <a:off x="4945075" y="4914900"/>
            <a:ext cx="863194" cy="863194"/>
          </a:xfrm>
          <a:prstGeom prst="roundRect">
            <a:avLst>
              <a:gd name="adj" fmla="val 22000"/>
            </a:avLst>
          </a:prstGeom>
          <a:noFill/>
          <a:ln w="12700">
            <a:solidFill>
              <a:srgbClr val="BFBFBF"/>
            </a:solidFill>
            <a:prstDash val="solid"/>
          </a:ln>
        </p:spPr>
        <p:txBody>
          <a:bodyPr/>
          <a:p/>
        </p:txBody>
      </p:sp>
      <p:sp>
        <p:nvSpPr>
          <p:cNvPr id="19" name="Shape 17"/>
          <p:cNvSpPr/>
          <p:nvPr/>
        </p:nvSpPr>
        <p:spPr>
          <a:xfrm>
            <a:off x="5186769" y="5156594"/>
            <a:ext cx="379805" cy="379805"/>
          </a:xfrm>
          <a:prstGeom prst="ellipse">
            <a:avLst/>
          </a:prstGeom>
          <a:noFill/>
          <a:ln w="12700">
            <a:solidFill>
              <a:srgbClr val="BFBFBF"/>
            </a:solidFill>
            <a:prstDash val="solid"/>
          </a:ln>
        </p:spPr>
        <p:txBody>
          <a:bodyPr/>
          <a:p/>
        </p:txBody>
      </p:sp>
      <p:sp>
        <p:nvSpPr>
          <p:cNvPr id="20" name="Shape 18"/>
          <p:cNvSpPr/>
          <p:nvPr/>
        </p:nvSpPr>
        <p:spPr>
          <a:xfrm>
            <a:off x="8258861" y="4483303"/>
            <a:ext cx="1726387" cy="1726387"/>
          </a:xfrm>
          <a:prstGeom prst="ellipse">
            <a:avLst/>
          </a:prstGeom>
          <a:noFill/>
          <a:ln w="12700">
            <a:solidFill>
              <a:srgbClr val="BFBFBF"/>
            </a:solidFill>
            <a:prstDash val="solid"/>
          </a:ln>
        </p:spPr>
        <p:txBody>
          <a:bodyPr/>
          <a:p/>
        </p:txBody>
      </p:sp>
      <p:sp>
        <p:nvSpPr>
          <p:cNvPr id="21" name="Shape 19"/>
          <p:cNvSpPr/>
          <p:nvPr/>
        </p:nvSpPr>
        <p:spPr>
          <a:xfrm>
            <a:off x="8690458" y="4914900"/>
            <a:ext cx="863194" cy="863194"/>
          </a:xfrm>
          <a:prstGeom prst="roundRect">
            <a:avLst>
              <a:gd name="adj" fmla="val 22000"/>
            </a:avLst>
          </a:prstGeom>
          <a:noFill/>
          <a:ln w="12700">
            <a:solidFill>
              <a:srgbClr val="BFBFBF"/>
            </a:solidFill>
            <a:prstDash val="solid"/>
          </a:ln>
        </p:spPr>
        <p:txBody>
          <a:bodyPr/>
          <a:p/>
        </p:txBody>
      </p:sp>
      <p:sp>
        <p:nvSpPr>
          <p:cNvPr id="22" name="Shape 20"/>
          <p:cNvSpPr/>
          <p:nvPr/>
        </p:nvSpPr>
        <p:spPr>
          <a:xfrm>
            <a:off x="8932152" y="5156594"/>
            <a:ext cx="379805" cy="379805"/>
          </a:xfrm>
          <a:prstGeom prst="ellipse">
            <a:avLst/>
          </a:prstGeom>
          <a:noFill/>
          <a:ln w="12700">
            <a:solidFill>
              <a:srgbClr val="BFBFBF"/>
            </a:solidFill>
            <a:prstDash val="solid"/>
          </a:ln>
        </p:spPr>
        <p:txBody>
          <a:bodyPr/>
          <a:p/>
        </p:txBody>
      </p:sp>
      <p:sp>
        <p:nvSpPr>
          <p:cNvPr id="23" name="Shape 21"/>
          <p:cNvSpPr/>
          <p:nvPr/>
        </p:nvSpPr>
        <p:spPr>
          <a:xfrm>
            <a:off x="1206094" y="4681728"/>
            <a:ext cx="232258" cy="232258"/>
          </a:xfrm>
          <a:prstGeom prst="ellipse">
            <a:avLst/>
          </a:prstGeom>
          <a:solidFill>
            <a:srgbClr val="A5A5A5"/>
          </a:solidFill>
          <a:ln/>
        </p:spPr>
        <p:txBody>
          <a:bodyPr/>
          <a:p/>
        </p:txBody>
      </p:sp>
      <p:sp>
        <p:nvSpPr>
          <p:cNvPr id="24" name="Shape 22"/>
          <p:cNvSpPr/>
          <p:nvPr/>
        </p:nvSpPr>
        <p:spPr>
          <a:xfrm>
            <a:off x="5907938" y="5782666"/>
            <a:ext cx="232258" cy="232258"/>
          </a:xfrm>
          <a:prstGeom prst="ellipse">
            <a:avLst/>
          </a:prstGeom>
          <a:solidFill>
            <a:srgbClr val="A5A5A5"/>
          </a:solidFill>
          <a:ln/>
        </p:spPr>
        <p:txBody>
          <a:bodyPr/>
          <a:p/>
        </p:txBody>
      </p:sp>
      <p:sp>
        <p:nvSpPr>
          <p:cNvPr id="25" name="Shape 23"/>
          <p:cNvSpPr/>
          <p:nvPr/>
        </p:nvSpPr>
        <p:spPr>
          <a:xfrm>
            <a:off x="9005011" y="6082589"/>
            <a:ext cx="232258" cy="232258"/>
          </a:xfrm>
          <a:prstGeom prst="ellipse">
            <a:avLst/>
          </a:prstGeom>
          <a:solidFill>
            <a:srgbClr val="A5A5A5"/>
          </a:solidFill>
          <a:ln/>
        </p:spPr>
        <p:txBody>
          <a:bodyPr/>
          <a:p/>
        </p:txBody>
      </p:sp>
      <p:sp>
        <p:nvSpPr>
          <p:cNvPr id="26" name="Text 24"/>
          <p:cNvSpPr/>
          <p:nvPr/>
        </p:nvSpPr>
        <p:spPr>
          <a:xfrm>
            <a:off x="909828" y="5003597"/>
            <a:ext cx="1986991" cy="554126"/>
          </a:xfrm>
          <a:prstGeom prst="rect">
            <a:avLst/>
          </a:prstGeom>
          <a:noFill/>
          <a:ln/>
        </p:spPr>
        <p:txBody>
          <a:bodyPr wrap="square" rtlCol="0" anchor="t">
            <a:noAutofit/>
          </a:bodyPr>
          <a:lstStyle/>
          <a:p>
            <a:pPr algn="ctr">
              <a:lnSpc>
                <a:spcPct val="100000"/>
              </a:lnSpc>
              <a:buNone/>
            </a:pPr>
            <a:r>
              <a:rPr lang="en-US" sz="1200" b="0" i="0" dirty="0">
                <a:solidFill>
                  <a:srgbClr val="000000"/>
                </a:solidFill>
                <a:latin typeface="DM Serif Display"/>
                <a:ea typeface="DM Serif Display"/>
                <a:cs typeface="DM Serif Display"/>
              </a:rPr>
              <a:t>SCAN</a:t>
            </a:r>
          </a:p>
        </p:txBody>
      </p:sp>
      <p:sp>
        <p:nvSpPr>
          <p:cNvPr id="27" name="Text 25"/>
          <p:cNvSpPr/>
          <p:nvPr/>
        </p:nvSpPr>
        <p:spPr>
          <a:xfrm>
            <a:off x="4300423" y="5003597"/>
            <a:ext cx="2136038" cy="554126"/>
          </a:xfrm>
          <a:prstGeom prst="rect">
            <a:avLst/>
          </a:prstGeom>
          <a:noFill/>
          <a:ln/>
        </p:spPr>
        <p:txBody>
          <a:bodyPr wrap="square" rtlCol="0" anchor="t">
            <a:noAutofit/>
          </a:bodyPr>
          <a:lstStyle/>
          <a:p>
            <a:pPr algn="ctr">
              <a:lnSpc>
                <a:spcPct val="100000"/>
              </a:lnSpc>
              <a:buNone/>
            </a:pPr>
            <a:r>
              <a:rPr lang="en-US" sz="1200" b="0" i="0" dirty="0">
                <a:solidFill>
                  <a:srgbClr val="000000"/>
                </a:solidFill>
                <a:latin typeface="DM Serif Display"/>
                <a:ea typeface="DM Serif Display"/>
                <a:cs typeface="DM Serif Display"/>
              </a:rPr>
              <a:t>SOUND</a:t>
            </a:r>
          </a:p>
          <a:p>
            <a:pPr algn="ctr">
              <a:lnSpc>
                <a:spcPct val="100000"/>
              </a:lnSpc>
              <a:buNone/>
            </a:pPr>
            <a:r>
              <a:rPr lang="en-US" sz="1200" b="0" i="0" dirty="0">
                <a:solidFill>
                  <a:srgbClr val="000000"/>
                </a:solidFill>
                <a:latin typeface="DM Serif Display"/>
                <a:ea typeface="DM Serif Display"/>
                <a:cs typeface="DM Serif Display"/>
              </a:rPr>
              <a:t>OUT</a:t>
            </a:r>
          </a:p>
        </p:txBody>
      </p:sp>
      <p:sp>
        <p:nvSpPr>
          <p:cNvPr id="28" name="Text 26"/>
          <p:cNvSpPr/>
          <p:nvPr/>
        </p:nvSpPr>
        <p:spPr>
          <a:xfrm>
            <a:off x="8366760" y="5003597"/>
            <a:ext cx="1508760" cy="554126"/>
          </a:xfrm>
          <a:prstGeom prst="rect">
            <a:avLst/>
          </a:prstGeom>
          <a:noFill/>
          <a:ln/>
        </p:spPr>
        <p:txBody>
          <a:bodyPr wrap="square" rtlCol="0" anchor="t">
            <a:noAutofit/>
          </a:bodyPr>
          <a:lstStyle/>
          <a:p>
            <a:pPr algn="ctr">
              <a:lnSpc>
                <a:spcPct val="100000"/>
              </a:lnSpc>
              <a:buNone/>
            </a:pPr>
            <a:r>
              <a:rPr lang="en-US" sz="1200" b="0" i="0" dirty="0">
                <a:solidFill>
                  <a:srgbClr val="000000"/>
                </a:solidFill>
                <a:latin typeface="DM Serif Display"/>
                <a:ea typeface="DM Serif Display"/>
                <a:cs typeface="DM Serif Display"/>
              </a:rPr>
              <a:t>HEAR</a:t>
            </a:r>
          </a:p>
          <a:p>
            <a:pPr algn="ctr">
              <a:lnSpc>
                <a:spcPct val="100000"/>
              </a:lnSpc>
              <a:buNone/>
            </a:pPr>
            <a:r>
              <a:rPr lang="en-US" sz="1200" b="0" i="0" dirty="0">
                <a:solidFill>
                  <a:srgbClr val="000000"/>
                </a:solidFill>
                <a:latin typeface="DM Serif Display"/>
                <a:ea typeface="DM Serif Display"/>
                <a:cs typeface="DM Serif Display"/>
              </a:rPr>
              <a:t>WORDS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86384" y="685800"/>
            <a:ext cx="4846320" cy="1188720"/>
          </a:xfrm>
          <a:prstGeom prst="rect">
            <a:avLst/>
          </a:prstGeom>
          <a:noFill/>
          <a:ln/>
        </p:spPr>
        <p:txBody>
          <a:bodyPr wrap="square" rtlCol="0" anchor="t">
            <a:noAutofit/>
          </a:bodyPr>
          <a:lstStyle/>
          <a:p>
            <a:pPr algn="l">
              <a:lnSpc>
                <a:spcPct val="95000"/>
              </a:lnSpc>
              <a:buNone/>
            </a:pPr>
            <a:r>
              <a:rPr lang="en-US" sz="3000" b="0" i="0" dirty="0">
                <a:solidFill>
                  <a:srgbClr val="000000"/>
                </a:solidFill>
                <a:latin typeface="DM Serif Display"/>
                <a:ea typeface="DM Serif Display"/>
                <a:cs typeface="DM Serif Display"/>
              </a:rPr>
              <a:t>How Spaces Between</a:t>
            </a:r>
          </a:p>
          <a:p>
            <a:pPr algn="l">
              <a:lnSpc>
                <a:spcPct val="95000"/>
              </a:lnSpc>
              <a:buNone/>
            </a:pPr>
            <a:r>
              <a:rPr lang="en-US" sz="3000" b="0" i="0" dirty="0">
                <a:solidFill>
                  <a:srgbClr val="000000"/>
                </a:solidFill>
                <a:latin typeface="DM Serif Display"/>
                <a:ea typeface="DM Serif Display"/>
                <a:cs typeface="DM Serif Display"/>
              </a:rPr>
              <a:t>Words Changed Reading</a:t>
            </a:r>
          </a:p>
        </p:txBody>
      </p:sp>
      <p:sp>
        <p:nvSpPr>
          <p:cNvPr id="3" name="Text 1"/>
          <p:cNvSpPr/>
          <p:nvPr/>
        </p:nvSpPr>
        <p:spPr>
          <a:xfrm>
            <a:off x="786384" y="1965960"/>
            <a:ext cx="4846320" cy="685800"/>
          </a:xfrm>
          <a:prstGeom prst="rect">
            <a:avLst/>
          </a:prstGeom>
          <a:noFill/>
          <a:ln/>
        </p:spPr>
        <p:txBody>
          <a:bodyPr wrap="square" rtlCol="0" anchor="t">
            <a:noAutofit/>
          </a:bodyPr>
          <a:lstStyle/>
          <a:p>
            <a:pPr algn="l">
              <a:lnSpc>
                <a:spcPct val="110000"/>
              </a:lnSpc>
              <a:buNone/>
            </a:pPr>
            <a:r>
              <a:rPr lang="en-US" sz="1300" b="0" i="0" dirty="0">
                <a:solidFill>
                  <a:srgbClr val="000000"/>
                </a:solidFill>
                <a:latin typeface="DM Serif Display"/>
                <a:ea typeface="DM Serif Display"/>
                <a:cs typeface="DM Serif Display"/>
              </a:rPr>
              <a:t>Blank spaces moved the work of finding words from the voice to the eye.</a:t>
            </a:r>
          </a:p>
        </p:txBody>
      </p:sp>
      <p:sp>
        <p:nvSpPr>
          <p:cNvPr id="4" name="Text 2"/>
          <p:cNvSpPr/>
          <p:nvPr/>
        </p:nvSpPr>
        <p:spPr>
          <a:xfrm>
            <a:off x="786384" y="2743200"/>
            <a:ext cx="4846320" cy="868680"/>
          </a:xfrm>
          <a:prstGeom prst="rect">
            <a:avLst/>
          </a:prstGeom>
          <a:noFill/>
          <a:ln/>
        </p:spPr>
        <p:txBody>
          <a:bodyPr wrap="square" rtlCol="0" anchor="t">
            <a:noAutofit/>
          </a:bodyPr>
          <a:lstStyle/>
          <a:p>
            <a:pPr algn="l">
              <a:lnSpc>
                <a:spcPct val="114999"/>
              </a:lnSpc>
              <a:buNone/>
            </a:pPr>
            <a:r>
              <a:rPr lang="en-US" sz="1100" b="0" i="0" dirty="0">
                <a:solidFill>
                  <a:srgbClr val="000000"/>
                </a:solidFill>
                <a:latin typeface="IBM Plex Sans"/>
                <a:ea typeface="IBM Plex Sans"/>
                <a:cs typeface="IBM Plex Sans"/>
              </a:rPr>
              <a:t>In the 7th and 8th centuries, Irish and then Anglo-Saxon scribes began putting spaces between words, which made Latin, a foreign language to them, easier to read (Saenger, 1997).</a:t>
            </a:r>
          </a:p>
        </p:txBody>
      </p:sp>
      <p:sp>
        <p:nvSpPr>
          <p:cNvPr id="26" name="G1 Fig Src"/>
          <p:cNvSpPr/>
          <p:nvPr/>
        </p:nvSpPr>
        <p:spPr>
          <a:xfrm>
            <a:off x="6035040" y="5943600"/>
            <a:ext cx="2651760" cy="228600"/>
          </a:xfrm>
          <a:prstGeom prst="rect">
            <a:avLst/>
          </a:prstGeom>
          <a:noFill/>
          <a:ln/>
        </p:spPr>
        <p:txBody>
          <a:bodyPr wrap="square" rtlCol="0" anchor="t">
            <a:noAutofit/>
          </a:bodyPr>
          <a:lstStyle/>
          <a:p>
            <a:pPr algn="l">
              <a:buNone/>
            </a:pPr>
            <a:r>
              <a:rPr lang="en-US" sz="800" b="0" i="0" dirty="0">
                <a:solidFill>
                  <a:srgbClr val="555555"/>
                </a:solidFill>
                <a:latin typeface="IBM Plex Sans"/>
                <a:ea typeface="IBM Plex Sans"/>
                <a:cs typeface="IBM Plex Sans"/>
              </a:rPr>
              <a:t>Both figures: Rayner, Fischer &amp; Pollatsek, 1998</a:t>
            </a:r>
          </a:p>
        </p:txBody>
      </p:sp>
      <p:sp>
        <p:nvSpPr>
          <p:cNvPr id="25" name="G1 Cap After"/>
          <p:cNvSpPr/>
          <p:nvPr/>
        </p:nvSpPr>
        <p:spPr>
          <a:xfrm>
            <a:off x="8791956" y="5897880"/>
            <a:ext cx="2667304" cy="566928"/>
          </a:xfrm>
          <a:prstGeom prst="rect">
            <a:avLst/>
          </a:prstGeom>
          <a:noFill/>
          <a:ln/>
        </p:spPr>
        <p:txBody>
          <a:bodyPr wrap="square" rtlCol="0" anchor="t">
            <a:noAutofit/>
          </a:bodyPr>
          <a:lstStyle/>
          <a:p>
            <a:pPr algn="l">
              <a:buNone/>
            </a:pPr>
            <a:r>
              <a:rPr lang="en-US" sz="700" b="1" i="0" dirty="0">
                <a:solidFill>
                  <a:srgbClr val="555555"/>
                </a:solidFill>
                <a:latin typeface="IBM Plex Sans"/>
                <a:ea typeface="IBM Plex Sans"/>
                <a:cs typeface="IBM Plex Sans"/>
              </a:rPr>
              <a:t>After: Insular word spacing. Image: </a:t>
            </a:r>
            <a:r>
              <a:rPr lang="en-US" sz="700" b="0" i="0" dirty="0">
                <a:solidFill>
                  <a:srgbClr val="555555"/>
                </a:solidFill>
                <a:latin typeface="IBM Plex Sans"/>
                <a:ea typeface="IBM Plex Sans"/>
                <a:cs typeface="IBM Plex Sans"/>
              </a:rPr>
              <a:t>Book of Durrow, fol. 7r, Trinity College Dublin, MS 57, c. 700. © The Board of Trinity College Dublin, CC BY 4.0, via Wikimedia Commons; cropped, grayscale.</a:t>
            </a:r>
          </a:p>
        </p:txBody>
      </p:sp>
      <p:sp>
        <p:nvSpPr>
          <p:cNvPr id="24" name="G1 Cap Before"/>
          <p:cNvSpPr/>
          <p:nvPr/>
        </p:nvSpPr>
        <p:spPr>
          <a:xfrm>
            <a:off x="6014923" y="3374136"/>
            <a:ext cx="2644444" cy="384048"/>
          </a:xfrm>
          <a:prstGeom prst="rect">
            <a:avLst/>
          </a:prstGeom>
          <a:noFill/>
          <a:ln/>
        </p:spPr>
        <p:txBody>
          <a:bodyPr wrap="square" rtlCol="0" anchor="t">
            <a:noAutofit/>
          </a:bodyPr>
          <a:lstStyle/>
          <a:p>
            <a:pPr algn="l">
              <a:buNone/>
            </a:pPr>
            <a:r>
              <a:rPr lang="en-US" sz="700" b="1" i="0" dirty="0">
                <a:solidFill>
                  <a:srgbClr val="555555"/>
                </a:solidFill>
                <a:latin typeface="IBM Plex Sans"/>
                <a:ea typeface="IBM Plex Sans"/>
                <a:cs typeface="IBM Plex Sans"/>
              </a:rPr>
              <a:t>Unspaced Latin. Image: </a:t>
            </a:r>
            <a:r>
              <a:rPr lang="en-US" sz="700" b="0" i="0" dirty="0">
                <a:solidFill>
                  <a:srgbClr val="555555"/>
                </a:solidFill>
                <a:latin typeface="IBM Plex Sans"/>
                <a:ea typeface="IBM Plex Sans"/>
                <a:cs typeface="IBM Plex Sans"/>
              </a:rPr>
              <a:t>Vergilius Augusteus, Vatican Library, Vat. lat. 3256, probably 4th c. Wikimedia Commons, public domain.</a:t>
            </a:r>
          </a:p>
        </p:txBody>
      </p:sp>
      <p:sp>
        <p:nvSpPr>
          <p:cNvPr id="6" name="Shape 4"/>
          <p:cNvSpPr/>
          <p:nvPr/>
        </p:nvSpPr>
        <p:spPr>
          <a:xfrm>
            <a:off x="6014923" y="752551"/>
            <a:ext cx="2644445" cy="2828239"/>
          </a:xfrm>
          <a:prstGeom prst="rect">
            <a:avLst/>
          </a:prstGeom>
          <a:noFill/>
          <a:ln/>
        </p:spPr>
        <p:txBody>
          <a:bodyPr/>
          <a:p/>
        </p:txBody>
      </p:sp>
      <p:pic>
        <p:nvPicPr>
          <p:cNvPr id="22" name="G1 Picture 1" descr="Before: unspaced square capitals, Vergilius Augusteus"/>
          <p:cNvPicPr>
            <a:picLocks noChangeAspect="1"/>
          </p:cNvPicPr>
          <p:nvPr/>
        </p:nvPicPr>
        <p:blipFill>
          <a:blip r:embed="rIdG1Img1"/>
          <a:srcRect l="0" t="12075" r="0" b="12075"/>
          <a:stretch>
            <a:fillRect/>
          </a:stretch>
        </p:blipFill>
        <p:spPr>
          <a:xfrm>
            <a:off x="6014923" y="752551"/>
            <a:ext cx="2644445" cy="2606040"/>
          </a:xfrm>
          <a:prstGeom prst="rect">
            <a:avLst/>
          </a:prstGeom>
          <a:ln w="9525">
            <a:solidFill>
              <a:srgbClr val="000000"/>
            </a:solidFill>
          </a:ln>
        </p:spPr>
      </p:pic>
      <p:sp>
        <p:nvSpPr>
          <p:cNvPr id="7" name="Shape 5"/>
          <p:cNvSpPr/>
          <p:nvPr/>
        </p:nvSpPr>
        <p:spPr>
          <a:xfrm>
            <a:off x="8791956" y="752551"/>
            <a:ext cx="2667305" cy="5389474"/>
          </a:xfrm>
          <a:prstGeom prst="rect">
            <a:avLst/>
          </a:prstGeom>
          <a:noFill/>
          <a:ln/>
        </p:spPr>
        <p:txBody>
          <a:bodyPr/>
          <a:p/>
        </p:txBody>
      </p:sp>
      <p:pic>
        <p:nvPicPr>
          <p:cNvPr id="23" name="G1 Picture 2" descr="After: Insular word separation, Book of Durrow (TCD MS 57) fol. 7r"/>
          <p:cNvPicPr>
            <a:picLocks noChangeAspect="1"/>
          </p:cNvPicPr>
          <p:nvPr/>
        </p:nvPicPr>
        <p:blipFill>
          <a:blip r:embed="rIdG1Img2"/>
          <a:srcRect l="6429" t="0" r="6429" b="0"/>
          <a:stretch>
            <a:fillRect/>
          </a:stretch>
        </p:blipFill>
        <p:spPr>
          <a:xfrm>
            <a:off x="8791956" y="752551"/>
            <a:ext cx="2667305" cy="5120640"/>
          </a:xfrm>
          <a:prstGeom prst="rect">
            <a:avLst/>
          </a:prstGeom>
          <a:ln w="9525">
            <a:solidFill>
              <a:srgbClr val="000000"/>
            </a:solidFill>
          </a:ln>
        </p:spPr>
      </p:pic>
      <p:sp>
        <p:nvSpPr>
          <p:cNvPr id="8" name="Shape 6"/>
          <p:cNvSpPr/>
          <p:nvPr/>
        </p:nvSpPr>
        <p:spPr>
          <a:xfrm>
            <a:off x="786384" y="3931920"/>
            <a:ext cx="4846320" cy="2057400"/>
          </a:xfrm>
          <a:prstGeom prst="rect">
            <a:avLst/>
          </a:prstGeom>
          <a:solidFill>
            <a:srgbClr val="000000"/>
          </a:solidFill>
          <a:ln/>
        </p:spPr>
        <p:txBody>
          <a:bodyPr/>
          <a:p/>
        </p:txBody>
      </p:sp>
      <p:sp>
        <p:nvSpPr>
          <p:cNvPr id="14" name="Text 12"/>
          <p:cNvSpPr/>
          <p:nvPr/>
        </p:nvSpPr>
        <p:spPr>
          <a:xfrm>
            <a:off x="1051560" y="4114800"/>
            <a:ext cx="4343400" cy="457200"/>
          </a:xfrm>
          <a:prstGeom prst="rect">
            <a:avLst/>
          </a:prstGeom>
          <a:noFill/>
          <a:ln/>
        </p:spPr>
        <p:txBody>
          <a:bodyPr wrap="square" rtlCol="0" anchor="t">
            <a:noAutofit/>
          </a:bodyPr>
          <a:lstStyle/>
          <a:p>
            <a:pPr algn="l">
              <a:buNone/>
            </a:pPr>
            <a:r>
              <a:rPr lang="en-US" sz="1500" b="0" i="0" dirty="0">
                <a:solidFill>
                  <a:srgbClr val="FFFFFF"/>
                </a:solidFill>
                <a:latin typeface="DM Serif Display"/>
                <a:ea typeface="DM Serif Display"/>
                <a:cs typeface="DM Serif Display"/>
              </a:rPr>
              <a:t>From sounding out to seeing</a:t>
            </a:r>
          </a:p>
        </p:txBody>
      </p:sp>
      <p:sp>
        <p:nvSpPr>
          <p:cNvPr id="15" name="Text 13"/>
          <p:cNvSpPr/>
          <p:nvPr/>
        </p:nvSpPr>
        <p:spPr>
          <a:xfrm>
            <a:off x="1051560" y="4663440"/>
            <a:ext cx="4343400" cy="1234440"/>
          </a:xfrm>
          <a:prstGeom prst="rect">
            <a:avLst/>
          </a:prstGeom>
          <a:noFill/>
          <a:ln/>
        </p:spPr>
        <p:txBody>
          <a:bodyPr wrap="square" rtlCol="0" anchor="t">
            <a:noAutofit/>
          </a:bodyPr>
          <a:lstStyle/>
          <a:p>
            <a:pPr algn="l">
              <a:lnSpc>
                <a:spcPct val="114999"/>
              </a:lnSpc>
              <a:spcAft>
                <a:spcPts val="600"/>
              </a:spcAft>
              <a:buNone/>
            </a:pPr>
            <a:r>
              <a:rPr lang="en-US" sz="1200" b="0" i="0" dirty="0">
                <a:solidFill>
                  <a:srgbClr val="FFFFFF"/>
                </a:solidFill>
                <a:latin typeface="IBM Plex Sans"/>
                <a:ea typeface="IBM Plex Sans"/>
                <a:cs typeface="IBM Plex Sans"/>
              </a:rPr>
              <a:t>That simple gap changed the work of reading. The eye could find each word, and see where the next one began, without sounding out the letters. That made fast, silent reading much easier.</a:t>
            </a:r>
          </a:p>
        </p:txBody>
      </p:sp>
      <p:sp>
        <p:nvSpPr>
          <p:cNvPr id="16" name="Text 14"/>
          <p:cNvSpPr/>
          <p:nvPr/>
        </p:nvSpPr>
        <p:spPr>
          <a:xfrm>
            <a:off x="6035040" y="3767328"/>
            <a:ext cx="2651760" cy="548640"/>
          </a:xfrm>
          <a:prstGeom prst="rect">
            <a:avLst/>
          </a:prstGeom>
          <a:noFill/>
          <a:ln/>
        </p:spPr>
        <p:txBody>
          <a:bodyPr wrap="square" rtlCol="0" anchor="t">
            <a:noAutofit/>
          </a:bodyPr>
          <a:lstStyle/>
          <a:p>
            <a:pPr algn="l">
              <a:buNone/>
            </a:pPr>
            <a:r>
              <a:rPr lang="en-US" sz="1000" b="1" i="0" dirty="0">
                <a:solidFill>
                  <a:srgbClr val="555555"/>
                </a:solidFill>
                <a:latin typeface="IBM Plex Sans"/>
                <a:ea typeface="IBM Plex Sans"/>
                <a:cs typeface="IBM Plex Sans"/>
              </a:rPr>
              <a:t>Slower Reading Without Spaces</a:t>
            </a:r>
          </a:p>
          <a:p>
            <a:pPr algn="l">
              <a:buNone/>
            </a:pPr>
            <a:r>
              <a:rPr lang="en-US" sz="850" b="0" i="0" dirty="0">
                <a:solidFill>
                  <a:srgbClr val="555555"/>
                </a:solidFill>
                <a:latin typeface="IBM Plex Sans"/>
                <a:ea typeface="IBM Plex Sans"/>
                <a:cs typeface="IBM Plex Sans"/>
              </a:rPr>
              <a:t>How much skilled adults slowed down reading English with the spaces taken out.</a:t>
            </a:r>
          </a:p>
        </p:txBody>
      </p:sp>
      <p:sp>
        <p:nvSpPr>
          <p:cNvPr id="17" name="Text 15"/>
          <p:cNvSpPr/>
          <p:nvPr/>
        </p:nvSpPr>
        <p:spPr>
          <a:xfrm>
            <a:off x="6035040" y="4187952"/>
            <a:ext cx="2651760" cy="548640"/>
          </a:xfrm>
          <a:prstGeom prst="rect">
            <a:avLst/>
          </a:prstGeom>
          <a:noFill/>
          <a:ln/>
        </p:spPr>
        <p:txBody>
          <a:bodyPr wrap="square" rtlCol="0" anchor="t">
            <a:noAutofit/>
          </a:bodyPr>
          <a:lstStyle/>
          <a:p>
            <a:pPr algn="l">
              <a:buNone/>
            </a:pPr>
            <a:r>
              <a:rPr lang="en-US" sz="3400" b="0" i="0" dirty="0">
                <a:solidFill>
                  <a:srgbClr val="000000"/>
                </a:solidFill>
                <a:latin typeface="DM Serif Display"/>
                <a:ea typeface="DM Serif Display"/>
                <a:cs typeface="DM Serif Display"/>
              </a:rPr>
              <a:t>44–58%</a:t>
            </a:r>
          </a:p>
        </p:txBody>
      </p:sp>
      <p:sp>
        <p:nvSpPr>
          <p:cNvPr id="18" name="Shape 16"/>
          <p:cNvSpPr/>
          <p:nvPr/>
        </p:nvSpPr>
        <p:spPr>
          <a:xfrm>
            <a:off x="6377026" y="4910328"/>
            <a:ext cx="1726387" cy="0"/>
          </a:xfrm>
          <a:prstGeom prst="line">
            <a:avLst/>
          </a:prstGeom>
          <a:noFill/>
          <a:ln w="9525">
            <a:solidFill>
              <a:srgbClr val="262626"/>
            </a:solidFill>
            <a:prstDash val="solid"/>
          </a:ln>
        </p:spPr>
        <p:txBody>
          <a:bodyPr/>
          <a:p/>
        </p:txBody>
      </p:sp>
      <p:sp>
        <p:nvSpPr>
          <p:cNvPr id="19" name="Shape 17"/>
          <p:cNvSpPr/>
          <p:nvPr/>
        </p:nvSpPr>
        <p:spPr>
          <a:xfrm>
            <a:off x="6377026" y="4910328"/>
            <a:ext cx="416966" cy="0"/>
          </a:xfrm>
          <a:prstGeom prst="line">
            <a:avLst/>
          </a:prstGeom>
          <a:noFill/>
          <a:ln w="79375">
            <a:solidFill>
              <a:srgbClr val="262626"/>
            </a:solidFill>
            <a:prstDash val="solid"/>
          </a:ln>
        </p:spPr>
        <p:txBody>
          <a:bodyPr/>
          <a:p/>
        </p:txBody>
      </p:sp>
      <p:sp>
        <p:nvSpPr>
          <p:cNvPr id="20" name="Text 18"/>
          <p:cNvSpPr/>
          <p:nvPr/>
        </p:nvSpPr>
        <p:spPr>
          <a:xfrm>
            <a:off x="6035040" y="4974336"/>
            <a:ext cx="2651760" cy="548640"/>
          </a:xfrm>
          <a:prstGeom prst="rect">
            <a:avLst/>
          </a:prstGeom>
          <a:noFill/>
          <a:ln/>
        </p:spPr>
        <p:txBody>
          <a:bodyPr wrap="square" rtlCol="0" anchor="t">
            <a:noAutofit/>
          </a:bodyPr>
          <a:lstStyle/>
          <a:p>
            <a:pPr algn="l">
              <a:buNone/>
            </a:pPr>
            <a:r>
              <a:rPr lang="en-US" sz="1000" b="1" i="0" dirty="0">
                <a:solidFill>
                  <a:srgbClr val="555555"/>
                </a:solidFill>
                <a:latin typeface="IBM Plex Sans"/>
                <a:ea typeface="IBM Plex Sans"/>
                <a:cs typeface="IBM Plex Sans"/>
              </a:rPr>
              <a:t>Nearly Double the Backtracking</a:t>
            </a:r>
          </a:p>
          <a:p>
            <a:pPr algn="l">
              <a:buNone/>
            </a:pPr>
            <a:r>
              <a:rPr lang="en-US" sz="850" b="0" i="0" dirty="0">
                <a:solidFill>
                  <a:srgbClr val="555555"/>
                </a:solidFill>
                <a:latin typeface="IBM Plex Sans"/>
                <a:ea typeface="IBM Plex Sans"/>
                <a:cs typeface="IBM Plex Sans"/>
              </a:rPr>
              <a:t>Without spaces, the eyes miss their usual landing spot and jump backward almost twice as often.</a:t>
            </a:r>
          </a:p>
        </p:txBody>
      </p:sp>
      <p:sp>
        <p:nvSpPr>
          <p:cNvPr id="21" name="Text 19"/>
          <p:cNvSpPr/>
          <p:nvPr/>
        </p:nvSpPr>
        <p:spPr>
          <a:xfrm>
            <a:off x="6035040" y="5486400"/>
            <a:ext cx="2651760" cy="457200"/>
          </a:xfrm>
          <a:prstGeom prst="rect">
            <a:avLst/>
          </a:prstGeom>
          <a:noFill/>
          <a:ln/>
        </p:spPr>
        <p:txBody>
          <a:bodyPr wrap="square" rtlCol="0" anchor="t">
            <a:noAutofit/>
          </a:bodyPr>
          <a:lstStyle/>
          <a:p>
            <a:pPr algn="l">
              <a:buNone/>
            </a:pPr>
            <a:r>
              <a:rPr lang="en-US" sz="2800" b="0" i="0" dirty="0">
                <a:solidFill>
                  <a:srgbClr val="000000"/>
                </a:solidFill>
                <a:latin typeface="DM Serif Display"/>
                <a:ea typeface="DM Serif Display"/>
                <a:cs typeface="DM Serif Display"/>
              </a:rPr>
              <a:t>9.7% → 17.3%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167628" cy="6858000"/>
          </a:xfrm>
          <a:prstGeom prst="rect">
            <a:avLst/>
          </a:prstGeom>
          <a:noFill/>
          <a:ln/>
        </p:spPr>
        <p:txBody>
          <a:bodyPr/>
          <a:p/>
        </p:txBody>
      </p:sp>
      <p:sp>
        <p:nvSpPr>
          <p:cNvPr id="3" name="Shape 1"/>
          <p:cNvSpPr/>
          <p:nvPr/>
        </p:nvSpPr>
        <p:spPr>
          <a:xfrm>
            <a:off x="0" y="-10058"/>
            <a:ext cx="6167628" cy="6868058"/>
          </a:xfrm>
          <a:prstGeom prst="rect">
            <a:avLst/>
          </a:prstGeom>
          <a:solidFill>
            <a:srgbClr val="000000">
              <a:alpha val="63000"/>
            </a:srgbClr>
          </a:solidFill>
          <a:ln/>
        </p:spPr>
        <p:txBody>
          <a:bodyPr/>
          <a:p/>
        </p:txBody>
      </p:sp>
      <p:sp>
        <p:nvSpPr>
          <p:cNvPr id="4" name="Text 2"/>
          <p:cNvSpPr/>
          <p:nvPr/>
        </p:nvSpPr>
        <p:spPr>
          <a:xfrm>
            <a:off x="822960" y="2011680"/>
            <a:ext cx="4754880" cy="2103120"/>
          </a:xfrm>
          <a:prstGeom prst="rect">
            <a:avLst/>
          </a:prstGeom>
          <a:noFill/>
          <a:ln/>
        </p:spPr>
        <p:txBody>
          <a:bodyPr wrap="square" rtlCol="0" anchor="t">
            <a:noAutofit/>
          </a:bodyPr>
          <a:lstStyle/>
          <a:p>
            <a:pPr algn="l">
              <a:lnSpc>
                <a:spcPct val="100000"/>
              </a:lnSpc>
              <a:buNone/>
            </a:pPr>
            <a:r>
              <a:rPr lang="en-US" sz="4000" b="0" i="0" dirty="0">
                <a:solidFill>
                  <a:srgbClr val="FFFFFF"/>
                </a:solidFill>
                <a:latin typeface="DM Serif Display"/>
                <a:ea typeface="DM Serif Display"/>
                <a:cs typeface="DM Serif Display"/>
              </a:rPr>
              <a:t>Ethical Failures</a:t>
            </a:r>
          </a:p>
          <a:p>
            <a:pPr algn="l">
              <a:lnSpc>
                <a:spcPct val="100000"/>
              </a:lnSpc>
              <a:buNone/>
            </a:pPr>
            <a:r>
              <a:rPr lang="en-US" sz="4000" b="0" i="0" dirty="0">
                <a:solidFill>
                  <a:srgbClr val="FFFFFF"/>
                </a:solidFill>
                <a:latin typeface="DM Serif Display"/>
                <a:ea typeface="DM Serif Display"/>
                <a:cs typeface="DM Serif Display"/>
              </a:rPr>
              <a:t>of the Expansion</a:t>
            </a:r>
          </a:p>
          <a:p>
            <a:pPr algn="l">
              <a:lnSpc>
                <a:spcPct val="100000"/>
              </a:lnSpc>
              <a:buNone/>
            </a:pPr>
            <a:r>
              <a:rPr lang="en-US" sz="4000" b="0" i="0" dirty="0">
                <a:solidFill>
                  <a:srgbClr val="FFFFFF"/>
                </a:solidFill>
                <a:latin typeface="DM Serif Display"/>
                <a:ea typeface="DM Serif Display"/>
                <a:cs typeface="DM Serif Display"/>
              </a:rPr>
              <a:t>of Literacy</a:t>
            </a:r>
          </a:p>
        </p:txBody>
      </p:sp>
      <p:sp>
        <p:nvSpPr>
          <p:cNvPr id="17" name="G1 Sub"/>
          <p:cNvSpPr/>
          <p:nvPr/>
        </p:nvSpPr>
        <p:spPr>
          <a:xfrm>
            <a:off x="822960" y="4206240"/>
            <a:ext cx="4572000" cy="822960"/>
          </a:xfrm>
          <a:prstGeom prst="rect">
            <a:avLst/>
          </a:prstGeom>
          <a:noFill/>
          <a:ln/>
        </p:spPr>
        <p:txBody>
          <a:bodyPr wrap="square" rtlCol="0" anchor="t">
            <a:noAutofit/>
          </a:bodyPr>
          <a:lstStyle/>
          <a:p>
            <a:pPr algn="l">
              <a:lnSpc>
                <a:spcPct val="114999"/>
              </a:lnSpc>
              <a:buNone/>
            </a:pPr>
            <a:r>
              <a:rPr lang="en-US" sz="1200" b="0" i="0" dirty="0">
                <a:solidFill>
                  <a:srgbClr val="CCCCCC"/>
                </a:solidFill>
                <a:latin typeface="IBM Plex Sans"/>
                <a:ea typeface="IBM Plex Sans"/>
                <a:cs typeface="IBM Plex Sans"/>
              </a:rPr>
              <a:t>Spaces on the page made reading easier—but as literacy spread, societies did not fix the unequal power that came with the written word.</a:t>
            </a:r>
          </a:p>
        </p:txBody>
      </p:sp>
      <p:sp>
        <p:nvSpPr>
          <p:cNvPr id="7" name="Failures List"/>
          <p:cNvSpPr/>
          <p:nvPr/>
        </p:nvSpPr>
        <p:spPr>
          <a:xfrm>
            <a:off x="6720840" y="594360"/>
            <a:ext cx="4892040" cy="5715000"/>
          </a:xfrm>
          <a:prstGeom prst="rect">
            <a:avLst/>
          </a:prstGeom>
          <a:noFill/>
          <a:ln/>
        </p:spPr>
        <p:txBody>
          <a:bodyPr wrap="square" rtlCol="0" anchor="ctr">
            <a:noAutofit/>
          </a:bodyPr>
          <a:lstStyle/>
          <a:p>
            <a:pPr algn="l" marL="201168" indent="-201168">
              <a:lnSpc>
                <a:spcPct val="110000"/>
              </a:lnSpc>
              <a:spcAft>
                <a:spcPts val="1000"/>
              </a:spcAft>
              <a:buClr>
                <a:srgbClr val="000000"/>
              </a:buClr>
              <a:buFont typeface="Arial"/>
              <a:buChar char="•"/>
            </a:pPr>
            <a:r>
              <a:rPr lang="en-US" sz="1300" b="0" i="0" dirty="0">
                <a:solidFill>
                  <a:srgbClr val="333333"/>
                </a:solidFill>
                <a:latin typeface="IBM Plex Sans"/>
                <a:ea typeface="IBM Plex Sans"/>
                <a:cs typeface="IBM Plex Sans"/>
              </a:rPr>
              <a:t>Reading was sold as a path to a better life. But in 19th-century Canadian cities, being able to read did little to lift workers out of their class; ethnicity, class and gender mattered more </a:t>
            </a:r>
            <a:r>
              <a:rPr lang="en-US" sz="1300" b="1" i="0" dirty="0">
                <a:solidFill>
                  <a:srgbClr val="000000"/>
                </a:solidFill>
                <a:latin typeface="IBM Plex Sans"/>
                <a:ea typeface="IBM Plex Sans"/>
                <a:cs typeface="IBM Plex Sans"/>
              </a:rPr>
              <a:t>(Graff, 1991).</a:t>
            </a:r>
          </a:p>
          <a:p>
            <a:pPr algn="l" marL="201168" indent="-201168">
              <a:lnSpc>
                <a:spcPct val="110000"/>
              </a:lnSpc>
              <a:spcAft>
                <a:spcPts val="1000"/>
              </a:spcAft>
              <a:buClr>
                <a:srgbClr val="000000"/>
              </a:buClr>
              <a:buFont typeface="Arial"/>
              <a:buChar char="•"/>
            </a:pPr>
            <a:r>
              <a:rPr lang="en-US" sz="1300" b="0" i="0" dirty="0">
                <a:solidFill>
                  <a:srgbClr val="333333"/>
                </a:solidFill>
                <a:latin typeface="IBM Plex Sans"/>
                <a:ea typeface="IBM Plex Sans"/>
                <a:cs typeface="IBM Plex Sans"/>
              </a:rPr>
              <a:t>Experts treated one school-based kind of reading as the only real kind, and cast people with other ways of reading and knowing as backward </a:t>
            </a:r>
            <a:r>
              <a:rPr lang="en-US" sz="1300" b="1" i="0" dirty="0">
                <a:solidFill>
                  <a:srgbClr val="000000"/>
                </a:solidFill>
                <a:latin typeface="IBM Plex Sans"/>
                <a:ea typeface="IBM Plex Sans"/>
                <a:cs typeface="IBM Plex Sans"/>
              </a:rPr>
              <a:t>(Street, 1984).</a:t>
            </a:r>
          </a:p>
          <a:p>
            <a:pPr algn="l" marL="201168" indent="-201168">
              <a:lnSpc>
                <a:spcPct val="110000"/>
              </a:lnSpc>
              <a:spcAft>
                <a:spcPts val="1000"/>
              </a:spcAft>
              <a:buClr>
                <a:srgbClr val="000000"/>
              </a:buClr>
              <a:buFont typeface="Arial"/>
              <a:buChar char="•"/>
            </a:pPr>
            <a:r>
              <a:rPr lang="en-US" sz="1300" b="0" i="0" dirty="0">
                <a:solidFill>
                  <a:srgbClr val="333333"/>
                </a:solidFill>
                <a:latin typeface="IBM Plex Sans"/>
                <a:ea typeface="IBM Plex Sans"/>
                <a:cs typeface="IBM Plex Sans"/>
              </a:rPr>
              <a:t>The promise that reading makes people smarter did not hold up. Among the Vai of Liberia, learning a script outside school helped with the tasks people used it for, not with thinking in general </a:t>
            </a:r>
            <a:r>
              <a:rPr lang="en-US" sz="1300" b="1" i="0" dirty="0">
                <a:solidFill>
                  <a:srgbClr val="000000"/>
                </a:solidFill>
                <a:latin typeface="IBM Plex Sans"/>
                <a:ea typeface="IBM Plex Sans"/>
                <a:cs typeface="IBM Plex Sans"/>
              </a:rPr>
              <a:t>(Scribner &amp; Cole, 1981).</a:t>
            </a:r>
          </a:p>
          <a:p>
            <a:pPr algn="l" marL="201168" indent="-201168">
              <a:lnSpc>
                <a:spcPct val="110000"/>
              </a:lnSpc>
              <a:spcAft>
                <a:spcPts val="1000"/>
              </a:spcAft>
              <a:buClr>
                <a:srgbClr val="000000"/>
              </a:buClr>
              <a:buFont typeface="Arial"/>
              <a:buChar char="•"/>
            </a:pPr>
            <a:r>
              <a:rPr lang="en-US" sz="1300" b="0" i="0" dirty="0">
                <a:solidFill>
                  <a:srgbClr val="333333"/>
                </a:solidFill>
                <a:latin typeface="IBM Plex Sans"/>
                <a:ea typeface="IBM Plex Sans"/>
                <a:cs typeface="IBM Plex Sans"/>
              </a:rPr>
              <a:t>In England between 1066 and 1307, written records slowly took over from memory and spoken witness as the proof that counted </a:t>
            </a:r>
            <a:r>
              <a:rPr lang="en-US" sz="1300" b="1" i="0" dirty="0">
                <a:solidFill>
                  <a:srgbClr val="000000"/>
                </a:solidFill>
                <a:latin typeface="IBM Plex Sans"/>
                <a:ea typeface="IBM Plex Sans"/>
                <a:cs typeface="IBM Plex Sans"/>
              </a:rPr>
              <a:t>(Clanchy, 2013).</a:t>
            </a:r>
          </a:p>
          <a:p>
            <a:pPr algn="l" marL="201168" indent="-201168">
              <a:lnSpc>
                <a:spcPct val="110000"/>
              </a:lnSpc>
              <a:spcAft>
                <a:spcPts val="1000"/>
              </a:spcAft>
              <a:buClr>
                <a:srgbClr val="000000"/>
              </a:buClr>
              <a:buFont typeface="Arial"/>
              <a:buChar char="•"/>
            </a:pPr>
            <a:r>
              <a:rPr lang="en-US" sz="1300" b="0" i="0" dirty="0">
                <a:solidFill>
                  <a:srgbClr val="333333"/>
                </a:solidFill>
                <a:latin typeface="IBM Plex Sans"/>
                <a:ea typeface="IBM Plex Sans"/>
                <a:cs typeface="IBM Plex Sans"/>
              </a:rPr>
              <a:t>Print broke the church’s hold on knowledge, but it did not end control by a few. New monopolies grew up around print </a:t>
            </a:r>
            <a:r>
              <a:rPr lang="en-US" sz="1300" b="1" i="0" dirty="0">
                <a:solidFill>
                  <a:srgbClr val="000000"/>
                </a:solidFill>
                <a:latin typeface="IBM Plex Sans"/>
                <a:ea typeface="IBM Plex Sans"/>
                <a:cs typeface="IBM Plex Sans"/>
              </a:rPr>
              <a:t>(Innis, 1951).</a:t>
            </a:r>
          </a:p>
          <a:p>
            <a:pPr algn="l" marL="201168" indent="-201168">
              <a:lnSpc>
                <a:spcPct val="110000"/>
              </a:lnSpc>
              <a:spcAft>
                <a:spcPts val="1000"/>
              </a:spcAft>
              <a:buClr>
                <a:srgbClr val="000000"/>
              </a:buClr>
              <a:buFont typeface="Arial"/>
              <a:buChar char="•"/>
            </a:pPr>
            <a:r>
              <a:rPr lang="en-US" sz="1300" b="0" i="0" dirty="0">
                <a:solidFill>
                  <a:srgbClr val="333333"/>
                </a:solidFill>
                <a:latin typeface="IBM Plex Sans"/>
                <a:ea typeface="IBM Plex Sans"/>
                <a:cs typeface="IBM Plex Sans"/>
              </a:rPr>
              <a:t>Printed books were not trusted just because they were printed. Their authority came from the printers, sellers, and readers around the press </a:t>
            </a:r>
            <a:r>
              <a:rPr lang="en-US" sz="1300" b="1" i="0" dirty="0">
                <a:solidFill>
                  <a:srgbClr val="000000"/>
                </a:solidFill>
                <a:latin typeface="IBM Plex Sans"/>
                <a:ea typeface="IBM Plex Sans"/>
                <a:cs typeface="IBM Plex Sans"/>
              </a:rPr>
              <a:t>(Johns, 2002).</a:t>
            </a:r>
          </a:p>
          <a:p>
            <a:pPr algn="l" marL="201168" indent="-201168">
              <a:lnSpc>
                <a:spcPct val="110000"/>
              </a:lnSpc>
              <a:spcAft>
                <a:spcPts val="1000"/>
              </a:spcAft>
              <a:buClr>
                <a:srgbClr val="000000"/>
              </a:buClr>
              <a:buFont typeface="Arial"/>
              <a:buChar char="•"/>
            </a:pPr>
            <a:r>
              <a:rPr lang="en-US" sz="1300" b="0" i="0" dirty="0">
                <a:solidFill>
                  <a:srgbClr val="333333"/>
                </a:solidFill>
                <a:latin typeface="IBM Plex Sans"/>
                <a:ea typeface="IBM Plex Sans"/>
                <a:cs typeface="IBM Plex Sans"/>
              </a:rPr>
              <a:t>In ancient Greece, the alphabet arrived around 700 BCE, but schooling made reading common only near 400 BCE. Until then, writing served a skilled few </a:t>
            </a:r>
            <a:r>
              <a:rPr lang="en-US" sz="1300" b="1" i="0" dirty="0">
                <a:solidFill>
                  <a:srgbClr val="000000"/>
                </a:solidFill>
                <a:latin typeface="IBM Plex Sans"/>
                <a:ea typeface="IBM Plex Sans"/>
                <a:cs typeface="IBM Plex Sans"/>
              </a:rPr>
              <a:t>(Havelock, 1963).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640080"/>
            <a:ext cx="10543032" cy="731520"/>
          </a:xfrm>
          <a:prstGeom prst="rect">
            <a:avLst/>
          </a:prstGeom>
          <a:noFill/>
          <a:ln/>
        </p:spPr>
        <p:txBody>
          <a:bodyPr wrap="square" rtlCol="0" anchor="t">
            <a:noAutofit/>
          </a:bodyPr>
          <a:lstStyle/>
          <a:p>
            <a:pPr algn="ctr">
              <a:buNone/>
            </a:pPr>
            <a:r>
              <a:rPr lang="en-US" sz="3600" b="0" i="0" dirty="0">
                <a:solidFill>
                  <a:srgbClr val="000000"/>
                </a:solidFill>
                <a:latin typeface="DM Serif Display"/>
                <a:ea typeface="DM Serif Display"/>
                <a:cs typeface="DM Serif Display"/>
              </a:rPr>
              <a:t>The AI Scroll Is Today's </a:t>
            </a:r>
            <a:r>
              <a:rPr lang="en-US" sz="3600" b="0" i="1" dirty="0">
                <a:solidFill>
                  <a:srgbClr val="000000"/>
                </a:solidFill>
                <a:latin typeface="DM Serif Display"/>
                <a:ea typeface="DM Serif Display"/>
                <a:cs typeface="DM Serif Display"/>
              </a:rPr>
              <a:t>Scriptura Continua</a:t>
            </a:r>
          </a:p>
        </p:txBody>
      </p:sp>
      <p:sp>
        <p:nvSpPr>
          <p:cNvPr id="3" name="Shape 1"/>
          <p:cNvSpPr/>
          <p:nvPr/>
        </p:nvSpPr>
        <p:spPr>
          <a:xfrm>
            <a:off x="1109167" y="4999025"/>
            <a:ext cx="9973361" cy="1858975"/>
          </a:xfrm>
          <a:prstGeom prst="rect">
            <a:avLst/>
          </a:prstGeom>
          <a:noFill/>
          <a:ln/>
        </p:spPr>
        <p:txBody>
          <a:bodyPr/>
          <a:p/>
        </p:txBody>
      </p:sp>
      <p:sp>
        <p:nvSpPr>
          <p:cNvPr id="4" name="Text 2"/>
          <p:cNvSpPr/>
          <p:nvPr/>
        </p:nvSpPr>
        <p:spPr>
          <a:xfrm>
            <a:off x="822960" y="2606040"/>
            <a:ext cx="3291840" cy="914400"/>
          </a:xfrm>
          <a:prstGeom prst="rect">
            <a:avLst/>
          </a:prstGeom>
          <a:noFill/>
          <a:ln/>
        </p:spPr>
        <p:txBody>
          <a:bodyPr wrap="square" rtlCol="0" anchor="t">
            <a:noAutofit/>
          </a:bodyPr>
          <a:lstStyle/>
          <a:p>
            <a:pPr algn="ctr">
              <a:buNone/>
            </a:pPr>
            <a:r>
              <a:rPr lang="en-US" sz="3800" b="0" i="0" dirty="0">
                <a:solidFill>
                  <a:srgbClr val="000000"/>
                </a:solidFill>
                <a:latin typeface="DM Serif Display"/>
                <a:ea typeface="DM Serif Display"/>
                <a:cs typeface="DM Serif Display"/>
              </a:rPr>
              <a:t>~45 w/s</a:t>
            </a:r>
          </a:p>
        </p:txBody>
      </p:sp>
      <p:sp>
        <p:nvSpPr>
          <p:cNvPr id="7" name="Text 5"/>
          <p:cNvSpPr/>
          <p:nvPr/>
        </p:nvSpPr>
        <p:spPr>
          <a:xfrm>
            <a:off x="822960" y="3566160"/>
            <a:ext cx="3291840" cy="566928"/>
          </a:xfrm>
          <a:prstGeom prst="rect">
            <a:avLst/>
          </a:prstGeom>
          <a:noFill/>
          <a:ln/>
        </p:spPr>
        <p:txBody>
          <a:bodyPr wrap="square" rtlCol="0" anchor="t">
            <a:noAutofit/>
          </a:bodyPr>
          <a:lstStyle/>
          <a:p>
            <a:pPr algn="ctr">
              <a:buNone/>
            </a:pPr>
            <a:r>
              <a:rPr lang="en-US" sz="1500" b="0" i="0" dirty="0">
                <a:solidFill>
                  <a:srgbClr val="000000"/>
                </a:solidFill>
                <a:latin typeface="DM Serif Display"/>
                <a:ea typeface="DM Serif Display"/>
                <a:cs typeface="DM Serif Display"/>
              </a:rPr>
              <a:t>Too Fast to Judge in Real Time</a:t>
            </a:r>
          </a:p>
        </p:txBody>
      </p:sp>
      <p:sp>
        <p:nvSpPr>
          <p:cNvPr id="8" name="Text 6"/>
          <p:cNvSpPr/>
          <p:nvPr/>
        </p:nvSpPr>
        <p:spPr>
          <a:xfrm>
            <a:off x="914400" y="4206240"/>
            <a:ext cx="3108960" cy="2011680"/>
          </a:xfrm>
          <a:prstGeom prst="rect">
            <a:avLst/>
          </a:prstGeom>
          <a:noFill/>
          <a:ln/>
        </p:spPr>
        <p:txBody>
          <a:bodyPr wrap="square" rtlCol="0" anchor="t">
            <a:noAutofit/>
          </a:bodyPr>
          <a:lstStyle/>
          <a:p>
            <a:pPr algn="ctr">
              <a:lnSpc>
                <a:spcPct val="114999"/>
              </a:lnSpc>
              <a:buNone/>
            </a:pPr>
            <a:r>
              <a:rPr lang="en-US" sz="1200" b="0" i="0" dirty="0">
                <a:solidFill>
                  <a:srgbClr val="000000"/>
                </a:solidFill>
                <a:latin typeface="IBM Plex Sans"/>
                <a:ea typeface="IBM Plex Sans"/>
                <a:cs typeface="IBM Plex Sans"/>
              </a:rPr>
              <a:t>GPT-4o’s API streams about 45 words per second (Xiao &amp; Yang, 2025). Adults read silently at about 4 words per second, or 238 a minute (Brysbaert, 2019).</a:t>
            </a:r>
          </a:p>
        </p:txBody>
      </p:sp>
      <p:sp>
        <p:nvSpPr>
          <p:cNvPr id="19" name="G2 Sub"/>
          <p:cNvSpPr/>
          <p:nvPr/>
        </p:nvSpPr>
        <p:spPr>
          <a:xfrm>
            <a:off x="1280160" y="1371600"/>
            <a:ext cx="9628632" cy="1051560"/>
          </a:xfrm>
          <a:prstGeom prst="rect">
            <a:avLst/>
          </a:prstGeom>
          <a:noFill/>
          <a:ln/>
        </p:spPr>
        <p:txBody>
          <a:bodyPr wrap="square" rtlCol="0" anchor="t">
            <a:noAutofit/>
          </a:bodyPr>
          <a:lstStyle/>
          <a:p>
            <a:pPr algn="ctr">
              <a:lnSpc>
                <a:spcPct val="114999"/>
              </a:lnSpc>
              <a:spcAft>
                <a:spcPts val="400"/>
              </a:spcAft>
              <a:buNone/>
            </a:pPr>
            <a:r>
              <a:rPr lang="en-US" sz="1200" b="1" i="0" dirty="0">
                <a:solidFill>
                  <a:srgbClr val="555555"/>
                </a:solidFill>
                <a:latin typeface="IBM Plex Sans"/>
                <a:ea typeface="IBM Plex Sans"/>
                <a:cs typeface="IBM Plex Sans"/>
              </a:rPr>
              <a:t>AI chat tools pour out an unbroken stream of words without marking where the real decisions happen.</a:t>
            </a:r>
          </a:p>
          <a:p>
            <a:pPr algn="ctr">
              <a:lnSpc>
                <a:spcPct val="114999"/>
              </a:lnSpc>
              <a:spcAft>
                <a:spcPts val="400"/>
              </a:spcAft>
              <a:buNone/>
            </a:pPr>
            <a:r>
              <a:rPr lang="en-US" sz="1200" b="0" i="0" dirty="0">
                <a:solidFill>
                  <a:srgbClr val="555555"/>
                </a:solidFill>
                <a:latin typeface="IBM Plex Sans"/>
                <a:ea typeface="IBM Plex Sans"/>
                <a:cs typeface="IBM Plex Sans"/>
              </a:rPr>
              <a:t>Like ancient unspaced manuscripts, a fast-scrolling wall of AI text can hide the forks in the road inside smooth, confident prose, so you have to read line by line to spot what the machine decided.</a:t>
            </a:r>
          </a:p>
        </p:txBody>
      </p:sp>
      <p:sp>
        <p:nvSpPr>
          <p:cNvPr id="9" name="Text 7"/>
          <p:cNvSpPr/>
          <p:nvPr/>
        </p:nvSpPr>
        <p:spPr>
          <a:xfrm>
            <a:off x="4434840" y="2606040"/>
            <a:ext cx="3291840" cy="914400"/>
          </a:xfrm>
          <a:prstGeom prst="rect">
            <a:avLst/>
          </a:prstGeom>
          <a:noFill/>
          <a:ln/>
        </p:spPr>
        <p:txBody>
          <a:bodyPr wrap="square" rtlCol="0" anchor="t">
            <a:noAutofit/>
          </a:bodyPr>
          <a:lstStyle/>
          <a:p>
            <a:pPr algn="ctr">
              <a:buNone/>
            </a:pPr>
            <a:r>
              <a:rPr lang="en-US" sz="3800" b="0" i="0" dirty="0">
                <a:solidFill>
                  <a:srgbClr val="000000"/>
                </a:solidFill>
                <a:latin typeface="DM Serif Display"/>
                <a:ea typeface="DM Serif Display"/>
                <a:cs typeface="DM Serif Display"/>
              </a:rPr>
              <a:t>Eyes Pulled</a:t>
            </a:r>
          </a:p>
        </p:txBody>
      </p:sp>
      <p:sp>
        <p:nvSpPr>
          <p:cNvPr id="12" name="Text 10"/>
          <p:cNvSpPr/>
          <p:nvPr/>
        </p:nvSpPr>
        <p:spPr>
          <a:xfrm>
            <a:off x="4434840" y="3566160"/>
            <a:ext cx="3291840" cy="566928"/>
          </a:xfrm>
          <a:prstGeom prst="rect">
            <a:avLst/>
          </a:prstGeom>
          <a:noFill/>
          <a:ln/>
        </p:spPr>
        <p:txBody>
          <a:bodyPr wrap="square" rtlCol="0" anchor="t">
            <a:noAutofit/>
          </a:bodyPr>
          <a:lstStyle/>
          <a:p>
            <a:pPr algn="ctr">
              <a:buNone/>
            </a:pPr>
            <a:r>
              <a:rPr lang="en-US" sz="1500" b="0" i="0" dirty="0">
                <a:solidFill>
                  <a:srgbClr val="000000"/>
                </a:solidFill>
                <a:latin typeface="DM Serif Display"/>
                <a:ea typeface="DM Serif Display"/>
                <a:cs typeface="DM Serif Display"/>
              </a:rPr>
              <a:t>Your Eyes Get Pulled by the Moving Cursor</a:t>
            </a:r>
          </a:p>
        </p:txBody>
      </p:sp>
      <p:sp>
        <p:nvSpPr>
          <p:cNvPr id="13" name="Text 11"/>
          <p:cNvSpPr/>
          <p:nvPr/>
        </p:nvSpPr>
        <p:spPr>
          <a:xfrm>
            <a:off x="4526280" y="4206240"/>
            <a:ext cx="3108960" cy="2011680"/>
          </a:xfrm>
          <a:prstGeom prst="rect">
            <a:avLst/>
          </a:prstGeom>
          <a:noFill/>
          <a:ln/>
        </p:spPr>
        <p:txBody>
          <a:bodyPr wrap="square" rtlCol="0" anchor="t">
            <a:noAutofit/>
          </a:bodyPr>
          <a:lstStyle/>
          <a:p>
            <a:pPr algn="ctr">
              <a:lnSpc>
                <a:spcPct val="114999"/>
              </a:lnSpc>
              <a:buNone/>
            </a:pPr>
            <a:r>
              <a:rPr lang="en-US" sz="1200" b="0" i="0" dirty="0">
                <a:solidFill>
                  <a:srgbClr val="000000"/>
                </a:solidFill>
                <a:latin typeface="IBM Plex Sans"/>
                <a:ea typeface="IBM Plex Sans"/>
                <a:cs typeface="IBM Plex Sans"/>
              </a:rPr>
              <a:t>New words appearing at the bottom of the screen can act like a moving lure, pulling your eyes down so you keep following the stream instead of questioning earlier claims.</a:t>
            </a:r>
          </a:p>
        </p:txBody>
      </p:sp>
      <p:sp>
        <p:nvSpPr>
          <p:cNvPr id="14" name="Text 12"/>
          <p:cNvSpPr/>
          <p:nvPr/>
        </p:nvSpPr>
        <p:spPr>
          <a:xfrm>
            <a:off x="8046720" y="2606040"/>
            <a:ext cx="3291840" cy="914400"/>
          </a:xfrm>
          <a:prstGeom prst="rect">
            <a:avLst/>
          </a:prstGeom>
          <a:noFill/>
          <a:ln/>
        </p:spPr>
        <p:txBody>
          <a:bodyPr wrap="square" rtlCol="0" anchor="t">
            <a:noAutofit/>
          </a:bodyPr>
          <a:lstStyle/>
          <a:p>
            <a:pPr algn="ctr">
              <a:buNone/>
            </a:pPr>
            <a:r>
              <a:rPr lang="en-US" sz="3800" b="0" i="0" dirty="0">
                <a:solidFill>
                  <a:srgbClr val="000000"/>
                </a:solidFill>
                <a:latin typeface="DM Serif Display"/>
                <a:ea typeface="DM Serif Display"/>
                <a:cs typeface="DM Serif Display"/>
              </a:rPr>
              <a:t>Off-Screen</a:t>
            </a:r>
          </a:p>
        </p:txBody>
      </p:sp>
      <p:sp>
        <p:nvSpPr>
          <p:cNvPr id="17" name="Text 15"/>
          <p:cNvSpPr/>
          <p:nvPr/>
        </p:nvSpPr>
        <p:spPr>
          <a:xfrm>
            <a:off x="8046720" y="3566160"/>
            <a:ext cx="3291840" cy="566928"/>
          </a:xfrm>
          <a:prstGeom prst="rect">
            <a:avLst/>
          </a:prstGeom>
          <a:noFill/>
          <a:ln/>
        </p:spPr>
        <p:txBody>
          <a:bodyPr wrap="square" rtlCol="0" anchor="t">
            <a:noAutofit/>
          </a:bodyPr>
          <a:lstStyle/>
          <a:p>
            <a:pPr algn="ctr">
              <a:buNone/>
            </a:pPr>
            <a:r>
              <a:rPr lang="en-US" sz="1500" b="0" i="0" dirty="0">
                <a:solidFill>
                  <a:srgbClr val="000000"/>
                </a:solidFill>
                <a:latin typeface="DM Serif Display"/>
                <a:ea typeface="DM Serif Display"/>
                <a:cs typeface="DM Serif Display"/>
              </a:rPr>
              <a:t>Auto-Scroll Pushes Earlier Text Out of View</a:t>
            </a:r>
          </a:p>
        </p:txBody>
      </p:sp>
      <p:sp>
        <p:nvSpPr>
          <p:cNvPr id="18" name="Text 16"/>
          <p:cNvSpPr/>
          <p:nvPr/>
        </p:nvSpPr>
        <p:spPr>
          <a:xfrm>
            <a:off x="8138160" y="4206240"/>
            <a:ext cx="3108960" cy="2011680"/>
          </a:xfrm>
          <a:prstGeom prst="rect">
            <a:avLst/>
          </a:prstGeom>
          <a:noFill/>
          <a:ln/>
        </p:spPr>
        <p:txBody>
          <a:bodyPr wrap="square" rtlCol="0" anchor="t">
            <a:noAutofit/>
          </a:bodyPr>
          <a:lstStyle/>
          <a:p>
            <a:pPr algn="ctr">
              <a:lnSpc>
                <a:spcPct val="114999"/>
              </a:lnSpc>
              <a:buNone/>
            </a:pPr>
            <a:r>
              <a:rPr lang="en-US" sz="1200" b="0" i="0" dirty="0">
                <a:solidFill>
                  <a:srgbClr val="000000"/>
                </a:solidFill>
                <a:latin typeface="IBM Plex Sans"/>
                <a:ea typeface="IBM Plex Sans"/>
                <a:cs typeface="IBM Plex Sans"/>
              </a:rPr>
              <a:t>As the window scrolls up on its own, earlier assumptions move off-screen—making it hard for your eyes to jump back and catch mistakes before the AI moves 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16890" y="640080"/>
            <a:ext cx="4754880" cy="914400"/>
          </a:xfrm>
          <a:prstGeom prst="rect">
            <a:avLst/>
          </a:prstGeom>
          <a:noFill/>
          <a:ln/>
        </p:spPr>
        <p:txBody>
          <a:bodyPr wrap="square" rtlCol="0" anchor="t">
            <a:noAutofit/>
          </a:bodyPr>
          <a:lstStyle/>
          <a:p>
            <a:pPr algn="l">
              <a:lnSpc>
                <a:spcPct val="100000"/>
              </a:lnSpc>
              <a:buNone/>
            </a:pPr>
            <a:r>
              <a:rPr lang="en-US" sz="2400" b="0" i="0" dirty="0">
                <a:solidFill>
                  <a:srgbClr val="000000"/>
                </a:solidFill>
                <a:latin typeface="DM Serif Display"/>
                <a:ea typeface="DM Serif Display"/>
                <a:cs typeface="DM Serif Display"/>
              </a:rPr>
              <a:t>Now the AI Prompts You:</a:t>
            </a:r>
          </a:p>
          <a:p>
            <a:pPr algn="l">
              <a:lnSpc>
                <a:spcPct val="100000"/>
              </a:lnSpc>
              <a:buNone/>
            </a:pPr>
            <a:r>
              <a:rPr lang="en-US" sz="2400" b="0" i="0" dirty="0">
                <a:solidFill>
                  <a:srgbClr val="000000"/>
                </a:solidFill>
                <a:latin typeface="DM Serif Display"/>
                <a:ea typeface="DM Serif Display"/>
                <a:cs typeface="DM Serif Display"/>
              </a:rPr>
              <a:t>The Role Reversal</a:t>
            </a:r>
          </a:p>
        </p:txBody>
      </p:sp>
      <p:sp>
        <p:nvSpPr>
          <p:cNvPr id="3" name="Text 1"/>
          <p:cNvSpPr/>
          <p:nvPr/>
        </p:nvSpPr>
        <p:spPr>
          <a:xfrm>
            <a:off x="758952" y="1645920"/>
            <a:ext cx="4572000" cy="777240"/>
          </a:xfrm>
          <a:prstGeom prst="rect">
            <a:avLst/>
          </a:prstGeom>
          <a:noFill/>
          <a:ln/>
        </p:spPr>
        <p:txBody>
          <a:bodyPr wrap="square" rtlCol="0" anchor="t">
            <a:noAutofit/>
          </a:bodyPr>
          <a:lstStyle/>
          <a:p>
            <a:pPr algn="l">
              <a:lnSpc>
                <a:spcPct val="114999"/>
              </a:lnSpc>
              <a:buNone/>
            </a:pPr>
            <a:r>
              <a:rPr lang="en-US" sz="1100" b="0" i="0" dirty="0">
                <a:solidFill>
                  <a:srgbClr val="555555"/>
                </a:solidFill>
                <a:latin typeface="IBM Plex Sans"/>
                <a:ea typeface="IBM Plex Sans"/>
                <a:cs typeface="IBM Plex Sans"/>
              </a:rPr>
              <a:t>Instead of showing where decisions happen in the text, tools like Claude Code pause to quiz the human—</a:t>
            </a:r>
            <a:r>
              <a:rPr lang="en-US" sz="1100" b="1" i="0" dirty="0">
                <a:solidFill>
                  <a:srgbClr val="555555"/>
                </a:solidFill>
                <a:latin typeface="IBM Plex Sans"/>
                <a:ea typeface="IBM Plex Sans"/>
                <a:cs typeface="IBM Plex Sans"/>
              </a:rPr>
              <a:t>turning the AI into the prompter.</a:t>
            </a:r>
          </a:p>
        </p:txBody>
      </p:sp>
      <p:sp>
        <p:nvSpPr>
          <p:cNvPr id="4" name="Shape 2"/>
          <p:cNvSpPr/>
          <p:nvPr/>
        </p:nvSpPr>
        <p:spPr>
          <a:xfrm>
            <a:off x="1497787" y="2805379"/>
            <a:ext cx="494690" cy="494690"/>
          </a:xfrm>
          <a:prstGeom prst="roundRect">
            <a:avLst>
              <a:gd name="adj" fmla="val 22000"/>
            </a:avLst>
          </a:prstGeom>
          <a:noFill/>
          <a:ln w="12700">
            <a:solidFill>
              <a:srgbClr val="000000"/>
            </a:solidFill>
            <a:prstDash val="solid"/>
          </a:ln>
        </p:spPr>
        <p:txBody>
          <a:bodyPr/>
          <a:p/>
        </p:txBody>
      </p:sp>
      <p:sp>
        <p:nvSpPr>
          <p:cNvPr id="5" name="Shape 3"/>
          <p:cNvSpPr/>
          <p:nvPr/>
        </p:nvSpPr>
        <p:spPr>
          <a:xfrm>
            <a:off x="1636301" y="2943893"/>
            <a:ext cx="217664" cy="217664"/>
          </a:xfrm>
          <a:prstGeom prst="ellipse">
            <a:avLst/>
          </a:prstGeom>
          <a:noFill/>
          <a:ln w="12700">
            <a:solidFill>
              <a:srgbClr val="000000"/>
            </a:solidFill>
            <a:prstDash val="solid"/>
          </a:ln>
        </p:spPr>
        <p:txBody>
          <a:bodyPr/>
          <a:p/>
        </p:txBody>
      </p:sp>
      <p:sp>
        <p:nvSpPr>
          <p:cNvPr id="6" name="Text 4"/>
          <p:cNvSpPr/>
          <p:nvPr/>
        </p:nvSpPr>
        <p:spPr>
          <a:xfrm>
            <a:off x="2291486" y="2606040"/>
            <a:ext cx="3108960" cy="411480"/>
          </a:xfrm>
          <a:prstGeom prst="rect">
            <a:avLst/>
          </a:prstGeom>
          <a:noFill/>
          <a:ln/>
        </p:spPr>
        <p:txBody>
          <a:bodyPr wrap="square" rtlCol="0" anchor="t">
            <a:noAutofit/>
          </a:bodyPr>
          <a:lstStyle/>
          <a:p>
            <a:pPr algn="l">
              <a:buNone/>
            </a:pPr>
            <a:r>
              <a:rPr lang="en-US" sz="1200" b="0" i="0" dirty="0">
                <a:solidFill>
                  <a:srgbClr val="000000"/>
                </a:solidFill>
                <a:latin typeface="DM Serif Display"/>
                <a:ea typeface="DM Serif Display"/>
                <a:cs typeface="DM Serif Display"/>
              </a:rPr>
              <a:t>01 · Hides the Other Options (Dec 2025)</a:t>
            </a:r>
          </a:p>
        </p:txBody>
      </p:sp>
      <p:sp>
        <p:nvSpPr>
          <p:cNvPr id="7" name="Text 5"/>
          <p:cNvSpPr/>
          <p:nvPr/>
        </p:nvSpPr>
        <p:spPr>
          <a:xfrm>
            <a:off x="2291486" y="3035808"/>
            <a:ext cx="3063240" cy="777240"/>
          </a:xfrm>
          <a:prstGeom prst="rect">
            <a:avLst/>
          </a:prstGeom>
          <a:noFill/>
          <a:ln/>
        </p:spPr>
        <p:txBody>
          <a:bodyPr wrap="square" rtlCol="0" anchor="t">
            <a:noAutofit/>
          </a:bodyPr>
          <a:lstStyle/>
          <a:p>
            <a:pPr algn="l">
              <a:lnSpc>
                <a:spcPct val="112000"/>
              </a:lnSpc>
              <a:buNone/>
            </a:pPr>
            <a:r>
              <a:rPr lang="en-US" sz="900" b="0" i="0" dirty="0">
                <a:solidFill>
                  <a:srgbClr val="333333"/>
                </a:solidFill>
                <a:latin typeface="IBM Plex Sans"/>
                <a:ea typeface="IBM Plex Sans"/>
                <a:cs typeface="IBM Plex Sans"/>
              </a:rPr>
              <a:t>As of December 2025, Claude Code’s Plan Mode told the AI to “include only your recommended approach, not all alternatives.”</a:t>
            </a:r>
          </a:p>
        </p:txBody>
      </p:sp>
      <p:sp>
        <p:nvSpPr>
          <p:cNvPr id="24" name="G2 Screen Cap"/>
          <p:cNvSpPr/>
          <p:nvPr/>
        </p:nvSpPr>
        <p:spPr>
          <a:xfrm>
            <a:off x="5525719" y="1051560"/>
            <a:ext cx="5864047" cy="320040"/>
          </a:xfrm>
          <a:prstGeom prst="rect">
            <a:avLst/>
          </a:prstGeom>
          <a:noFill/>
          <a:ln/>
        </p:spPr>
        <p:txBody>
          <a:bodyPr wrap="square" rtlCol="0" anchor="t">
            <a:noAutofit/>
          </a:bodyPr>
          <a:lstStyle/>
          <a:p>
            <a:pPr algn="l">
              <a:buNone/>
            </a:pPr>
            <a:r>
              <a:rPr lang="en-US" sz="800" b="1" i="0" dirty="0">
                <a:solidFill>
                  <a:srgbClr val="555555"/>
                </a:solidFill>
                <a:latin typeface="IBM Plex Mono"/>
                <a:ea typeface="IBM Plex Mono"/>
                <a:cs typeface="IBM Plex Mono"/>
              </a:rPr>
              <a:t>RE-CREATED VIEW, NOT A SCREENSHOT  </a:t>
            </a:r>
            <a:r>
              <a:rPr lang="en-US" sz="800" b="0" i="0" dirty="0">
                <a:solidFill>
                  <a:srgbClr val="555555"/>
                </a:solidFill>
                <a:latin typeface="IBM Plex Mono"/>
                <a:ea typeface="IBM Plex Mono"/>
                <a:cs typeface="IBM Plex Mono"/>
              </a:rPr>
              <a:t>Drawn for this talk; plan menu per Anthropic’s docs</a:t>
            </a:r>
          </a:p>
        </p:txBody>
      </p:sp>
      <p:sp>
        <p:nvSpPr>
          <p:cNvPr id="40" name="G2 Caption Under Image"/>
          <p:cNvSpPr/>
          <p:nvPr/>
        </p:nvSpPr>
        <p:spPr>
          <a:xfrm>
            <a:off x="5257800" y="6382512"/>
            <a:ext cx="6400800" cy="274320"/>
          </a:xfrm>
          <a:prstGeom prst="rect">
            <a:avLst/>
          </a:prstGeom>
          <a:noFill/>
          <a:ln/>
        </p:spPr>
        <p:txBody>
          <a:bodyPr wrap="square" rtlCol="0" anchor="t">
            <a:noAutofit/>
          </a:bodyPr>
          <a:lstStyle/>
          <a:p>
            <a:pPr algn="ctr">
              <a:buNone/>
            </a:pPr>
            <a:r>
              <a:rPr lang="en-US" sz="900" b="0" i="0" dirty="0">
                <a:solidFill>
                  <a:srgbClr val="555555"/>
                </a:solidFill>
                <a:latin typeface="IBM Plex Sans"/>
                <a:ea typeface="IBM Plex Sans"/>
                <a:cs typeface="IBM Plex Sans"/>
              </a:rPr>
              <a:t>Claude Code prompting the user: the AI writes the question menu, and the plan menu puts “use auto mode” first.</a:t>
            </a:r>
          </a:p>
        </p:txBody>
      </p:sp>
      <p:sp>
        <p:nvSpPr>
          <p:cNvPr id="8" name="Shape 6"/>
          <p:cNvSpPr/>
          <p:nvPr/>
        </p:nvSpPr>
        <p:spPr>
          <a:xfrm>
            <a:off x="1528877" y="4076395"/>
            <a:ext cx="432511" cy="544068"/>
          </a:xfrm>
          <a:prstGeom prst="roundRect">
            <a:avLst>
              <a:gd name="adj" fmla="val 22000"/>
            </a:avLst>
          </a:prstGeom>
          <a:noFill/>
          <a:ln w="12700">
            <a:solidFill>
              <a:srgbClr val="000000"/>
            </a:solidFill>
            <a:prstDash val="solid"/>
          </a:ln>
        </p:spPr>
        <p:txBody>
          <a:bodyPr/>
          <a:p/>
        </p:txBody>
      </p:sp>
      <p:sp>
        <p:nvSpPr>
          <p:cNvPr id="9" name="Shape 7"/>
          <p:cNvSpPr/>
          <p:nvPr/>
        </p:nvSpPr>
        <p:spPr>
          <a:xfrm>
            <a:off x="1649980" y="4228734"/>
            <a:ext cx="190305" cy="239390"/>
          </a:xfrm>
          <a:prstGeom prst="ellipse">
            <a:avLst/>
          </a:prstGeom>
          <a:noFill/>
          <a:ln w="12700">
            <a:solidFill>
              <a:srgbClr val="000000"/>
            </a:solidFill>
            <a:prstDash val="solid"/>
          </a:ln>
        </p:spPr>
        <p:txBody>
          <a:bodyPr/>
          <a:p/>
        </p:txBody>
      </p:sp>
      <p:sp>
        <p:nvSpPr>
          <p:cNvPr id="10" name="Text 8"/>
          <p:cNvSpPr/>
          <p:nvPr/>
        </p:nvSpPr>
        <p:spPr>
          <a:xfrm>
            <a:off x="2291486" y="3904487"/>
            <a:ext cx="3108960" cy="411480"/>
          </a:xfrm>
          <a:prstGeom prst="rect">
            <a:avLst/>
          </a:prstGeom>
          <a:noFill/>
          <a:ln/>
        </p:spPr>
        <p:txBody>
          <a:bodyPr wrap="square" rtlCol="0" anchor="t">
            <a:noAutofit/>
          </a:bodyPr>
          <a:lstStyle/>
          <a:p>
            <a:pPr algn="l">
              <a:buNone/>
            </a:pPr>
            <a:r>
              <a:rPr lang="en-US" sz="1200" b="0" i="0" dirty="0">
                <a:solidFill>
                  <a:srgbClr val="000000"/>
                </a:solidFill>
                <a:latin typeface="DM Serif Display"/>
                <a:ea typeface="DM Serif Display"/>
                <a:cs typeface="DM Serif Display"/>
              </a:rPr>
              <a:t>02 · Turns the Human Into the One Answering Prompts (October 2025)</a:t>
            </a:r>
          </a:p>
        </p:txBody>
      </p:sp>
      <p:sp>
        <p:nvSpPr>
          <p:cNvPr id="11" name="Text 9"/>
          <p:cNvSpPr/>
          <p:nvPr/>
        </p:nvSpPr>
        <p:spPr>
          <a:xfrm>
            <a:off x="2291486" y="4334255"/>
            <a:ext cx="3063240" cy="777240"/>
          </a:xfrm>
          <a:prstGeom prst="rect">
            <a:avLst/>
          </a:prstGeom>
          <a:noFill/>
          <a:ln/>
        </p:spPr>
        <p:txBody>
          <a:bodyPr wrap="square" rtlCol="0" anchor="t">
            <a:noAutofit/>
          </a:bodyPr>
          <a:lstStyle/>
          <a:p>
            <a:pPr algn="l">
              <a:lnSpc>
                <a:spcPct val="112000"/>
              </a:lnSpc>
              <a:buNone/>
            </a:pPr>
            <a:r>
              <a:rPr lang="en-US" sz="900" b="0" i="0" dirty="0">
                <a:solidFill>
                  <a:srgbClr val="333333"/>
                </a:solidFill>
                <a:latin typeface="IBM Plex Sans"/>
                <a:ea typeface="IBM Plex Sans"/>
                <a:cs typeface="IBM Plex Sans"/>
              </a:rPr>
              <a:t>The AI writes its own multiple-choice questions for you (AskUserQuestion). Until July 2026, an unanswered question timed out by default and the agent went on without you.</a:t>
            </a:r>
          </a:p>
        </p:txBody>
      </p:sp>
      <p:sp>
        <p:nvSpPr>
          <p:cNvPr id="12" name="Shape 10"/>
          <p:cNvSpPr/>
          <p:nvPr/>
        </p:nvSpPr>
        <p:spPr>
          <a:xfrm>
            <a:off x="1497787" y="5370271"/>
            <a:ext cx="494690" cy="458114"/>
          </a:xfrm>
          <a:prstGeom prst="roundRect">
            <a:avLst>
              <a:gd name="adj" fmla="val 22000"/>
            </a:avLst>
          </a:prstGeom>
          <a:noFill/>
          <a:ln w="12700">
            <a:solidFill>
              <a:srgbClr val="000000"/>
            </a:solidFill>
            <a:prstDash val="solid"/>
          </a:ln>
        </p:spPr>
        <p:txBody>
          <a:bodyPr/>
          <a:p/>
        </p:txBody>
      </p:sp>
      <p:sp>
        <p:nvSpPr>
          <p:cNvPr id="13" name="Shape 11"/>
          <p:cNvSpPr/>
          <p:nvPr/>
        </p:nvSpPr>
        <p:spPr>
          <a:xfrm>
            <a:off x="1636301" y="5498543"/>
            <a:ext cx="217664" cy="201570"/>
          </a:xfrm>
          <a:prstGeom prst="ellipse">
            <a:avLst/>
          </a:prstGeom>
          <a:noFill/>
          <a:ln w="12700">
            <a:solidFill>
              <a:srgbClr val="000000"/>
            </a:solidFill>
            <a:prstDash val="solid"/>
          </a:ln>
        </p:spPr>
        <p:txBody>
          <a:bodyPr/>
          <a:p/>
        </p:txBody>
      </p:sp>
      <p:sp>
        <p:nvSpPr>
          <p:cNvPr id="14" name="Text 12"/>
          <p:cNvSpPr/>
          <p:nvPr/>
        </p:nvSpPr>
        <p:spPr>
          <a:xfrm>
            <a:off x="2291486" y="5202936"/>
            <a:ext cx="3108960" cy="411480"/>
          </a:xfrm>
          <a:prstGeom prst="rect">
            <a:avLst/>
          </a:prstGeom>
          <a:noFill/>
          <a:ln/>
        </p:spPr>
        <p:txBody>
          <a:bodyPr wrap="square" rtlCol="0" anchor="t">
            <a:noAutofit/>
          </a:bodyPr>
          <a:lstStyle/>
          <a:p>
            <a:pPr algn="l">
              <a:buNone/>
            </a:pPr>
            <a:r>
              <a:rPr lang="en-US" sz="1200" b="0" i="0" dirty="0">
                <a:solidFill>
                  <a:srgbClr val="000000"/>
                </a:solidFill>
                <a:latin typeface="DM Serif Display"/>
                <a:ea typeface="DM Serif Display"/>
                <a:cs typeface="DM Serif Display"/>
              </a:rPr>
              <a:t>03 · Nudges You Toward Auto Mode (2026)</a:t>
            </a:r>
          </a:p>
        </p:txBody>
      </p:sp>
      <p:sp>
        <p:nvSpPr>
          <p:cNvPr id="15" name="Text 13"/>
          <p:cNvSpPr/>
          <p:nvPr/>
        </p:nvSpPr>
        <p:spPr>
          <a:xfrm>
            <a:off x="2291486" y="5632704"/>
            <a:ext cx="3063240" cy="777240"/>
          </a:xfrm>
          <a:prstGeom prst="rect">
            <a:avLst/>
          </a:prstGeom>
          <a:noFill/>
          <a:ln/>
        </p:spPr>
        <p:txBody>
          <a:bodyPr wrap="square" rtlCol="0" anchor="t">
            <a:noAutofit/>
          </a:bodyPr>
          <a:lstStyle/>
          <a:p>
            <a:pPr algn="l">
              <a:lnSpc>
                <a:spcPct val="112000"/>
              </a:lnSpc>
              <a:buNone/>
            </a:pPr>
            <a:r>
              <a:rPr lang="en-US" sz="900" b="0" i="0" dirty="0">
                <a:solidFill>
                  <a:srgbClr val="333333"/>
                </a:solidFill>
                <a:latin typeface="IBM Plex Sans"/>
                <a:ea typeface="IBM Plex Sans"/>
                <a:cs typeface="IBM Plex Sans"/>
              </a:rPr>
              <a:t>The first choice on the plan menu is “Yes, and use auto mode.” Since September 2026, Claude Code starts in auto mode by default.</a:t>
            </a:r>
          </a:p>
        </p:txBody>
      </p:sp>
      <p:sp>
        <p:nvSpPr>
          <p:cNvPr id="16" name="Shape 14"/>
          <p:cNvSpPr/>
          <p:nvPr/>
        </p:nvSpPr>
        <p:spPr>
          <a:xfrm>
            <a:off x="5525719" y="1430122"/>
            <a:ext cx="5864047" cy="3577133"/>
          </a:xfrm>
          <a:prstGeom prst="roundRect">
            <a:avLst>
              <a:gd name="adj" fmla="val 3067"/>
            </a:avLst>
          </a:prstGeom>
          <a:solidFill>
            <a:srgbClr val="3F3F3F"/>
          </a:solidFill>
          <a:ln/>
        </p:spPr>
        <p:txBody>
          <a:bodyPr/>
          <a:p/>
        </p:txBody>
      </p:sp>
      <p:sp>
        <p:nvSpPr>
          <p:cNvPr id="17" name="Shape 15"/>
          <p:cNvSpPr/>
          <p:nvPr/>
        </p:nvSpPr>
        <p:spPr>
          <a:xfrm>
            <a:off x="8380476" y="1546250"/>
            <a:ext cx="71323" cy="71323"/>
          </a:xfrm>
          <a:prstGeom prst="ellipse">
            <a:avLst/>
          </a:prstGeom>
          <a:solidFill>
            <a:srgbClr val="626263"/>
          </a:solidFill>
          <a:ln/>
        </p:spPr>
        <p:txBody>
          <a:bodyPr/>
          <a:p/>
        </p:txBody>
      </p:sp>
      <p:sp>
        <p:nvSpPr>
          <p:cNvPr id="18" name="Shape 16"/>
          <p:cNvSpPr/>
          <p:nvPr/>
        </p:nvSpPr>
        <p:spPr>
          <a:xfrm>
            <a:off x="5781751" y="1655064"/>
            <a:ext cx="5368442" cy="3138221"/>
          </a:xfrm>
          <a:prstGeom prst="rect">
            <a:avLst/>
          </a:prstGeom>
          <a:noFill/>
          <a:ln/>
        </p:spPr>
        <p:txBody>
          <a:bodyPr/>
          <a:p/>
        </p:txBody>
      </p:sp>
      <p:pic>
        <p:nvPicPr>
          <p:cNvPr id="23" name="G1 Picture 1" descr="Re-created Claude Code terminal: AskUserQuestion multiple-choice prompt and plan approval menu"/>
          <p:cNvPicPr>
            <a:picLocks noChangeAspect="1"/>
          </p:cNvPicPr>
          <p:nvPr/>
        </p:nvPicPr>
        <p:blipFill>
          <a:blip r:embed="rIdG1Img1"/>
          <a:srcRect l="0" t="56" r="0" b="56"/>
          <a:stretch>
            <a:fillRect/>
          </a:stretch>
        </p:blipFill>
        <p:spPr>
          <a:xfrm>
            <a:off x="5781751" y="1655064"/>
            <a:ext cx="5368442" cy="3138221"/>
          </a:xfrm>
          <a:prstGeom prst="rect">
            <a:avLst/>
          </a:prstGeom>
          <a:ln w="9525">
            <a:solidFill>
              <a:srgbClr val="000000"/>
            </a:solidFill>
          </a:ln>
        </p:spPr>
      </p:pic>
      <p:sp>
        <p:nvSpPr>
          <p:cNvPr id="19" name="Shape 17"/>
          <p:cNvSpPr/>
          <p:nvPr/>
        </p:nvSpPr>
        <p:spPr>
          <a:xfrm>
            <a:off x="5527548" y="5007254"/>
            <a:ext cx="5864047" cy="455371"/>
          </a:xfrm>
          <a:prstGeom prst="roundRect">
            <a:avLst>
              <a:gd name="adj" fmla="val 18072"/>
            </a:avLst>
          </a:prstGeom>
          <a:solidFill>
            <a:srgbClr val="EBEAED"/>
          </a:solidFill>
          <a:ln/>
        </p:spPr>
        <p:txBody>
          <a:bodyPr/>
          <a:p/>
        </p:txBody>
      </p:sp>
      <p:sp>
        <p:nvSpPr>
          <p:cNvPr id="20" name="Shape 18"/>
          <p:cNvSpPr/>
          <p:nvPr/>
        </p:nvSpPr>
        <p:spPr>
          <a:xfrm>
            <a:off x="8326526" y="5146243"/>
            <a:ext cx="178308" cy="178308"/>
          </a:xfrm>
          <a:prstGeom prst="ellipse">
            <a:avLst/>
          </a:prstGeom>
          <a:solidFill>
            <a:srgbClr val="D5D3D7"/>
          </a:solidFill>
          <a:ln/>
        </p:spPr>
        <p:txBody>
          <a:bodyPr/>
          <a:p/>
        </p:txBody>
      </p:sp>
      <p:sp>
        <p:nvSpPr>
          <p:cNvPr id="21" name="Shape 19"/>
          <p:cNvSpPr/>
          <p:nvPr/>
        </p:nvSpPr>
        <p:spPr>
          <a:xfrm>
            <a:off x="7789774" y="5428793"/>
            <a:ext cx="1269187" cy="690372"/>
          </a:xfrm>
          <a:custGeom>
            <a:avLst/>
            <a:gdLst/>
            <a:ahLst/>
            <a:cxnLst/>
            <a:rect l="l" t="t" r="r" b="b"/>
            <a:pathLst>
              <a:path w="1269187" h="690372">
                <a:moveTo>
                  <a:pt x="91440" y="0"/>
                </a:moveTo>
                <a:lnTo>
                  <a:pt x="1177747" y="0"/>
                </a:lnTo>
                <a:lnTo>
                  <a:pt x="1269187" y="690372"/>
                </a:lnTo>
                <a:lnTo>
                  <a:pt x="0" y="690372"/>
                </a:lnTo>
                <a:close/>
              </a:path>
            </a:pathLst>
          </a:custGeom>
          <a:solidFill>
            <a:srgbClr val="D3D0D5"/>
          </a:solidFill>
          <a:ln/>
        </p:spPr>
        <p:txBody>
          <a:bodyPr/>
          <a:p/>
        </p:txBody>
      </p:sp>
      <p:sp>
        <p:nvSpPr>
          <p:cNvPr id="22" name="Shape 20"/>
          <p:cNvSpPr/>
          <p:nvPr/>
        </p:nvSpPr>
        <p:spPr>
          <a:xfrm>
            <a:off x="7698334" y="6104534"/>
            <a:ext cx="1452067" cy="178308"/>
          </a:xfrm>
          <a:prstGeom prst="roundRect">
            <a:avLst>
              <a:gd name="adj" fmla="val 25641"/>
            </a:avLst>
          </a:prstGeom>
          <a:solidFill>
            <a:srgbClr val="BFBFBF"/>
          </a:solidFill>
          <a:ln/>
        </p:spPr>
        <p:txBody>
          <a:body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640080"/>
            <a:ext cx="10543032" cy="685800"/>
          </a:xfrm>
          <a:prstGeom prst="rect">
            <a:avLst/>
          </a:prstGeom>
          <a:noFill/>
          <a:ln/>
        </p:spPr>
        <p:txBody>
          <a:bodyPr wrap="square" rtlCol="0" anchor="t">
            <a:noAutofit/>
          </a:bodyPr>
          <a:lstStyle/>
          <a:p>
            <a:pPr algn="ctr">
              <a:buNone/>
            </a:pPr>
            <a:r>
              <a:rPr lang="en-US" sz="3200" b="0" i="0" dirty="0">
                <a:solidFill>
                  <a:srgbClr val="000000"/>
                </a:solidFill>
                <a:latin typeface="DM Serif Display"/>
                <a:ea typeface="DM Serif Display"/>
                <a:cs typeface="DM Serif Display"/>
              </a:rPr>
              <a:t>Why AI-Written Menus Weaken Your Control</a:t>
            </a:r>
          </a:p>
        </p:txBody>
      </p:sp>
      <p:sp>
        <p:nvSpPr>
          <p:cNvPr id="3" name="Text 1"/>
          <p:cNvSpPr/>
          <p:nvPr/>
        </p:nvSpPr>
        <p:spPr>
          <a:xfrm>
            <a:off x="1231697" y="1325880"/>
            <a:ext cx="9729216" cy="365760"/>
          </a:xfrm>
          <a:prstGeom prst="rect">
            <a:avLst/>
          </a:prstGeom>
          <a:noFill/>
          <a:ln/>
        </p:spPr>
        <p:txBody>
          <a:bodyPr wrap="square" rtlCol="0" anchor="t">
            <a:noAutofit/>
          </a:bodyPr>
          <a:lstStyle/>
          <a:p>
            <a:pPr algn="ctr">
              <a:buNone/>
            </a:pPr>
            <a:r>
              <a:rPr lang="en-US" sz="1100" b="0" i="0" dirty="0">
                <a:solidFill>
                  <a:srgbClr val="555555"/>
                </a:solidFill>
                <a:latin typeface="IBM Plex Sans"/>
                <a:ea typeface="IBM Plex Sans"/>
                <a:cs typeface="IBM Plex Sans"/>
              </a:rPr>
              <a:t>When the AI writes the questions and the multiple-choice options, you steer less—you mostly approve its plan.</a:t>
            </a:r>
          </a:p>
        </p:txBody>
      </p:sp>
      <p:sp>
        <p:nvSpPr>
          <p:cNvPr id="4" name="Shape 2"/>
          <p:cNvSpPr/>
          <p:nvPr/>
        </p:nvSpPr>
        <p:spPr>
          <a:xfrm>
            <a:off x="3401568" y="2184502"/>
            <a:ext cx="2541118" cy="1930298"/>
          </a:xfrm>
          <a:prstGeom prst="rect">
            <a:avLst/>
          </a:prstGeom>
          <a:solidFill>
            <a:srgbClr val="000000"/>
          </a:solidFill>
          <a:ln/>
        </p:spPr>
        <p:txBody>
          <a:bodyPr/>
          <a:p/>
        </p:txBody>
      </p:sp>
      <p:sp>
        <p:nvSpPr>
          <p:cNvPr id="7" name="Text 5"/>
          <p:cNvSpPr/>
          <p:nvPr/>
        </p:nvSpPr>
        <p:spPr>
          <a:xfrm>
            <a:off x="3566160" y="2349094"/>
            <a:ext cx="2240280" cy="1645920"/>
          </a:xfrm>
          <a:prstGeom prst="rect">
            <a:avLst/>
          </a:prstGeom>
          <a:noFill/>
          <a:ln/>
        </p:spPr>
        <p:txBody>
          <a:bodyPr wrap="square" rtlCol="0" anchor="t">
            <a:noAutofit/>
          </a:bodyPr>
          <a:lstStyle/>
          <a:p>
            <a:pPr algn="l">
              <a:lnSpc>
                <a:spcPct val="112000"/>
              </a:lnSpc>
              <a:spcAft>
                <a:spcPts val="500"/>
              </a:spcAft>
              <a:buNone/>
            </a:pPr>
            <a:r>
              <a:rPr lang="en-US" sz="1500" b="0" i="0" dirty="0">
                <a:solidFill>
                  <a:srgbClr val="FFFFFF"/>
                </a:solidFill>
                <a:latin typeface="DM Serif Display"/>
                <a:ea typeface="DM Serif Display"/>
                <a:cs typeface="DM Serif Display"/>
              </a:rPr>
              <a:t>Mostly to get a yes</a:t>
            </a:r>
          </a:p>
          <a:p>
            <a:pPr algn="l">
              <a:lnSpc>
                <a:spcPct val="112000"/>
              </a:lnSpc>
              <a:spcAft>
                <a:spcPts val="500"/>
              </a:spcAft>
              <a:buNone/>
            </a:pPr>
            <a:r>
              <a:rPr lang="en-US" sz="1000" b="0" i="0" dirty="0">
                <a:solidFill>
                  <a:srgbClr val="FFFFFF"/>
                </a:solidFill>
                <a:latin typeface="IBM Plex Sans"/>
                <a:ea typeface="IBM Plex Sans"/>
                <a:cs typeface="IBM Plex Sans"/>
              </a:rPr>
              <a:t>The tool pauses mainly for permission, plan approval, or a question the AI wrote.</a:t>
            </a:r>
          </a:p>
        </p:txBody>
      </p:sp>
      <p:sp>
        <p:nvSpPr>
          <p:cNvPr id="8" name="Shape 6"/>
          <p:cNvSpPr/>
          <p:nvPr/>
        </p:nvSpPr>
        <p:spPr>
          <a:xfrm>
            <a:off x="6056071" y="2184502"/>
            <a:ext cx="2541118" cy="1930298"/>
          </a:xfrm>
          <a:prstGeom prst="rect">
            <a:avLst/>
          </a:prstGeom>
          <a:solidFill>
            <a:srgbClr val="000000"/>
          </a:solidFill>
          <a:ln/>
        </p:spPr>
        <p:txBody>
          <a:bodyPr/>
          <a:p/>
        </p:txBody>
      </p:sp>
      <p:sp>
        <p:nvSpPr>
          <p:cNvPr id="11" name="Text 9"/>
          <p:cNvSpPr/>
          <p:nvPr/>
        </p:nvSpPr>
        <p:spPr>
          <a:xfrm>
            <a:off x="6220663" y="2349094"/>
            <a:ext cx="2240280" cy="1645920"/>
          </a:xfrm>
          <a:prstGeom prst="rect">
            <a:avLst/>
          </a:prstGeom>
          <a:noFill/>
          <a:ln/>
        </p:spPr>
        <p:txBody>
          <a:bodyPr wrap="square" rtlCol="0" anchor="t">
            <a:noAutofit/>
          </a:bodyPr>
          <a:lstStyle/>
          <a:p>
            <a:pPr algn="l">
              <a:lnSpc>
                <a:spcPct val="112000"/>
              </a:lnSpc>
              <a:spcAft>
                <a:spcPts val="500"/>
              </a:spcAft>
              <a:buNone/>
            </a:pPr>
            <a:r>
              <a:rPr lang="en-US" sz="1500" b="0" i="0" dirty="0">
                <a:solidFill>
                  <a:srgbClr val="FFFFFF"/>
                </a:solidFill>
                <a:latin typeface="DM Serif Display"/>
                <a:ea typeface="DM Serif Display"/>
                <a:cs typeface="DM Serif Display"/>
              </a:rPr>
              <a:t>One plan, rest hidden</a:t>
            </a:r>
          </a:p>
          <a:p>
            <a:pPr algn="l">
              <a:lnSpc>
                <a:spcPct val="112000"/>
              </a:lnSpc>
              <a:spcAft>
                <a:spcPts val="500"/>
              </a:spcAft>
              <a:buNone/>
            </a:pPr>
            <a:r>
              <a:rPr lang="en-US" sz="1000" b="0" i="0" dirty="0">
                <a:solidFill>
                  <a:srgbClr val="FFFFFF"/>
                </a:solidFill>
                <a:latin typeface="IBM Plex Sans"/>
                <a:ea typeface="IBM Plex Sans"/>
                <a:cs typeface="IBM Plex Sans"/>
              </a:rPr>
              <a:t>The AI shows one recommended plan, leaves out the alternatives, and puts “Yes, and use auto mode” first on the menu.</a:t>
            </a:r>
          </a:p>
        </p:txBody>
      </p:sp>
      <p:sp>
        <p:nvSpPr>
          <p:cNvPr id="12" name="Shape 10"/>
          <p:cNvSpPr/>
          <p:nvPr/>
        </p:nvSpPr>
        <p:spPr>
          <a:xfrm>
            <a:off x="8711489" y="2184502"/>
            <a:ext cx="2541118" cy="1930298"/>
          </a:xfrm>
          <a:prstGeom prst="rect">
            <a:avLst/>
          </a:prstGeom>
          <a:solidFill>
            <a:srgbClr val="000000"/>
          </a:solidFill>
          <a:ln/>
        </p:spPr>
        <p:txBody>
          <a:bodyPr/>
          <a:p/>
        </p:txBody>
      </p:sp>
      <p:sp>
        <p:nvSpPr>
          <p:cNvPr id="15" name="Text 13"/>
          <p:cNvSpPr/>
          <p:nvPr/>
        </p:nvSpPr>
        <p:spPr>
          <a:xfrm>
            <a:off x="8876081" y="2349094"/>
            <a:ext cx="2240280" cy="1645920"/>
          </a:xfrm>
          <a:prstGeom prst="rect">
            <a:avLst/>
          </a:prstGeom>
          <a:noFill/>
          <a:ln/>
        </p:spPr>
        <p:txBody>
          <a:bodyPr wrap="square" rtlCol="0" anchor="t">
            <a:noAutofit/>
          </a:bodyPr>
          <a:lstStyle/>
          <a:p>
            <a:pPr algn="l">
              <a:lnSpc>
                <a:spcPct val="112000"/>
              </a:lnSpc>
              <a:spcAft>
                <a:spcPts val="500"/>
              </a:spcAft>
              <a:buNone/>
            </a:pPr>
            <a:r>
              <a:rPr lang="en-US" sz="1500" b="0" i="0" dirty="0">
                <a:solidFill>
                  <a:srgbClr val="FFFFFF"/>
                </a:solidFill>
                <a:latin typeface="DM Serif Display"/>
                <a:ea typeface="DM Serif Display"/>
                <a:cs typeface="DM Serif Display"/>
              </a:rPr>
              <a:t>Rubber-Stamper</a:t>
            </a:r>
          </a:p>
          <a:p>
            <a:pPr algn="l">
              <a:lnSpc>
                <a:spcPct val="112000"/>
              </a:lnSpc>
              <a:spcAft>
                <a:spcPts val="500"/>
              </a:spcAft>
              <a:buNone/>
            </a:pPr>
            <a:r>
              <a:rPr lang="en-US" sz="1000" b="0" i="0" dirty="0">
                <a:solidFill>
                  <a:srgbClr val="FFFFFF"/>
                </a:solidFill>
                <a:latin typeface="IBM Plex Sans"/>
                <a:ea typeface="IBM Plex Sans"/>
                <a:cs typeface="IBM Plex Sans"/>
              </a:rPr>
              <a:t>You click through menus the machine wrote, and auto mode is pitched as the cure for “prompt fatigue.”</a:t>
            </a:r>
          </a:p>
        </p:txBody>
      </p:sp>
      <p:sp>
        <p:nvSpPr>
          <p:cNvPr id="16" name="Shape 14"/>
          <p:cNvSpPr/>
          <p:nvPr/>
        </p:nvSpPr>
        <p:spPr>
          <a:xfrm>
            <a:off x="3401568" y="4214470"/>
            <a:ext cx="2541118" cy="1930298"/>
          </a:xfrm>
          <a:prstGeom prst="rect">
            <a:avLst/>
          </a:prstGeom>
          <a:solidFill>
            <a:srgbClr val="F2F2F2"/>
          </a:solidFill>
          <a:ln/>
        </p:spPr>
        <p:txBody>
          <a:bodyPr/>
          <a:p/>
        </p:txBody>
      </p:sp>
      <p:sp>
        <p:nvSpPr>
          <p:cNvPr id="19" name="Text 17"/>
          <p:cNvSpPr/>
          <p:nvPr/>
        </p:nvSpPr>
        <p:spPr>
          <a:xfrm>
            <a:off x="3566160" y="4379062"/>
            <a:ext cx="2240280" cy="1645920"/>
          </a:xfrm>
          <a:prstGeom prst="rect">
            <a:avLst/>
          </a:prstGeom>
          <a:noFill/>
          <a:ln/>
        </p:spPr>
        <p:txBody>
          <a:bodyPr wrap="square" rtlCol="0" anchor="t">
            <a:noAutofit/>
          </a:bodyPr>
          <a:lstStyle/>
          <a:p>
            <a:pPr algn="l">
              <a:lnSpc>
                <a:spcPct val="112000"/>
              </a:lnSpc>
              <a:spcAft>
                <a:spcPts val="500"/>
              </a:spcAft>
              <a:buNone/>
            </a:pPr>
            <a:r>
              <a:rPr lang="en-US" sz="1500" b="0" i="0" dirty="0">
                <a:solidFill>
                  <a:srgbClr val="000000"/>
                </a:solidFill>
                <a:latin typeface="DM Serif Display"/>
                <a:ea typeface="DM Serif Display"/>
                <a:cs typeface="DM Serif Display"/>
              </a:rPr>
              <a:t>At every real decision</a:t>
            </a:r>
          </a:p>
          <a:p>
            <a:pPr algn="l">
              <a:lnSpc>
                <a:spcPct val="112000"/>
              </a:lnSpc>
              <a:spcAft>
                <a:spcPts val="500"/>
              </a:spcAft>
              <a:buNone/>
            </a:pPr>
            <a:r>
              <a:rPr lang="en-US" sz="1000" b="0" i="0" dirty="0">
                <a:solidFill>
                  <a:srgbClr val="000000"/>
                </a:solidFill>
                <a:latin typeface="IBM Plex Sans"/>
                <a:ea typeface="IBM Plex Sans"/>
                <a:cs typeface="IBM Plex Sans"/>
              </a:rPr>
              <a:t>The interface pauses automatically whenever the stream hits a real commitment, assumption, or fork in the road.</a:t>
            </a:r>
          </a:p>
        </p:txBody>
      </p:sp>
      <p:sp>
        <p:nvSpPr>
          <p:cNvPr id="20" name="Shape 18"/>
          <p:cNvSpPr/>
          <p:nvPr/>
        </p:nvSpPr>
        <p:spPr>
          <a:xfrm>
            <a:off x="6056071" y="4214470"/>
            <a:ext cx="2541118" cy="1930298"/>
          </a:xfrm>
          <a:prstGeom prst="rect">
            <a:avLst/>
          </a:prstGeom>
          <a:solidFill>
            <a:srgbClr val="F2F2F2"/>
          </a:solidFill>
          <a:ln/>
        </p:spPr>
        <p:txBody>
          <a:bodyPr/>
          <a:p/>
        </p:txBody>
      </p:sp>
      <p:sp>
        <p:nvSpPr>
          <p:cNvPr id="23" name="Text 21"/>
          <p:cNvSpPr/>
          <p:nvPr/>
        </p:nvSpPr>
        <p:spPr>
          <a:xfrm>
            <a:off x="6220663" y="4379062"/>
            <a:ext cx="2240280" cy="1645920"/>
          </a:xfrm>
          <a:prstGeom prst="rect">
            <a:avLst/>
          </a:prstGeom>
          <a:noFill/>
          <a:ln/>
        </p:spPr>
        <p:txBody>
          <a:bodyPr wrap="square" rtlCol="0" anchor="t">
            <a:noAutofit/>
          </a:bodyPr>
          <a:lstStyle/>
          <a:p>
            <a:pPr algn="l">
              <a:lnSpc>
                <a:spcPct val="112000"/>
              </a:lnSpc>
              <a:spcAft>
                <a:spcPts val="500"/>
              </a:spcAft>
              <a:buNone/>
            </a:pPr>
            <a:r>
              <a:rPr lang="en-US" sz="1500" b="0" i="0" dirty="0">
                <a:solidFill>
                  <a:srgbClr val="000000"/>
                </a:solidFill>
                <a:latin typeface="DM Serif Display"/>
                <a:ea typeface="DM Serif Display"/>
                <a:cs typeface="DM Serif Display"/>
              </a:rPr>
              <a:t>Real options, no default</a:t>
            </a:r>
          </a:p>
          <a:p>
            <a:pPr algn="l">
              <a:lnSpc>
                <a:spcPct val="112000"/>
              </a:lnSpc>
              <a:spcAft>
                <a:spcPts val="500"/>
              </a:spcAft>
              <a:buNone/>
            </a:pPr>
            <a:r>
              <a:rPr lang="en-US" sz="1000" b="0" i="0" dirty="0">
                <a:solidFill>
                  <a:srgbClr val="000000"/>
                </a:solidFill>
                <a:latin typeface="IBM Plex Sans"/>
                <a:ea typeface="IBM Plex Sans"/>
                <a:cs typeface="IBM Plex Sans"/>
              </a:rPr>
              <a:t>No pre-selected default—the interface lays out the real alternatives and trade-offs side by side.</a:t>
            </a:r>
          </a:p>
        </p:txBody>
      </p:sp>
      <p:sp>
        <p:nvSpPr>
          <p:cNvPr id="24" name="Shape 22"/>
          <p:cNvSpPr/>
          <p:nvPr/>
        </p:nvSpPr>
        <p:spPr>
          <a:xfrm>
            <a:off x="8711489" y="4214470"/>
            <a:ext cx="2541118" cy="1930298"/>
          </a:xfrm>
          <a:prstGeom prst="rect">
            <a:avLst/>
          </a:prstGeom>
          <a:solidFill>
            <a:srgbClr val="F2F2F2"/>
          </a:solidFill>
          <a:ln/>
        </p:spPr>
        <p:txBody>
          <a:bodyPr/>
          <a:p/>
        </p:txBody>
      </p:sp>
      <p:sp>
        <p:nvSpPr>
          <p:cNvPr id="27" name="Text 25"/>
          <p:cNvSpPr/>
          <p:nvPr/>
        </p:nvSpPr>
        <p:spPr>
          <a:xfrm>
            <a:off x="8876081" y="4379062"/>
            <a:ext cx="2240280" cy="1645920"/>
          </a:xfrm>
          <a:prstGeom prst="rect">
            <a:avLst/>
          </a:prstGeom>
          <a:noFill/>
          <a:ln/>
        </p:spPr>
        <p:txBody>
          <a:bodyPr wrap="square" rtlCol="0" anchor="t">
            <a:noAutofit/>
          </a:bodyPr>
          <a:lstStyle/>
          <a:p>
            <a:pPr algn="l">
              <a:lnSpc>
                <a:spcPct val="112000"/>
              </a:lnSpc>
              <a:spcAft>
                <a:spcPts val="500"/>
              </a:spcAft>
              <a:buNone/>
            </a:pPr>
            <a:r>
              <a:rPr lang="en-US" sz="1500" b="0" i="0" dirty="0">
                <a:solidFill>
                  <a:srgbClr val="000000"/>
                </a:solidFill>
                <a:latin typeface="DM Serif Display"/>
                <a:ea typeface="DM Serif Display"/>
                <a:cs typeface="DM Serif Display"/>
              </a:rPr>
              <a:t>Decision-Maker</a:t>
            </a:r>
          </a:p>
          <a:p>
            <a:pPr algn="l">
              <a:lnSpc>
                <a:spcPct val="112000"/>
              </a:lnSpc>
              <a:spcAft>
                <a:spcPts val="500"/>
              </a:spcAft>
              <a:buNone/>
            </a:pPr>
            <a:r>
              <a:rPr lang="en-US" sz="1000" b="0" i="0" dirty="0">
                <a:solidFill>
                  <a:srgbClr val="000000"/>
                </a:solidFill>
                <a:latin typeface="IBM Plex Sans"/>
                <a:ea typeface="IBM Plex Sans"/>
                <a:cs typeface="IBM Plex Sans"/>
              </a:rPr>
              <a:t>You see where the paths split, check the facts on a still page, and choose the direction.</a:t>
            </a:r>
          </a:p>
        </p:txBody>
      </p:sp>
      <p:sp>
        <p:nvSpPr>
          <p:cNvPr id="28" name="Text 26"/>
          <p:cNvSpPr/>
          <p:nvPr/>
        </p:nvSpPr>
        <p:spPr>
          <a:xfrm>
            <a:off x="771754" y="2390242"/>
            <a:ext cx="723290" cy="477317"/>
          </a:xfrm>
          <a:prstGeom prst="rect">
            <a:avLst/>
          </a:prstGeom>
          <a:noFill/>
          <a:ln/>
        </p:spPr>
        <p:txBody>
          <a:bodyPr wrap="square" rtlCol="0" anchor="t">
            <a:noAutofit/>
          </a:bodyPr>
          <a:lstStyle/>
          <a:p>
            <a:pPr algn="l">
              <a:buNone/>
            </a:pPr>
            <a:r>
              <a:rPr lang="en-US" sz="3200" b="0" i="0" dirty="0">
                <a:solidFill>
                  <a:srgbClr val="000000"/>
                </a:solidFill>
                <a:latin typeface="DM Serif Display"/>
                <a:ea typeface="DM Serif Display"/>
                <a:cs typeface="DM Serif Display"/>
              </a:rPr>
              <a:t>01</a:t>
            </a:r>
          </a:p>
        </p:txBody>
      </p:sp>
      <p:sp>
        <p:nvSpPr>
          <p:cNvPr id="29" name="Text 27"/>
          <p:cNvSpPr/>
          <p:nvPr/>
        </p:nvSpPr>
        <p:spPr>
          <a:xfrm>
            <a:off x="865022" y="2867558"/>
            <a:ext cx="2377440" cy="365760"/>
          </a:xfrm>
          <a:prstGeom prst="rect">
            <a:avLst/>
          </a:prstGeom>
          <a:noFill/>
          <a:ln/>
        </p:spPr>
        <p:txBody>
          <a:bodyPr wrap="square" rtlCol="0" anchor="t">
            <a:noAutofit/>
          </a:bodyPr>
          <a:lstStyle/>
          <a:p>
            <a:pPr algn="l">
              <a:buNone/>
            </a:pPr>
            <a:r>
              <a:rPr lang="en-US" sz="1400" b="0" i="0" dirty="0">
                <a:solidFill>
                  <a:srgbClr val="000000"/>
                </a:solidFill>
                <a:latin typeface="DM Serif Display"/>
                <a:ea typeface="DM Serif Display"/>
                <a:cs typeface="DM Serif Display"/>
              </a:rPr>
              <a:t>Today’s AI Agents</a:t>
            </a:r>
          </a:p>
        </p:txBody>
      </p:sp>
      <p:sp>
        <p:nvSpPr>
          <p:cNvPr id="30" name="Text 28"/>
          <p:cNvSpPr/>
          <p:nvPr/>
        </p:nvSpPr>
        <p:spPr>
          <a:xfrm>
            <a:off x="865022" y="3246120"/>
            <a:ext cx="2286000" cy="640080"/>
          </a:xfrm>
          <a:prstGeom prst="rect">
            <a:avLst/>
          </a:prstGeom>
          <a:noFill/>
          <a:ln/>
        </p:spPr>
        <p:txBody>
          <a:bodyPr wrap="square" rtlCol="0" anchor="t">
            <a:noAutofit/>
          </a:bodyPr>
          <a:lstStyle/>
          <a:p>
            <a:pPr algn="l">
              <a:lnSpc>
                <a:spcPct val="110000"/>
              </a:lnSpc>
              <a:buNone/>
            </a:pPr>
            <a:r>
              <a:rPr lang="en-US" sz="1000" b="0" i="0" dirty="0">
                <a:solidFill>
                  <a:srgbClr val="555555"/>
                </a:solidFill>
                <a:latin typeface="IBM Plex Sans"/>
                <a:ea typeface="IBM Plex Sans"/>
                <a:cs typeface="IBM Plex Sans"/>
              </a:rPr>
              <a:t>The AI prompts the human.</a:t>
            </a:r>
          </a:p>
        </p:txBody>
      </p:sp>
      <p:sp>
        <p:nvSpPr>
          <p:cNvPr id="36" name="G2 Head 2"/>
          <p:cNvSpPr/>
          <p:nvPr/>
        </p:nvSpPr>
        <p:spPr>
          <a:xfrm>
            <a:off x="8711489" y="1847088"/>
            <a:ext cx="2541118" cy="274320"/>
          </a:xfrm>
          <a:prstGeom prst="rect">
            <a:avLst/>
          </a:prstGeom>
          <a:noFill/>
          <a:ln/>
        </p:spPr>
        <p:txBody>
          <a:bodyPr wrap="square" rtlCol="0" anchor="t">
            <a:noAutofit/>
          </a:bodyPr>
          <a:lstStyle/>
          <a:p>
            <a:pPr algn="l">
              <a:buNone/>
            </a:pPr>
            <a:r>
              <a:rPr lang="en-US" sz="900" b="1" i="0" dirty="0">
                <a:solidFill>
                  <a:srgbClr val="000000"/>
                </a:solidFill>
                <a:latin typeface="IBM Plex Sans"/>
                <a:ea typeface="IBM Plex Sans"/>
                <a:cs typeface="IBM Plex Sans"/>
              </a:rPr>
              <a:t>03 · What Role Does the Human Play?</a:t>
            </a:r>
          </a:p>
        </p:txBody>
      </p:sp>
      <p:sp>
        <p:nvSpPr>
          <p:cNvPr id="35" name="G2 Head 1"/>
          <p:cNvSpPr/>
          <p:nvPr/>
        </p:nvSpPr>
        <p:spPr>
          <a:xfrm>
            <a:off x="6056071" y="1847088"/>
            <a:ext cx="2541118" cy="274320"/>
          </a:xfrm>
          <a:prstGeom prst="rect">
            <a:avLst/>
          </a:prstGeom>
          <a:noFill/>
          <a:ln/>
        </p:spPr>
        <p:txBody>
          <a:bodyPr wrap="square" rtlCol="0" anchor="t">
            <a:noAutofit/>
          </a:bodyPr>
          <a:lstStyle/>
          <a:p>
            <a:pPr algn="l">
              <a:buNone/>
            </a:pPr>
            <a:r>
              <a:rPr lang="en-US" sz="900" b="1" i="0" dirty="0">
                <a:solidFill>
                  <a:srgbClr val="000000"/>
                </a:solidFill>
                <a:latin typeface="IBM Plex Sans"/>
                <a:ea typeface="IBM Plex Sans"/>
                <a:cs typeface="IBM Plex Sans"/>
              </a:rPr>
              <a:t>02 · How Are the Choices Shown?</a:t>
            </a:r>
          </a:p>
        </p:txBody>
      </p:sp>
      <p:sp>
        <p:nvSpPr>
          <p:cNvPr id="34" name="G2 Head 0"/>
          <p:cNvSpPr/>
          <p:nvPr/>
        </p:nvSpPr>
        <p:spPr>
          <a:xfrm>
            <a:off x="3401568" y="1847088"/>
            <a:ext cx="2541118" cy="274320"/>
          </a:xfrm>
          <a:prstGeom prst="rect">
            <a:avLst/>
          </a:prstGeom>
          <a:noFill/>
          <a:ln/>
        </p:spPr>
        <p:txBody>
          <a:bodyPr wrap="square" rtlCol="0" anchor="t">
            <a:noAutofit/>
          </a:bodyPr>
          <a:lstStyle/>
          <a:p>
            <a:pPr algn="l">
              <a:buNone/>
            </a:pPr>
            <a:r>
              <a:rPr lang="en-US" sz="900" b="1" i="0" dirty="0">
                <a:solidFill>
                  <a:srgbClr val="000000"/>
                </a:solidFill>
                <a:latin typeface="IBM Plex Sans"/>
                <a:ea typeface="IBM Plex Sans"/>
                <a:cs typeface="IBM Plex Sans"/>
              </a:rPr>
              <a:t>01 · Who Decides When to Pause?</a:t>
            </a:r>
          </a:p>
        </p:txBody>
      </p:sp>
      <p:sp>
        <p:nvSpPr>
          <p:cNvPr id="31" name="Text 29"/>
          <p:cNvSpPr/>
          <p:nvPr/>
        </p:nvSpPr>
        <p:spPr>
          <a:xfrm>
            <a:off x="727862" y="4469587"/>
            <a:ext cx="875081" cy="477317"/>
          </a:xfrm>
          <a:prstGeom prst="rect">
            <a:avLst/>
          </a:prstGeom>
          <a:noFill/>
          <a:ln/>
        </p:spPr>
        <p:txBody>
          <a:bodyPr wrap="square" rtlCol="0" anchor="t">
            <a:noAutofit/>
          </a:bodyPr>
          <a:lstStyle/>
          <a:p>
            <a:pPr algn="l">
              <a:buNone/>
            </a:pPr>
            <a:r>
              <a:rPr lang="en-US" sz="3200" b="0" i="0" dirty="0">
                <a:solidFill>
                  <a:srgbClr val="000000"/>
                </a:solidFill>
                <a:latin typeface="DM Serif Display"/>
                <a:ea typeface="DM Serif Display"/>
                <a:cs typeface="DM Serif Display"/>
              </a:rPr>
              <a:t>02</a:t>
            </a:r>
          </a:p>
        </p:txBody>
      </p:sp>
      <p:sp>
        <p:nvSpPr>
          <p:cNvPr id="32" name="Text 30"/>
          <p:cNvSpPr/>
          <p:nvPr/>
        </p:nvSpPr>
        <p:spPr>
          <a:xfrm>
            <a:off x="865022" y="4946904"/>
            <a:ext cx="2377440" cy="365760"/>
          </a:xfrm>
          <a:prstGeom prst="rect">
            <a:avLst/>
          </a:prstGeom>
          <a:noFill/>
          <a:ln/>
        </p:spPr>
        <p:txBody>
          <a:bodyPr wrap="square" rtlCol="0" anchor="t">
            <a:noAutofit/>
          </a:bodyPr>
          <a:lstStyle/>
          <a:p>
            <a:pPr algn="l">
              <a:buNone/>
            </a:pPr>
            <a:r>
              <a:rPr lang="en-US" sz="1400" b="0" i="0" dirty="0">
                <a:solidFill>
                  <a:srgbClr val="000000"/>
                </a:solidFill>
                <a:latin typeface="DM Serif Display"/>
                <a:ea typeface="DM Serif Display"/>
                <a:cs typeface="DM Serif Display"/>
              </a:rPr>
              <a:t>Decision Experience Design</a:t>
            </a:r>
          </a:p>
        </p:txBody>
      </p:sp>
      <p:sp>
        <p:nvSpPr>
          <p:cNvPr id="33" name="Text 31"/>
          <p:cNvSpPr/>
          <p:nvPr/>
        </p:nvSpPr>
        <p:spPr>
          <a:xfrm>
            <a:off x="865022" y="5321808"/>
            <a:ext cx="2286000" cy="640080"/>
          </a:xfrm>
          <a:prstGeom prst="rect">
            <a:avLst/>
          </a:prstGeom>
          <a:noFill/>
          <a:ln/>
        </p:spPr>
        <p:txBody>
          <a:bodyPr wrap="square" rtlCol="0" anchor="t">
            <a:noAutofit/>
          </a:bodyPr>
          <a:lstStyle/>
          <a:p>
            <a:pPr algn="l">
              <a:lnSpc>
                <a:spcPct val="110000"/>
              </a:lnSpc>
              <a:buNone/>
            </a:pPr>
            <a:r>
              <a:rPr lang="en-US" sz="1000" b="0" i="0" dirty="0">
                <a:solidFill>
                  <a:srgbClr val="555555"/>
                </a:solidFill>
                <a:latin typeface="IBM Plex Sans"/>
                <a:ea typeface="IBM Plex Sans"/>
                <a:cs typeface="IBM Plex Sans"/>
              </a:rPr>
              <a:t>The human is in the driver’s seat.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92785" y="685800"/>
            <a:ext cx="4937760" cy="1097280"/>
          </a:xfrm>
          <a:prstGeom prst="rect">
            <a:avLst/>
          </a:prstGeom>
          <a:noFill/>
          <a:ln/>
        </p:spPr>
        <p:txBody>
          <a:bodyPr wrap="square" rtlCol="0" anchor="t">
            <a:noAutofit/>
          </a:bodyPr>
          <a:lstStyle/>
          <a:p>
            <a:pPr algn="l">
              <a:lnSpc>
                <a:spcPct val="100000"/>
              </a:lnSpc>
              <a:buNone/>
            </a:pPr>
            <a:r>
              <a:rPr lang="en-US" sz="3000" b="0" i="0" dirty="0">
                <a:solidFill>
                  <a:srgbClr val="000000"/>
                </a:solidFill>
                <a:latin typeface="DM Serif Display"/>
                <a:ea typeface="DM Serif Display"/>
                <a:cs typeface="DM Serif Display"/>
              </a:rPr>
              <a:t>Algorithmacy: Seeing</a:t>
            </a:r>
          </a:p>
          <a:p>
            <a:pPr algn="l">
              <a:lnSpc>
                <a:spcPct val="100000"/>
              </a:lnSpc>
              <a:buNone/>
            </a:pPr>
            <a:r>
              <a:rPr lang="en-US" sz="3000" b="0" i="0" dirty="0">
                <a:solidFill>
                  <a:srgbClr val="000000"/>
                </a:solidFill>
                <a:latin typeface="DM Serif Display"/>
                <a:ea typeface="DM Serif Display"/>
                <a:cs typeface="DM Serif Display"/>
              </a:rPr>
              <a:t>Where the Decisions Are</a:t>
            </a:r>
          </a:p>
        </p:txBody>
      </p:sp>
      <p:sp>
        <p:nvSpPr>
          <p:cNvPr id="3" name="Text 1"/>
          <p:cNvSpPr/>
          <p:nvPr/>
        </p:nvSpPr>
        <p:spPr>
          <a:xfrm>
            <a:off x="792785" y="1828800"/>
            <a:ext cx="4937760" cy="685800"/>
          </a:xfrm>
          <a:prstGeom prst="rect">
            <a:avLst/>
          </a:prstGeom>
          <a:noFill/>
          <a:ln/>
        </p:spPr>
        <p:txBody>
          <a:bodyPr wrap="square" rtlCol="0" anchor="t">
            <a:noAutofit/>
          </a:bodyPr>
          <a:lstStyle/>
          <a:p>
            <a:pPr algn="l">
              <a:lnSpc>
                <a:spcPct val="114999"/>
              </a:lnSpc>
              <a:buNone/>
            </a:pPr>
            <a:r>
              <a:rPr lang="en-US" sz="1050" b="0" i="1" dirty="0">
                <a:solidFill>
                  <a:srgbClr val="555555"/>
                </a:solidFill>
                <a:latin typeface="IBM Plex Sans"/>
                <a:ea typeface="IBM Plex Sans"/>
                <a:cs typeface="IBM Plex Sans"/>
              </a:rPr>
              <a:t>To steer an AI system, you have to be able to see the moments where it is making choices for you.</a:t>
            </a:r>
          </a:p>
        </p:txBody>
      </p:sp>
      <p:sp>
        <p:nvSpPr>
          <p:cNvPr id="4" name="Shape 2"/>
          <p:cNvSpPr/>
          <p:nvPr/>
        </p:nvSpPr>
        <p:spPr>
          <a:xfrm>
            <a:off x="792785" y="2697480"/>
            <a:ext cx="4983480" cy="3474720"/>
          </a:xfrm>
          <a:prstGeom prst="rect">
            <a:avLst/>
          </a:prstGeom>
          <a:solidFill>
            <a:srgbClr val="F2F2F2"/>
          </a:solidFill>
          <a:ln/>
        </p:spPr>
        <p:txBody>
          <a:bodyPr/>
          <a:p/>
        </p:txBody>
      </p:sp>
      <p:sp>
        <p:nvSpPr>
          <p:cNvPr id="5" name="Shape 3"/>
          <p:cNvSpPr/>
          <p:nvPr/>
        </p:nvSpPr>
        <p:spPr>
          <a:xfrm>
            <a:off x="6035040" y="685800"/>
            <a:ext cx="2606040" cy="2697480"/>
          </a:xfrm>
          <a:prstGeom prst="rect">
            <a:avLst/>
          </a:prstGeom>
          <a:solidFill>
            <a:srgbClr val="000000"/>
          </a:solidFill>
          <a:ln/>
        </p:spPr>
        <p:txBody>
          <a:bodyPr/>
          <a:p/>
        </p:txBody>
      </p:sp>
      <p:sp>
        <p:nvSpPr>
          <p:cNvPr id="34" name="G2 Tile 4"/>
          <p:cNvSpPr/>
          <p:nvPr/>
        </p:nvSpPr>
        <p:spPr>
          <a:xfrm>
            <a:off x="8732520" y="3474720"/>
            <a:ext cx="2606040" cy="2697480"/>
          </a:xfrm>
          <a:prstGeom prst="rect">
            <a:avLst/>
          </a:prstGeom>
          <a:solidFill>
            <a:srgbClr val="000000"/>
          </a:solidFill>
          <a:ln/>
        </p:spPr>
        <p:txBody>
          <a:bodyPr/>
          <a:p/>
        </p:txBody>
      </p:sp>
      <p:sp>
        <p:nvSpPr>
          <p:cNvPr id="6" name="Shape 4"/>
          <p:cNvSpPr/>
          <p:nvPr/>
        </p:nvSpPr>
        <p:spPr>
          <a:xfrm>
            <a:off x="8732520" y="685800"/>
            <a:ext cx="2606040" cy="2697480"/>
          </a:xfrm>
          <a:prstGeom prst="rect">
            <a:avLst/>
          </a:prstGeom>
          <a:solidFill>
            <a:srgbClr val="F2F2F2"/>
          </a:solidFill>
          <a:ln/>
        </p:spPr>
        <p:txBody>
          <a:bodyPr/>
          <a:p/>
        </p:txBody>
      </p:sp>
      <p:sp>
        <p:nvSpPr>
          <p:cNvPr id="7" name="Shape 5"/>
          <p:cNvSpPr/>
          <p:nvPr/>
        </p:nvSpPr>
        <p:spPr>
          <a:xfrm>
            <a:off x="6035040" y="3474720"/>
            <a:ext cx="2606040" cy="2697480"/>
          </a:xfrm>
          <a:prstGeom prst="rect">
            <a:avLst/>
          </a:prstGeom>
          <a:solidFill>
            <a:srgbClr val="F2F2F2"/>
          </a:solidFill>
          <a:ln/>
        </p:spPr>
        <p:txBody>
          <a:bodyPr/>
          <a:p/>
        </p:txBody>
      </p:sp>
      <p:sp>
        <p:nvSpPr>
          <p:cNvPr id="10" name="Text 8"/>
          <p:cNvSpPr/>
          <p:nvPr/>
        </p:nvSpPr>
        <p:spPr>
          <a:xfrm>
            <a:off x="6217920" y="868680"/>
            <a:ext cx="2240280" cy="914400"/>
          </a:xfrm>
          <a:prstGeom prst="rect">
            <a:avLst/>
          </a:prstGeom>
          <a:noFill/>
          <a:ln/>
        </p:spPr>
        <p:txBody>
          <a:bodyPr wrap="square" rtlCol="0" anchor="t">
            <a:noAutofit/>
          </a:bodyPr>
          <a:lstStyle/>
          <a:p>
            <a:pPr algn="l">
              <a:lnSpc>
                <a:spcPct val="105000"/>
              </a:lnSpc>
              <a:spcAft>
                <a:spcPts val="300"/>
              </a:spcAft>
              <a:buNone/>
            </a:pPr>
            <a:r>
              <a:rPr lang="en-US" sz="1000" b="1" i="0" dirty="0">
                <a:solidFill>
                  <a:srgbClr val="FFFFFF"/>
                </a:solidFill>
                <a:latin typeface="IBM Plex Mono"/>
                <a:ea typeface="IBM Plex Mono"/>
                <a:cs typeface="IBM Plex Mono"/>
              </a:rPr>
              <a:t>[COMMIT]</a:t>
            </a:r>
          </a:p>
          <a:p>
            <a:pPr algn="l">
              <a:lnSpc>
                <a:spcPct val="105000"/>
              </a:lnSpc>
              <a:spcAft>
                <a:spcPts val="300"/>
              </a:spcAft>
              <a:buNone/>
            </a:pPr>
            <a:r>
              <a:rPr lang="en-US" sz="1500" b="0" i="0" dirty="0">
                <a:solidFill>
                  <a:srgbClr val="FFFFFF"/>
                </a:solidFill>
                <a:latin typeface="DM Serif Display"/>
                <a:ea typeface="DM Serif Display"/>
                <a:cs typeface="DM Serif Display"/>
              </a:rPr>
              <a:t>Point of No Return</a:t>
            </a:r>
          </a:p>
        </p:txBody>
      </p:sp>
      <p:sp>
        <p:nvSpPr>
          <p:cNvPr id="11" name="Text 9"/>
          <p:cNvSpPr/>
          <p:nvPr/>
        </p:nvSpPr>
        <p:spPr>
          <a:xfrm>
            <a:off x="6217920" y="1874520"/>
            <a:ext cx="2240280" cy="1371600"/>
          </a:xfrm>
          <a:prstGeom prst="rect">
            <a:avLst/>
          </a:prstGeom>
          <a:noFill/>
          <a:ln/>
        </p:spPr>
        <p:txBody>
          <a:bodyPr wrap="square" rtlCol="0" anchor="t">
            <a:noAutofit/>
          </a:bodyPr>
          <a:lstStyle/>
          <a:p>
            <a:pPr algn="l">
              <a:lnSpc>
                <a:spcPct val="114999"/>
              </a:lnSpc>
              <a:buNone/>
            </a:pPr>
            <a:r>
              <a:rPr lang="en-US" sz="1000" b="0" i="0" dirty="0">
                <a:solidFill>
                  <a:srgbClr val="FFFFFF"/>
                </a:solidFill>
                <a:latin typeface="IBM Plex Sans"/>
                <a:ea typeface="IBM Plex Sans"/>
                <a:cs typeface="IBM Plex Sans"/>
              </a:rPr>
              <a:t>Right before the AI changes a file, runs code, calls an external tool, or sends a message you can’t easily undo.</a:t>
            </a:r>
          </a:p>
        </p:txBody>
      </p:sp>
      <p:sp>
        <p:nvSpPr>
          <p:cNvPr id="33" name="G2 Formula"/>
          <p:cNvSpPr/>
          <p:nvPr/>
        </p:nvSpPr>
        <p:spPr>
          <a:xfrm>
            <a:off x="1005840" y="4617720"/>
            <a:ext cx="4572000" cy="1508760"/>
          </a:xfrm>
          <a:prstGeom prst="rect">
            <a:avLst/>
          </a:prstGeom>
          <a:noFill/>
          <a:ln/>
        </p:spPr>
        <p:txBody>
          <a:bodyPr wrap="square" rtlCol="0" anchor="t">
            <a:noAutofit/>
          </a:bodyPr>
          <a:lstStyle/>
          <a:p>
            <a:pPr algn="l">
              <a:lnSpc>
                <a:spcPct val="110000"/>
              </a:lnSpc>
              <a:spcAft>
                <a:spcPts val="200"/>
              </a:spcAft>
              <a:buNone/>
            </a:pPr>
            <a:r>
              <a:rPr lang="en-US" sz="1800" b="0" i="0" dirty="0">
                <a:solidFill>
                  <a:srgbClr val="000000"/>
                </a:solidFill>
                <a:latin typeface="DM Serif Display"/>
                <a:ea typeface="DM Serif Display"/>
                <a:cs typeface="DM Serif Display"/>
              </a:rPr>
              <a:t>Real Control = Seeing the Decision × Knowing How the Tool Fails</a:t>
            </a:r>
          </a:p>
          <a:p>
            <a:pPr algn="l">
              <a:lnSpc>
                <a:spcPct val="110000"/>
              </a:lnSpc>
              <a:spcBef>
                <a:spcPts val="900"/>
              </a:spcBef>
              <a:spcAft>
                <a:spcPts val="200"/>
              </a:spcAft>
              <a:buNone/>
            </a:pPr>
            <a:r>
              <a:rPr lang="en-US" sz="1000" b="0" i="0" dirty="0">
                <a:solidFill>
                  <a:srgbClr val="000000"/>
                </a:solidFill>
                <a:latin typeface="IBM Plex Sans"/>
                <a:ea typeface="IBM Plex Sans"/>
                <a:cs typeface="IBM Plex Sans"/>
              </a:rPr>
              <a:t>If the interface hides the decision points, knowing about AI doesn’t help—and if you don’t know how AI fails, a pause button isn’t enough.</a:t>
            </a:r>
          </a:p>
        </p:txBody>
      </p:sp>
      <p:sp>
        <p:nvSpPr>
          <p:cNvPr id="32" name="G2 Lineage"/>
          <p:cNvSpPr/>
          <p:nvPr/>
        </p:nvSpPr>
        <p:spPr>
          <a:xfrm>
            <a:off x="1005840" y="2834640"/>
            <a:ext cx="4572000" cy="1737360"/>
          </a:xfrm>
          <a:prstGeom prst="rect">
            <a:avLst/>
          </a:prstGeom>
          <a:noFill/>
          <a:ln/>
        </p:spPr>
        <p:txBody>
          <a:bodyPr wrap="square" rtlCol="0" anchor="t">
            <a:noAutofit/>
          </a:bodyPr>
          <a:lstStyle/>
          <a:p>
            <a:pPr algn="l">
              <a:lnSpc>
                <a:spcPct val="105000"/>
              </a:lnSpc>
              <a:spcAft>
                <a:spcPts val="300"/>
              </a:spcAft>
              <a:buNone/>
            </a:pPr>
            <a:r>
              <a:rPr lang="en-US" sz="900" b="1" i="0" dirty="0">
                <a:solidFill>
                  <a:srgbClr val="000000"/>
                </a:solidFill>
                <a:latin typeface="IBM Plex Sans"/>
                <a:ea typeface="IBM Plex Sans"/>
                <a:cs typeface="IBM Plex Sans"/>
              </a:rPr>
              <a:t>FROM ORACY TO ALGORITHMACY</a:t>
            </a:r>
          </a:p>
          <a:p>
            <a:pPr algn="l">
              <a:lnSpc>
                <a:spcPct val="105000"/>
              </a:lnSpc>
              <a:spcAft>
                <a:spcPts val="300"/>
              </a:spcAft>
              <a:buNone/>
            </a:pPr>
            <a:r>
              <a:rPr lang="en-US" sz="1300" b="0" i="0" dirty="0">
                <a:solidFill>
                  <a:srgbClr val="000000"/>
                </a:solidFill>
                <a:latin typeface="DM Serif Display"/>
                <a:ea typeface="DM Serif Display"/>
                <a:cs typeface="DM Serif Display"/>
              </a:rPr>
              <a:t>Oracy</a:t>
            </a:r>
            <a:r>
              <a:rPr lang="en-US" sz="1000" b="0" i="0" dirty="0">
                <a:solidFill>
                  <a:srgbClr val="000000"/>
                </a:solidFill>
                <a:latin typeface="IBM Plex Sans"/>
                <a:ea typeface="IBM Plex Sans"/>
                <a:cs typeface="IBM Plex Sans"/>
              </a:rPr>
              <a:t>  lets us speak and listen well</a:t>
            </a:r>
          </a:p>
          <a:p>
            <a:pPr algn="l">
              <a:lnSpc>
                <a:spcPct val="105000"/>
              </a:lnSpc>
              <a:spcAft>
                <a:spcPts val="300"/>
              </a:spcAft>
              <a:buNone/>
            </a:pPr>
            <a:r>
              <a:rPr lang="en-US" sz="1300" b="0" i="0" dirty="0">
                <a:solidFill>
                  <a:srgbClr val="000000"/>
                </a:solidFill>
                <a:latin typeface="DM Serif Display"/>
                <a:ea typeface="DM Serif Display"/>
                <a:cs typeface="DM Serif Display"/>
              </a:rPr>
              <a:t>Literacy</a:t>
            </a:r>
            <a:r>
              <a:rPr lang="en-US" sz="1000" b="0" i="0" dirty="0">
                <a:solidFill>
                  <a:srgbClr val="000000"/>
                </a:solidFill>
                <a:latin typeface="IBM Plex Sans"/>
                <a:ea typeface="IBM Plex Sans"/>
                <a:cs typeface="IBM Plex Sans"/>
              </a:rPr>
              <a:t>  lets us read and write</a:t>
            </a:r>
          </a:p>
          <a:p>
            <a:pPr algn="l">
              <a:lnSpc>
                <a:spcPct val="105000"/>
              </a:lnSpc>
              <a:spcAft>
                <a:spcPts val="300"/>
              </a:spcAft>
              <a:buNone/>
            </a:pPr>
            <a:r>
              <a:rPr lang="en-US" sz="1300" b="0" i="0" dirty="0">
                <a:solidFill>
                  <a:srgbClr val="000000"/>
                </a:solidFill>
                <a:latin typeface="DM Serif Display"/>
                <a:ea typeface="DM Serif Display"/>
                <a:cs typeface="DM Serif Display"/>
              </a:rPr>
              <a:t>Numeracy</a:t>
            </a:r>
            <a:r>
              <a:rPr lang="en-US" sz="1000" b="0" i="0" dirty="0">
                <a:solidFill>
                  <a:srgbClr val="000000"/>
                </a:solidFill>
                <a:latin typeface="IBM Plex Sans"/>
                <a:ea typeface="IBM Plex Sans"/>
                <a:cs typeface="IBM Plex Sans"/>
              </a:rPr>
              <a:t>  lets us work with numbers</a:t>
            </a:r>
          </a:p>
          <a:p>
            <a:pPr algn="l">
              <a:lnSpc>
                <a:spcPct val="105000"/>
              </a:lnSpc>
              <a:spcAft>
                <a:spcPts val="300"/>
              </a:spcAft>
              <a:buNone/>
            </a:pPr>
            <a:r>
              <a:rPr lang="en-US" sz="1300" b="1" i="0" dirty="0">
                <a:solidFill>
                  <a:srgbClr val="000000"/>
                </a:solidFill>
                <a:latin typeface="DM Serif Display"/>
                <a:ea typeface="DM Serif Display"/>
                <a:cs typeface="DM Serif Display"/>
              </a:rPr>
              <a:t>Algorithmacy</a:t>
            </a:r>
            <a:r>
              <a:rPr lang="en-US" sz="1000" b="1" i="0" dirty="0">
                <a:solidFill>
                  <a:srgbClr val="000000"/>
                </a:solidFill>
                <a:latin typeface="IBM Plex Sans"/>
                <a:ea typeface="IBM Plex Sans"/>
                <a:cs typeface="IBM Plex Sans"/>
              </a:rPr>
              <a:t>  lets us steer AI without giving up our judgment</a:t>
            </a:r>
          </a:p>
        </p:txBody>
      </p:sp>
      <p:sp>
        <p:nvSpPr>
          <p:cNvPr id="14" name="Text 12"/>
          <p:cNvSpPr/>
          <p:nvPr/>
        </p:nvSpPr>
        <p:spPr>
          <a:xfrm>
            <a:off x="8915400" y="868680"/>
            <a:ext cx="2240280" cy="914400"/>
          </a:xfrm>
          <a:prstGeom prst="rect">
            <a:avLst/>
          </a:prstGeom>
          <a:noFill/>
          <a:ln/>
        </p:spPr>
        <p:txBody>
          <a:bodyPr wrap="square" rtlCol="0" anchor="t">
            <a:noAutofit/>
          </a:bodyPr>
          <a:lstStyle/>
          <a:p>
            <a:pPr algn="l">
              <a:lnSpc>
                <a:spcPct val="105000"/>
              </a:lnSpc>
              <a:spcAft>
                <a:spcPts val="300"/>
              </a:spcAft>
              <a:buNone/>
            </a:pPr>
            <a:r>
              <a:rPr lang="en-US" sz="1000" b="1" i="0" dirty="0">
                <a:solidFill>
                  <a:srgbClr val="000000"/>
                </a:solidFill>
                <a:latin typeface="IBM Plex Mono"/>
                <a:ea typeface="IBM Plex Mono"/>
                <a:cs typeface="IBM Plex Mono"/>
              </a:rPr>
              <a:t>[BRANCH]</a:t>
            </a:r>
          </a:p>
          <a:p>
            <a:pPr algn="l">
              <a:lnSpc>
                <a:spcPct val="105000"/>
              </a:lnSpc>
              <a:spcAft>
                <a:spcPts val="300"/>
              </a:spcAft>
              <a:buNone/>
            </a:pPr>
            <a:r>
              <a:rPr lang="en-US" sz="1500" b="0" i="0" dirty="0">
                <a:solidFill>
                  <a:srgbClr val="000000"/>
                </a:solidFill>
                <a:latin typeface="DM Serif Display"/>
                <a:ea typeface="DM Serif Display"/>
                <a:cs typeface="DM Serif Display"/>
              </a:rPr>
              <a:t>Fork in the Road</a:t>
            </a:r>
          </a:p>
        </p:txBody>
      </p:sp>
      <p:sp>
        <p:nvSpPr>
          <p:cNvPr id="15" name="Text 13"/>
          <p:cNvSpPr/>
          <p:nvPr/>
        </p:nvSpPr>
        <p:spPr>
          <a:xfrm>
            <a:off x="8915400" y="1874520"/>
            <a:ext cx="2240280" cy="1371600"/>
          </a:xfrm>
          <a:prstGeom prst="rect">
            <a:avLst/>
          </a:prstGeom>
          <a:noFill/>
          <a:ln/>
        </p:spPr>
        <p:txBody>
          <a:bodyPr wrap="square" rtlCol="0" anchor="t">
            <a:noAutofit/>
          </a:bodyPr>
          <a:lstStyle/>
          <a:p>
            <a:pPr algn="l">
              <a:lnSpc>
                <a:spcPct val="114999"/>
              </a:lnSpc>
              <a:buNone/>
            </a:pPr>
            <a:r>
              <a:rPr lang="en-US" sz="1000" b="0" i="0" dirty="0">
                <a:solidFill>
                  <a:srgbClr val="000000"/>
                </a:solidFill>
                <a:latin typeface="IBM Plex Sans"/>
                <a:ea typeface="IBM Plex Sans"/>
                <a:cs typeface="IBM Plex Sans"/>
              </a:rPr>
              <a:t>A moment where two or three reasonable paths exist, and the AI would otherwise quietly pick one without telling you.</a:t>
            </a:r>
          </a:p>
        </p:txBody>
      </p:sp>
      <p:sp>
        <p:nvSpPr>
          <p:cNvPr id="18" name="Text 16"/>
          <p:cNvSpPr/>
          <p:nvPr/>
        </p:nvSpPr>
        <p:spPr>
          <a:xfrm>
            <a:off x="6217920" y="3657600"/>
            <a:ext cx="2240280" cy="914400"/>
          </a:xfrm>
          <a:prstGeom prst="rect">
            <a:avLst/>
          </a:prstGeom>
          <a:noFill/>
          <a:ln/>
        </p:spPr>
        <p:txBody>
          <a:bodyPr wrap="square" rtlCol="0" anchor="t">
            <a:noAutofit/>
          </a:bodyPr>
          <a:lstStyle/>
          <a:p>
            <a:pPr algn="l">
              <a:lnSpc>
                <a:spcPct val="105000"/>
              </a:lnSpc>
              <a:spcAft>
                <a:spcPts val="300"/>
              </a:spcAft>
              <a:buNone/>
            </a:pPr>
            <a:r>
              <a:rPr lang="en-US" sz="1000" b="1" i="0" dirty="0">
                <a:solidFill>
                  <a:srgbClr val="000000"/>
                </a:solidFill>
                <a:latin typeface="IBM Plex Mono"/>
                <a:ea typeface="IBM Plex Mono"/>
                <a:cs typeface="IBM Plex Mono"/>
              </a:rPr>
              <a:t>[ASSERT]</a:t>
            </a:r>
          </a:p>
          <a:p>
            <a:pPr algn="l">
              <a:lnSpc>
                <a:spcPct val="105000"/>
              </a:lnSpc>
              <a:spcAft>
                <a:spcPts val="300"/>
              </a:spcAft>
              <a:buNone/>
            </a:pPr>
            <a:r>
              <a:rPr lang="en-US" sz="1500" b="0" i="0" dirty="0">
                <a:solidFill>
                  <a:srgbClr val="000000"/>
                </a:solidFill>
                <a:latin typeface="DM Serif Display"/>
                <a:ea typeface="DM Serif Display"/>
                <a:cs typeface="DM Serif Display"/>
              </a:rPr>
              <a:t>Key Assumption</a:t>
            </a:r>
          </a:p>
        </p:txBody>
      </p:sp>
      <p:sp>
        <p:nvSpPr>
          <p:cNvPr id="19" name="Text 17"/>
          <p:cNvSpPr/>
          <p:nvPr/>
        </p:nvSpPr>
        <p:spPr>
          <a:xfrm>
            <a:off x="6217920" y="4663440"/>
            <a:ext cx="2240280" cy="1371600"/>
          </a:xfrm>
          <a:prstGeom prst="rect">
            <a:avLst/>
          </a:prstGeom>
          <a:noFill/>
          <a:ln/>
        </p:spPr>
        <p:txBody>
          <a:bodyPr wrap="square" rtlCol="0" anchor="t">
            <a:noAutofit/>
          </a:bodyPr>
          <a:lstStyle/>
          <a:p>
            <a:pPr algn="l">
              <a:lnSpc>
                <a:spcPct val="114999"/>
              </a:lnSpc>
              <a:buNone/>
            </a:pPr>
            <a:r>
              <a:rPr lang="en-US" sz="1000" b="0" i="0" dirty="0">
                <a:solidFill>
                  <a:srgbClr val="000000"/>
                </a:solidFill>
                <a:latin typeface="IBM Plex Sans"/>
                <a:ea typeface="IBM Plex Sans"/>
                <a:cs typeface="IBM Plex Sans"/>
              </a:rPr>
              <a:t>An important fact, number, or premise stated in the text that the rest of the plan depends on being true.</a:t>
            </a:r>
          </a:p>
        </p:txBody>
      </p:sp>
      <p:sp>
        <p:nvSpPr>
          <p:cNvPr id="22" name="Text 20"/>
          <p:cNvSpPr/>
          <p:nvPr/>
        </p:nvSpPr>
        <p:spPr>
          <a:xfrm>
            <a:off x="8915400" y="3657600"/>
            <a:ext cx="2240280" cy="914400"/>
          </a:xfrm>
          <a:prstGeom prst="rect">
            <a:avLst/>
          </a:prstGeom>
          <a:noFill/>
          <a:ln/>
        </p:spPr>
        <p:txBody>
          <a:bodyPr wrap="square" rtlCol="0" anchor="t">
            <a:noAutofit/>
          </a:bodyPr>
          <a:lstStyle/>
          <a:p>
            <a:pPr algn="l">
              <a:lnSpc>
                <a:spcPct val="105000"/>
              </a:lnSpc>
              <a:spcAft>
                <a:spcPts val="300"/>
              </a:spcAft>
              <a:buNone/>
            </a:pPr>
            <a:r>
              <a:rPr lang="en-US" sz="1000" b="1" i="0" dirty="0">
                <a:solidFill>
                  <a:srgbClr val="FFFFFF"/>
                </a:solidFill>
                <a:latin typeface="IBM Plex Mono"/>
                <a:ea typeface="IBM Plex Mono"/>
                <a:cs typeface="IBM Plex Mono"/>
              </a:rPr>
              <a:t>[SHIFT]</a:t>
            </a:r>
          </a:p>
          <a:p>
            <a:pPr algn="l">
              <a:lnSpc>
                <a:spcPct val="105000"/>
              </a:lnSpc>
              <a:spcAft>
                <a:spcPts val="300"/>
              </a:spcAft>
              <a:buNone/>
            </a:pPr>
            <a:r>
              <a:rPr lang="en-US" sz="1500" b="0" i="0" dirty="0">
                <a:solidFill>
                  <a:srgbClr val="FFFFFF"/>
                </a:solidFill>
                <a:latin typeface="DM Serif Display"/>
                <a:ea typeface="DM Serif Display"/>
                <a:cs typeface="DM Serif Display"/>
              </a:rPr>
              <a:t>Change of Step or Topic</a:t>
            </a:r>
          </a:p>
        </p:txBody>
      </p:sp>
      <p:sp>
        <p:nvSpPr>
          <p:cNvPr id="23" name="Text 21"/>
          <p:cNvSpPr/>
          <p:nvPr/>
        </p:nvSpPr>
        <p:spPr>
          <a:xfrm>
            <a:off x="8915400" y="4663440"/>
            <a:ext cx="2240280" cy="1371600"/>
          </a:xfrm>
          <a:prstGeom prst="rect">
            <a:avLst/>
          </a:prstGeom>
          <a:noFill/>
          <a:ln/>
        </p:spPr>
        <p:txBody>
          <a:bodyPr wrap="square" rtlCol="0" anchor="t">
            <a:noAutofit/>
          </a:bodyPr>
          <a:lstStyle/>
          <a:p>
            <a:pPr algn="l">
              <a:lnSpc>
                <a:spcPct val="114999"/>
              </a:lnSpc>
              <a:buNone/>
            </a:pPr>
            <a:r>
              <a:rPr lang="en-US" sz="1000" b="0" i="0" dirty="0">
                <a:solidFill>
                  <a:srgbClr val="FFFFFF"/>
                </a:solidFill>
                <a:latin typeface="IBM Plex Sans"/>
                <a:ea typeface="IBM Plex Sans"/>
                <a:cs typeface="IBM Plex Sans"/>
              </a:rPr>
              <a:t>Where the AI finishes one part of the job and moves to a new goal, giving you a clean break to review what just happened.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908792" cy="640080"/>
          </a:xfrm>
          <a:prstGeom prst="rect">
            <a:avLst/>
          </a:prstGeom>
          <a:noFill/>
          <a:ln/>
        </p:spPr>
        <p:txBody>
          <a:bodyPr wrap="square" rtlCol="0" anchor="t">
            <a:noAutofit/>
          </a:bodyPr>
          <a:lstStyle/>
          <a:p>
            <a:pPr algn="ctr">
              <a:buNone/>
            </a:pPr>
            <a:r>
              <a:rPr lang="en-US" sz="2800" b="0" i="0" dirty="0">
                <a:solidFill>
                  <a:srgbClr val="000000"/>
                </a:solidFill>
                <a:latin typeface="DM Serif Display"/>
                <a:ea typeface="DM Serif Display"/>
                <a:cs typeface="DM Serif Display"/>
              </a:rPr>
              <a:t>Putting the Human Back in the Driver’s Seat</a:t>
            </a:r>
          </a:p>
        </p:txBody>
      </p:sp>
      <p:sp>
        <p:nvSpPr>
          <p:cNvPr id="3" name="Shape 1"/>
          <p:cNvSpPr/>
          <p:nvPr/>
        </p:nvSpPr>
        <p:spPr>
          <a:xfrm>
            <a:off x="1449324" y="1958645"/>
            <a:ext cx="2375611" cy="2375611"/>
          </a:xfrm>
          <a:prstGeom prst="ellipse">
            <a:avLst/>
          </a:prstGeom>
          <a:noFill/>
          <a:ln w="25400">
            <a:solidFill>
              <a:srgbClr val="D8D8D8"/>
            </a:solidFill>
            <a:prstDash val="dot"/>
          </a:ln>
        </p:spPr>
        <p:txBody>
          <a:bodyPr/>
          <a:p/>
        </p:txBody>
      </p:sp>
      <p:sp>
        <p:nvSpPr>
          <p:cNvPr id="4" name="Shape 2"/>
          <p:cNvSpPr/>
          <p:nvPr/>
        </p:nvSpPr>
        <p:spPr>
          <a:xfrm>
            <a:off x="1648663" y="2158898"/>
            <a:ext cx="1976933" cy="1984248"/>
          </a:xfrm>
          <a:prstGeom prst="ellipse">
            <a:avLst/>
          </a:prstGeom>
          <a:solidFill>
            <a:srgbClr val="F2F2F2"/>
          </a:solidFill>
          <a:ln/>
        </p:spPr>
        <p:txBody>
          <a:bodyPr/>
          <a:p/>
        </p:txBody>
      </p:sp>
      <p:sp>
        <p:nvSpPr>
          <p:cNvPr id="5" name="Text 3"/>
          <p:cNvSpPr/>
          <p:nvPr/>
        </p:nvSpPr>
        <p:spPr>
          <a:xfrm>
            <a:off x="1905610" y="2331720"/>
            <a:ext cx="1463040" cy="777240"/>
          </a:xfrm>
          <a:prstGeom prst="rect">
            <a:avLst/>
          </a:prstGeom>
          <a:noFill/>
          <a:ln/>
        </p:spPr>
        <p:txBody>
          <a:bodyPr wrap="square" rtlCol="0" anchor="ctr">
            <a:noAutofit/>
          </a:bodyPr>
          <a:lstStyle/>
          <a:p>
            <a:pPr algn="ctr">
              <a:buNone/>
            </a:pPr>
            <a:r>
              <a:rPr lang="en-US" sz="4000" b="0" i="0" dirty="0">
                <a:solidFill>
                  <a:srgbClr val="000000"/>
                </a:solidFill>
                <a:latin typeface="DM Serif Display"/>
                <a:ea typeface="DM Serif Display"/>
                <a:cs typeface="DM Serif Display"/>
              </a:rPr>
              <a:t>01</a:t>
            </a:r>
          </a:p>
        </p:txBody>
      </p:sp>
      <p:sp>
        <p:nvSpPr>
          <p:cNvPr id="6" name="Text 4"/>
          <p:cNvSpPr/>
          <p:nvPr/>
        </p:nvSpPr>
        <p:spPr>
          <a:xfrm>
            <a:off x="1814170" y="3154680"/>
            <a:ext cx="1645920" cy="502920"/>
          </a:xfrm>
          <a:prstGeom prst="rect">
            <a:avLst/>
          </a:prstGeom>
          <a:noFill/>
          <a:ln/>
        </p:spPr>
        <p:txBody>
          <a:bodyPr wrap="square" rtlCol="0" anchor="t">
            <a:noAutofit/>
          </a:bodyPr>
          <a:lstStyle/>
          <a:p>
            <a:pPr algn="ctr">
              <a:buNone/>
            </a:pPr>
            <a:r>
              <a:rPr lang="en-US" sz="1100" b="0" i="0" dirty="0">
                <a:solidFill>
                  <a:srgbClr val="000000"/>
                </a:solidFill>
                <a:latin typeface="IBM Plex Mono"/>
                <a:ea typeface="IBM Plex Mono"/>
                <a:cs typeface="IBM Plex Mono"/>
              </a:rPr>
              <a:t>Stop the Moving Stream</a:t>
            </a:r>
          </a:p>
        </p:txBody>
      </p:sp>
      <p:sp>
        <p:nvSpPr>
          <p:cNvPr id="7" name="Text 5"/>
          <p:cNvSpPr/>
          <p:nvPr/>
        </p:nvSpPr>
        <p:spPr>
          <a:xfrm>
            <a:off x="1174090" y="4434840"/>
            <a:ext cx="2926080" cy="502920"/>
          </a:xfrm>
          <a:prstGeom prst="rect">
            <a:avLst/>
          </a:prstGeom>
          <a:noFill/>
          <a:ln/>
        </p:spPr>
        <p:txBody>
          <a:bodyPr wrap="square" rtlCol="0" anchor="t">
            <a:noAutofit/>
          </a:bodyPr>
          <a:lstStyle/>
          <a:p>
            <a:pPr algn="ctr">
              <a:lnSpc>
                <a:spcPct val="100000"/>
              </a:lnSpc>
              <a:buNone/>
            </a:pPr>
            <a:r>
              <a:rPr lang="en-US" sz="1300" b="0" i="0" dirty="0">
                <a:solidFill>
                  <a:srgbClr val="000000"/>
                </a:solidFill>
                <a:latin typeface="DM Serif Display"/>
                <a:ea typeface="DM Serif Display"/>
                <a:cs typeface="DM Serif Display"/>
              </a:rPr>
              <a:t>Pause at Real Choices</a:t>
            </a:r>
          </a:p>
        </p:txBody>
      </p:sp>
      <p:sp>
        <p:nvSpPr>
          <p:cNvPr id="8" name="Text 6"/>
          <p:cNvSpPr/>
          <p:nvPr/>
        </p:nvSpPr>
        <p:spPr>
          <a:xfrm>
            <a:off x="1174090" y="4983480"/>
            <a:ext cx="2926080" cy="1097280"/>
          </a:xfrm>
          <a:prstGeom prst="rect">
            <a:avLst/>
          </a:prstGeom>
          <a:noFill/>
          <a:ln/>
        </p:spPr>
        <p:txBody>
          <a:bodyPr wrap="square" rtlCol="0" anchor="t">
            <a:noAutofit/>
          </a:bodyPr>
          <a:lstStyle/>
          <a:p>
            <a:pPr algn="ctr">
              <a:lnSpc>
                <a:spcPct val="112000"/>
              </a:lnSpc>
              <a:buNone/>
            </a:pPr>
            <a:r>
              <a:rPr lang="en-US" sz="950" b="0" i="0" dirty="0">
                <a:solidFill>
                  <a:srgbClr val="333333"/>
                </a:solidFill>
                <a:latin typeface="IBM Plex Sans"/>
                <a:ea typeface="IBM Plex Sans"/>
                <a:cs typeface="IBM Plex Sans"/>
              </a:rPr>
              <a:t>When the AI hits a fork in the road or an action it can’t undo, the stream stops automatically—breaking the pull of the moving cursor so you aren’t rushed.</a:t>
            </a:r>
          </a:p>
        </p:txBody>
      </p:sp>
      <p:sp>
        <p:nvSpPr>
          <p:cNvPr id="27" name="G3 Callout"/>
          <p:cNvSpPr/>
          <p:nvPr/>
        </p:nvSpPr>
        <p:spPr>
          <a:xfrm>
            <a:off x="1188720" y="6199632"/>
            <a:ext cx="9811512" cy="411480"/>
          </a:xfrm>
          <a:prstGeom prst="rect">
            <a:avLst/>
          </a:prstGeom>
          <a:noFill/>
          <a:ln/>
        </p:spPr>
        <p:txBody>
          <a:bodyPr wrap="square" rtlCol="0" anchor="t">
            <a:noAutofit/>
          </a:bodyPr>
          <a:lstStyle/>
          <a:p>
            <a:pPr algn="ctr">
              <a:buNone/>
            </a:pPr>
            <a:r>
              <a:rPr lang="en-US" sz="1050" b="0" i="0" dirty="0">
                <a:solidFill>
                  <a:srgbClr val="000000"/>
                </a:solidFill>
                <a:latin typeface="IBM Plex Sans"/>
                <a:ea typeface="IBM Plex Sans"/>
                <a:cs typeface="IBM Plex Sans"/>
              </a:rPr>
              <a:t>Word spaces didn’t ask readers for permission—they changed the page so the eye could work. Decision Marks aim to do the same for AI.</a:t>
            </a:r>
          </a:p>
        </p:txBody>
      </p:sp>
      <p:sp>
        <p:nvSpPr>
          <p:cNvPr id="26" name="G3 Sub"/>
          <p:cNvSpPr/>
          <p:nvPr/>
        </p:nvSpPr>
        <p:spPr>
          <a:xfrm>
            <a:off x="1188720" y="1207008"/>
            <a:ext cx="9811512" cy="594360"/>
          </a:xfrm>
          <a:prstGeom prst="rect">
            <a:avLst/>
          </a:prstGeom>
          <a:noFill/>
          <a:ln/>
        </p:spPr>
        <p:txBody>
          <a:bodyPr wrap="square" rtlCol="0" anchor="t">
            <a:noAutofit/>
          </a:bodyPr>
          <a:lstStyle/>
          <a:p>
            <a:pPr algn="ctr">
              <a:lnSpc>
                <a:spcPct val="112000"/>
              </a:lnSpc>
              <a:buNone/>
            </a:pPr>
            <a:r>
              <a:rPr lang="en-US" sz="1100" b="0" i="0" dirty="0">
                <a:solidFill>
                  <a:srgbClr val="555555"/>
                </a:solidFill>
                <a:latin typeface="IBM Plex Sans"/>
                <a:ea typeface="IBM Plex Sans"/>
                <a:cs typeface="IBM Plex Sans"/>
              </a:rPr>
              <a:t>Just as blank spaces let the eye see words on a page, Decision Marks are meant to make choices visible inside an AI stream.</a:t>
            </a:r>
          </a:p>
        </p:txBody>
      </p:sp>
      <p:sp>
        <p:nvSpPr>
          <p:cNvPr id="10" name="Shape 8"/>
          <p:cNvSpPr/>
          <p:nvPr/>
        </p:nvSpPr>
        <p:spPr>
          <a:xfrm>
            <a:off x="4992624" y="1949501"/>
            <a:ext cx="2396642" cy="2396642"/>
          </a:xfrm>
          <a:prstGeom prst="ellipse">
            <a:avLst/>
          </a:prstGeom>
          <a:noFill/>
          <a:ln w="25400">
            <a:solidFill>
              <a:srgbClr val="000000"/>
            </a:solidFill>
            <a:prstDash val="dot"/>
          </a:ln>
        </p:spPr>
        <p:txBody>
          <a:bodyPr/>
          <a:p/>
        </p:txBody>
      </p:sp>
      <p:sp>
        <p:nvSpPr>
          <p:cNvPr id="11" name="Shape 9"/>
          <p:cNvSpPr/>
          <p:nvPr/>
        </p:nvSpPr>
        <p:spPr>
          <a:xfrm>
            <a:off x="5246827" y="2203704"/>
            <a:ext cx="1901038" cy="1908353"/>
          </a:xfrm>
          <a:prstGeom prst="ellipse">
            <a:avLst/>
          </a:prstGeom>
          <a:solidFill>
            <a:srgbClr val="000000"/>
          </a:solidFill>
          <a:ln/>
        </p:spPr>
        <p:txBody>
          <a:bodyPr/>
          <a:p/>
        </p:txBody>
      </p:sp>
      <p:sp>
        <p:nvSpPr>
          <p:cNvPr id="12" name="Text 10"/>
          <p:cNvSpPr/>
          <p:nvPr/>
        </p:nvSpPr>
        <p:spPr>
          <a:xfrm>
            <a:off x="5458968" y="2331720"/>
            <a:ext cx="1463040" cy="777240"/>
          </a:xfrm>
          <a:prstGeom prst="rect">
            <a:avLst/>
          </a:prstGeom>
          <a:noFill/>
          <a:ln/>
        </p:spPr>
        <p:txBody>
          <a:bodyPr wrap="square" rtlCol="0" anchor="ctr">
            <a:noAutofit/>
          </a:bodyPr>
          <a:lstStyle/>
          <a:p>
            <a:pPr algn="ctr">
              <a:buNone/>
            </a:pPr>
            <a:r>
              <a:rPr lang="en-US" sz="4000" b="0" i="0" dirty="0">
                <a:solidFill>
                  <a:srgbClr val="FFFFFF"/>
                </a:solidFill>
                <a:latin typeface="DM Serif Display"/>
                <a:ea typeface="DM Serif Display"/>
                <a:cs typeface="DM Serif Display"/>
              </a:rPr>
              <a:t>02</a:t>
            </a:r>
          </a:p>
        </p:txBody>
      </p:sp>
      <p:sp>
        <p:nvSpPr>
          <p:cNvPr id="13" name="Text 11"/>
          <p:cNvSpPr/>
          <p:nvPr/>
        </p:nvSpPr>
        <p:spPr>
          <a:xfrm>
            <a:off x="5367528" y="3154680"/>
            <a:ext cx="1645920" cy="502920"/>
          </a:xfrm>
          <a:prstGeom prst="rect">
            <a:avLst/>
          </a:prstGeom>
          <a:noFill/>
          <a:ln/>
        </p:spPr>
        <p:txBody>
          <a:bodyPr wrap="square" rtlCol="0" anchor="t">
            <a:noAutofit/>
          </a:bodyPr>
          <a:lstStyle/>
          <a:p>
            <a:pPr algn="ctr">
              <a:buNone/>
            </a:pPr>
            <a:r>
              <a:rPr lang="en-US" sz="1100" b="0" i="0" dirty="0">
                <a:solidFill>
                  <a:srgbClr val="FFFFFF"/>
                </a:solidFill>
                <a:latin typeface="IBM Plex Mono"/>
                <a:ea typeface="IBM Plex Mono"/>
                <a:cs typeface="IBM Plex Mono"/>
              </a:rPr>
              <a:t>Mark Clean Breaks</a:t>
            </a:r>
          </a:p>
        </p:txBody>
      </p:sp>
      <p:sp>
        <p:nvSpPr>
          <p:cNvPr id="14" name="Text 12"/>
          <p:cNvSpPr/>
          <p:nvPr/>
        </p:nvSpPr>
        <p:spPr>
          <a:xfrm>
            <a:off x="4727448" y="4434840"/>
            <a:ext cx="2926080" cy="502920"/>
          </a:xfrm>
          <a:prstGeom prst="rect">
            <a:avLst/>
          </a:prstGeom>
          <a:noFill/>
          <a:ln/>
        </p:spPr>
        <p:txBody>
          <a:bodyPr wrap="square" rtlCol="0" anchor="t">
            <a:noAutofit/>
          </a:bodyPr>
          <a:lstStyle/>
          <a:p>
            <a:pPr algn="ctr">
              <a:lnSpc>
                <a:spcPct val="100000"/>
              </a:lnSpc>
              <a:buNone/>
            </a:pPr>
            <a:r>
              <a:rPr lang="en-US" sz="1300" b="0" i="0" dirty="0">
                <a:solidFill>
                  <a:srgbClr val="000000"/>
                </a:solidFill>
                <a:latin typeface="DM Serif Display"/>
                <a:ea typeface="DM Serif Display"/>
                <a:cs typeface="DM Serif Display"/>
              </a:rPr>
              <a:t>Break Up the Wall of Text</a:t>
            </a:r>
          </a:p>
        </p:txBody>
      </p:sp>
      <p:sp>
        <p:nvSpPr>
          <p:cNvPr id="15" name="Text 13"/>
          <p:cNvSpPr/>
          <p:nvPr/>
        </p:nvSpPr>
        <p:spPr>
          <a:xfrm>
            <a:off x="4727448" y="4983480"/>
            <a:ext cx="2926080" cy="1097280"/>
          </a:xfrm>
          <a:prstGeom prst="rect">
            <a:avLst/>
          </a:prstGeom>
          <a:noFill/>
          <a:ln/>
        </p:spPr>
        <p:txBody>
          <a:bodyPr wrap="square" rtlCol="0" anchor="t">
            <a:noAutofit/>
          </a:bodyPr>
          <a:lstStyle/>
          <a:p>
            <a:pPr algn="ctr">
              <a:lnSpc>
                <a:spcPct val="112000"/>
              </a:lnSpc>
              <a:buNone/>
            </a:pPr>
            <a:r>
              <a:rPr lang="en-US" sz="950" b="0" i="0" dirty="0">
                <a:solidFill>
                  <a:srgbClr val="333333"/>
                </a:solidFill>
                <a:latin typeface="IBM Plex Sans"/>
                <a:ea typeface="IBM Plex Sans"/>
                <a:cs typeface="IBM Plex Sans"/>
              </a:rPr>
              <a:t>Clear visual dividers separate each step and highlight key assumptions—so you can take in one section at a time instead of drowning in a single scroll.</a:t>
            </a:r>
          </a:p>
        </p:txBody>
      </p:sp>
      <p:sp>
        <p:nvSpPr>
          <p:cNvPr id="17" name="Shape 15"/>
          <p:cNvSpPr/>
          <p:nvPr/>
        </p:nvSpPr>
        <p:spPr>
          <a:xfrm>
            <a:off x="8382305" y="1949501"/>
            <a:ext cx="2396642" cy="2396642"/>
          </a:xfrm>
          <a:prstGeom prst="ellipse">
            <a:avLst/>
          </a:prstGeom>
          <a:noFill/>
          <a:ln w="25400">
            <a:solidFill>
              <a:srgbClr val="7F7F7F"/>
            </a:solidFill>
            <a:prstDash val="dot"/>
          </a:ln>
        </p:spPr>
        <p:txBody>
          <a:bodyPr/>
          <a:p/>
        </p:txBody>
      </p:sp>
      <p:sp>
        <p:nvSpPr>
          <p:cNvPr id="18" name="Shape 16"/>
          <p:cNvSpPr/>
          <p:nvPr/>
        </p:nvSpPr>
        <p:spPr>
          <a:xfrm>
            <a:off x="8635594" y="2203704"/>
            <a:ext cx="1901038" cy="1908353"/>
          </a:xfrm>
          <a:prstGeom prst="ellipse">
            <a:avLst/>
          </a:prstGeom>
          <a:solidFill>
            <a:srgbClr val="7F7F7F"/>
          </a:solidFill>
          <a:ln/>
        </p:spPr>
        <p:txBody>
          <a:bodyPr/>
          <a:p/>
        </p:txBody>
      </p:sp>
      <p:sp>
        <p:nvSpPr>
          <p:cNvPr id="19" name="Text 17"/>
          <p:cNvSpPr/>
          <p:nvPr/>
        </p:nvSpPr>
        <p:spPr>
          <a:xfrm>
            <a:off x="8849563" y="2331720"/>
            <a:ext cx="1463040" cy="777240"/>
          </a:xfrm>
          <a:prstGeom prst="rect">
            <a:avLst/>
          </a:prstGeom>
          <a:noFill/>
          <a:ln/>
        </p:spPr>
        <p:txBody>
          <a:bodyPr wrap="square" rtlCol="0" anchor="ctr">
            <a:noAutofit/>
          </a:bodyPr>
          <a:lstStyle/>
          <a:p>
            <a:pPr algn="ctr">
              <a:buNone/>
            </a:pPr>
            <a:r>
              <a:rPr lang="en-US" sz="4000" b="0" i="0" dirty="0">
                <a:solidFill>
                  <a:srgbClr val="FFFFFF"/>
                </a:solidFill>
                <a:latin typeface="DM Serif Display"/>
                <a:ea typeface="DM Serif Display"/>
                <a:cs typeface="DM Serif Display"/>
              </a:rPr>
              <a:t>03</a:t>
            </a:r>
          </a:p>
        </p:txBody>
      </p:sp>
      <p:sp>
        <p:nvSpPr>
          <p:cNvPr id="20" name="Text 18"/>
          <p:cNvSpPr/>
          <p:nvPr/>
        </p:nvSpPr>
        <p:spPr>
          <a:xfrm>
            <a:off x="8758123" y="3154680"/>
            <a:ext cx="1645920" cy="502920"/>
          </a:xfrm>
          <a:prstGeom prst="rect">
            <a:avLst/>
          </a:prstGeom>
          <a:noFill/>
          <a:ln/>
        </p:spPr>
        <p:txBody>
          <a:bodyPr wrap="square" rtlCol="0" anchor="t">
            <a:noAutofit/>
          </a:bodyPr>
          <a:lstStyle/>
          <a:p>
            <a:pPr algn="ctr">
              <a:buNone/>
            </a:pPr>
            <a:r>
              <a:rPr lang="en-US" sz="1100" b="0" i="0" dirty="0">
                <a:solidFill>
                  <a:srgbClr val="FFFFFF"/>
                </a:solidFill>
                <a:latin typeface="IBM Plex Mono"/>
                <a:ea typeface="IBM Plex Mono"/>
                <a:cs typeface="IBM Plex Mono"/>
              </a:rPr>
              <a:t>Hold the Page Still</a:t>
            </a:r>
          </a:p>
        </p:txBody>
      </p:sp>
      <p:sp>
        <p:nvSpPr>
          <p:cNvPr id="21" name="Text 19"/>
          <p:cNvSpPr/>
          <p:nvPr/>
        </p:nvSpPr>
        <p:spPr>
          <a:xfrm>
            <a:off x="8118043" y="4434840"/>
            <a:ext cx="2926080" cy="502920"/>
          </a:xfrm>
          <a:prstGeom prst="rect">
            <a:avLst/>
          </a:prstGeom>
          <a:noFill/>
          <a:ln/>
        </p:spPr>
        <p:txBody>
          <a:bodyPr wrap="square" rtlCol="0" anchor="t">
            <a:noAutofit/>
          </a:bodyPr>
          <a:lstStyle/>
          <a:p>
            <a:pPr algn="ctr">
              <a:lnSpc>
                <a:spcPct val="100000"/>
              </a:lnSpc>
              <a:buNone/>
            </a:pPr>
            <a:r>
              <a:rPr lang="en-US" sz="1300" b="0" i="0" dirty="0">
                <a:solidFill>
                  <a:srgbClr val="000000"/>
                </a:solidFill>
                <a:latin typeface="DM Serif Display"/>
                <a:ea typeface="DM Serif Display"/>
                <a:cs typeface="DM Serif Display"/>
              </a:rPr>
              <a:t>Look Back Before You Decide</a:t>
            </a:r>
          </a:p>
        </p:txBody>
      </p:sp>
      <p:sp>
        <p:nvSpPr>
          <p:cNvPr id="22" name="Text 20"/>
          <p:cNvSpPr/>
          <p:nvPr/>
        </p:nvSpPr>
        <p:spPr>
          <a:xfrm>
            <a:off x="8118043" y="4983480"/>
            <a:ext cx="2926080" cy="1097280"/>
          </a:xfrm>
          <a:prstGeom prst="rect">
            <a:avLst/>
          </a:prstGeom>
          <a:noFill/>
          <a:ln/>
        </p:spPr>
        <p:txBody>
          <a:bodyPr wrap="square" rtlCol="0" anchor="t">
            <a:noAutofit/>
          </a:bodyPr>
          <a:lstStyle/>
          <a:p>
            <a:pPr algn="ctr">
              <a:lnSpc>
                <a:spcPct val="112000"/>
              </a:lnSpc>
              <a:buNone/>
            </a:pPr>
            <a:r>
              <a:rPr lang="en-US" sz="950" b="0" i="0" dirty="0">
                <a:solidFill>
                  <a:srgbClr val="333333"/>
                </a:solidFill>
                <a:latin typeface="IBM Plex Sans"/>
                <a:ea typeface="IBM Plex Sans"/>
                <a:cs typeface="IBM Plex Sans"/>
              </a:rPr>
              <a:t>Auto-scroll locks while you review a decision, keeping earlier claims on screen so your eyes can jump back and check the facts before anything runs.</a:t>
            </a:r>
          </a:p>
        </p:txBody>
      </p:sp>
      <p:sp>
        <p:nvSpPr>
          <p:cNvPr id="24" name="Shape 22"/>
          <p:cNvSpPr/>
          <p:nvPr/>
        </p:nvSpPr>
        <p:spPr>
          <a:xfrm>
            <a:off x="4382719" y="4526280"/>
            <a:ext cx="0" cy="1508760"/>
          </a:xfrm>
          <a:prstGeom prst="line">
            <a:avLst/>
          </a:prstGeom>
          <a:noFill/>
          <a:ln w="15875">
            <a:solidFill>
              <a:srgbClr val="D8D8D8"/>
            </a:solidFill>
            <a:prstDash val="solid"/>
          </a:ln>
        </p:spPr>
        <p:txBody>
          <a:bodyPr/>
          <a:p/>
        </p:txBody>
      </p:sp>
      <p:sp>
        <p:nvSpPr>
          <p:cNvPr id="25" name="Shape 23"/>
          <p:cNvSpPr/>
          <p:nvPr/>
        </p:nvSpPr>
        <p:spPr>
          <a:xfrm>
            <a:off x="7879385" y="4526280"/>
            <a:ext cx="0" cy="1508760"/>
          </a:xfrm>
          <a:prstGeom prst="line">
            <a:avLst/>
          </a:prstGeom>
          <a:noFill/>
          <a:ln w="15875">
            <a:solidFill>
              <a:srgbClr val="D8D8D8"/>
            </a:solidFill>
            <a:prstDash val="solid"/>
          </a:ln>
        </p:spPr>
        <p:txBody>
          <a:body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custGeom>
            <a:avLst/>
            <a:gdLst/>
            <a:ahLst/>
            <a:cxnLst/>
            <a:rect l="l" t="t" r="r" b="b"/>
            <a:pathLst>
              <a:path w="12191695" h="6858000">
                <a:moveTo>
                  <a:pt x="11308385" y="5926226"/>
                </a:moveTo>
                <a:lnTo>
                  <a:pt x="812902" y="5929884"/>
                </a:lnTo>
                <a:lnTo>
                  <a:pt x="12802" y="4700016"/>
                </a:lnTo>
                <a:lnTo>
                  <a:pt x="10973" y="0"/>
                </a:lnTo>
                <a:lnTo>
                  <a:pt x="10718597" y="0"/>
                </a:lnTo>
                <a:lnTo>
                  <a:pt x="11306556" y="898855"/>
                </a:lnTo>
                <a:close/>
              </a:path>
            </a:pathLst>
          </a:custGeom>
          <a:solidFill>
            <a:srgbClr val="D8D8D8"/>
          </a:solidFill>
          <a:ln/>
        </p:spPr>
      </p:sp>
      <p:sp>
        <p:nvSpPr>
          <p:cNvPr id="3" name="Shape 1"/>
          <p:cNvSpPr/>
          <p:nvPr/>
        </p:nvSpPr>
        <p:spPr>
          <a:xfrm>
            <a:off x="811987" y="896112"/>
            <a:ext cx="10497312" cy="4846320"/>
          </a:xfrm>
          <a:prstGeom prst="rect">
            <a:avLst/>
          </a:prstGeom>
          <a:solidFill>
            <a:srgbClr val="000000"/>
          </a:solidFill>
          <a:ln/>
        </p:spPr>
      </p:sp>
      <p:pic>
        <p:nvPicPr>
          <p:cNvPr id="10" name="G1 Picture 1" descr="Rendered concept: Decision Marks interface with ASSERT, SHIFT, BRANCH and COMMIT marks inline in a paused stream and a Driver’s Seat control rail"/>
          <p:cNvPicPr>
            <a:picLocks noChangeAspect="1"/>
          </p:cNvPicPr>
          <p:nvPr/>
        </p:nvPicPr>
        <p:blipFill>
          <a:blip r:embed="rIdG1Img1"/>
          <a:srcRect l="0" t="0" r="0" b="0"/>
          <a:stretch>
            <a:fillRect/>
          </a:stretch>
        </p:blipFill>
        <p:spPr>
          <a:xfrm>
            <a:off x="811987" y="896112"/>
            <a:ext cx="10497312" cy="4846320"/>
          </a:xfrm>
          <a:prstGeom prst="rect">
            <a:avLst/>
          </a:prstGeom>
          <a:ln w="9525">
            <a:solidFill>
              <a:srgbClr val="000000"/>
            </a:solidFill>
          </a:ln>
        </p:spPr>
      </p:pic>
      <p:sp>
        <p:nvSpPr>
          <p:cNvPr id="4" name="Text 2"/>
          <p:cNvSpPr/>
          <p:nvPr/>
        </p:nvSpPr>
        <p:spPr>
          <a:xfrm>
            <a:off x="811987" y="274320"/>
            <a:ext cx="10497312" cy="548640"/>
          </a:xfrm>
          <a:prstGeom prst="rect">
            <a:avLst/>
          </a:prstGeom>
          <a:noFill/>
          <a:ln/>
        </p:spPr>
        <p:txBody>
          <a:bodyPr wrap="square" rtlCol="0" anchor="t">
            <a:noAutofit/>
          </a:bodyPr>
          <a:lstStyle/>
          <a:p>
            <a:pPr algn="l">
              <a:buNone/>
            </a:pPr>
            <a:r>
              <a:rPr lang="en-US" sz="2600" b="0" i="0" dirty="0">
                <a:solidFill>
                  <a:srgbClr val="000000"/>
                </a:solidFill>
                <a:latin typeface="DM Serif Display"/>
                <a:ea typeface="DM Serif Display"/>
                <a:cs typeface="DM Serif Display"/>
              </a:rPr>
              <a:t>What Decision Marks Look Like in Practice</a:t>
            </a:r>
          </a:p>
        </p:txBody>
      </p:sp>
      <p:sp>
        <p:nvSpPr>
          <p:cNvPr id="5" name="Shape 3"/>
          <p:cNvSpPr/>
          <p:nvPr/>
        </p:nvSpPr>
        <p:spPr>
          <a:xfrm>
            <a:off x="10171786" y="5852160"/>
            <a:ext cx="0" cy="1670609"/>
          </a:xfrm>
          <a:prstGeom prst="line">
            <a:avLst/>
          </a:prstGeom>
          <a:noFill/>
          <a:ln w="9525">
            <a:solidFill>
              <a:srgbClr val="0C0C0C"/>
            </a:solidFill>
            <a:prstDash val="solid"/>
          </a:ln>
        </p:spPr>
      </p:sp>
      <p:sp>
        <p:nvSpPr>
          <p:cNvPr id="6" name="Shape 4"/>
          <p:cNvSpPr/>
          <p:nvPr/>
        </p:nvSpPr>
        <p:spPr>
          <a:xfrm>
            <a:off x="10171786" y="6049670"/>
            <a:ext cx="0" cy="713232"/>
          </a:xfrm>
          <a:prstGeom prst="line">
            <a:avLst/>
          </a:prstGeom>
          <a:noFill/>
          <a:ln w="69850">
            <a:solidFill>
              <a:srgbClr val="0C0C0C"/>
            </a:solidFill>
            <a:prstDash val="solid"/>
          </a:ln>
        </p:spPr>
      </p:sp>
      <p:sp>
        <p:nvSpPr>
          <p:cNvPr id="7" name="Shape 5"/>
          <p:cNvSpPr/>
          <p:nvPr/>
        </p:nvSpPr>
        <p:spPr>
          <a:xfrm>
            <a:off x="2043684" y="5852160"/>
            <a:ext cx="0" cy="1670609"/>
          </a:xfrm>
          <a:prstGeom prst="line">
            <a:avLst/>
          </a:prstGeom>
          <a:noFill/>
          <a:ln w="9525">
            <a:solidFill>
              <a:srgbClr val="0C0C0C"/>
            </a:solidFill>
            <a:prstDash val="solid"/>
          </a:ln>
        </p:spPr>
      </p:sp>
      <p:sp>
        <p:nvSpPr>
          <p:cNvPr id="8" name="Shape 6"/>
          <p:cNvSpPr/>
          <p:nvPr/>
        </p:nvSpPr>
        <p:spPr>
          <a:xfrm>
            <a:off x="2043684" y="6049670"/>
            <a:ext cx="0" cy="713232"/>
          </a:xfrm>
          <a:prstGeom prst="line">
            <a:avLst/>
          </a:prstGeom>
          <a:noFill/>
          <a:ln w="69850">
            <a:solidFill>
              <a:srgbClr val="0C0C0C"/>
            </a:solidFill>
            <a:prstDash val="solid"/>
          </a:ln>
        </p:spPr>
      </p:sp>
      <p:sp>
        <p:nvSpPr>
          <p:cNvPr id="9" name="Text 7"/>
          <p:cNvSpPr/>
          <p:nvPr/>
        </p:nvSpPr>
        <p:spPr>
          <a:xfrm>
            <a:off x="2240280" y="5989320"/>
            <a:ext cx="7726679" cy="731520"/>
          </a:xfrm>
          <a:prstGeom prst="rect">
            <a:avLst/>
          </a:prstGeom>
          <a:noFill/>
          <a:ln/>
        </p:spPr>
        <p:txBody>
          <a:bodyPr wrap="square" rtlCol="0" anchor="t">
            <a:noAutofit/>
          </a:bodyPr>
          <a:lstStyle/>
          <a:p>
            <a:pPr algn="ctr">
              <a:buNone/>
            </a:pPr>
            <a:r>
              <a:rPr lang="en-US" sz="1050" b="0" i="0" dirty="0">
                <a:solidFill>
                  <a:srgbClr val="000000"/>
                </a:solidFill>
                <a:latin typeface="IBM Plex Sans"/>
                <a:ea typeface="IBM Plex Sans"/>
                <a:cs typeface="IBM Plex Sans"/>
              </a:rPr>
              <a:t>Inline marks break up the AI stream, show the options the AI considered, and hold the page still until you choose a path.</a:t>
            </a:r>
          </a:p>
          <a:p>
            <a:pPr algn="ctr">
              <a:buNone/>
            </a:pPr>
            <a:r>
              <a:rPr lang="en-US" sz="800" b="0" i="1" dirty="0">
                <a:solidFill>
                  <a:srgbClr val="555555"/>
                </a:solidFill>
                <a:latin typeface="IBM Plex Sans"/>
                <a:ea typeface="IBM Plex Sans"/>
                <a:cs typeface="IBM Plex Sans"/>
              </a:rPr>
              <a:t>Illustration made for this talk (drawn by script). Not a real product; sample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minimal — Stylish Presentation Template</dc:title>
  <dc:subject>PptxGenJS Presentation</dc:subject>
  <dc:creator>pptxgenjs</dc:creator>
  <cp:lastModifiedBy>pptxgenjs</cp:lastModifiedBy>
  <cp:revision>1</cp:revision>
  <dcterms:created xsi:type="dcterms:W3CDTF">2026-10-28T18:55:33Z</dcterms:created>
  <dcterms:modified xsi:type="dcterms:W3CDTF">2026-10-28T18:55:33Z</dcterms:modified>
</cp:coreProperties>
</file>