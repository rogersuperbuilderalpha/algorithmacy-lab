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This presentation investigates a foundational problem at the intersection of mathematical logic, universal algebra, and causal dynamical systems: whether triadic relations possess ontological autonomy or factorize into compositions of dyadic relations. The resolution of this question determines whether *algorithmacy* constitutes an independent communicative and cognitive competency, or whether it collapses into an extensional variant of conventional literacy.</a:t>
            </a:r>
          </a:p>
          <a:p/>
          <a:p>
            <a:r>
              <a:t>**Layman's Explanation**</a:t>
            </a:r>
          </a:p>
          <a:p>
            <a:r>
              <a:t>When you interact with another person through an algorithm—such as hailing a ride, trading on a platform, or scrolling a curated social feed—is that algorithm merely an inert digital wire connecting two people, or is it an active third party in the room? If it is just a wire, you only need standard reading skills to navigate it. But if the three-way interaction cannot be sliced into two separate two-way conversations, we are dealing with a completely new medium that requires a distinct human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Human communication evolves through discrete phase shifts in coordination media:</a:t>
            </a:r>
          </a:p>
          <a:p/>
          <a:p>
            <a:r>
              <a:t>* **Oracy** emerged to govern synchronous, co-located spoken interaction, structured as an immediate acoustic dyad.</a:t>
            </a:r>
          </a:p>
          <a:p/>
          <a:p>
            <a:r>
              <a:t>* **Literacy** decoupled author from reader across space and time via a passive symbolic conduit, establishing an asynchronous, feedforward dyadic architecture.</a:t>
            </a:r>
          </a:p>
          <a:p/>
          <a:p>
            <a:r>
              <a:t>* **Numeracy** formalized quantitative invariants and abstract mapping.</a:t>
            </a:r>
          </a:p>
          <a:p/>
          <a:p>
            <a:r>
              <a:t>* **Algorithmacy** denotes the cognitive competency required to navigate triadic cooptive coordination: interacting with a counterpart through an active algorithmic mediator—a discourse deputy—that enforces its own objective function and continuously transforms the interaction space.</a:t>
            </a:r>
          </a:p>
          <a:p/>
          <a:p>
            <a:r>
              <a:t>**Layman's Explanation**</a:t>
            </a:r>
          </a:p>
          <a:p>
            <a:r>
              <a:t>Oracy is talking face-to-face. Literacy is writing a letter: the paper never edits what you wrote while the recipient reads it. But algorithmacy is dealing with an active middleman. Think of a passenger, an Uber driver, and the dispatch algorithm: the app is not a passive sheet of paper. It sets prices, decides routes, evaluates ratings, and steers both humans simultaneously. Algorithmacy is the skill of handling that active third party.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Every communicative competency presupposes the ontological autonomy of its target medium: literacy is meaningful only because texts are physically and semiotically real. Consequently, algorithmacy is coherent only if genuine triadic relations constitute an irreducible category of being. If all triadic coordination factorizes into compositions of dyadic projections, algorithmic mediation dissolves into pairwise transmission channels, leaving algorithmacy without an autonomous target. We trace this boundary across Charles Sanders Peirce, Willard Van Orman Quine, relational clone theory, and causal information theory.</a:t>
            </a:r>
          </a:p>
          <a:p/>
          <a:p>
            <a:r>
              <a:t>**Layman's Explanation**</a:t>
            </a:r>
          </a:p>
          <a:p>
            <a:r>
              <a:t>Does a three-way relationship actually exist on its own, or is it just two pairs glued together? Consider a three-legged stool: you cannot explain why it stands by testing pairs of legs in isolation; the stability exists only when all three work together at once. If three-way coordination is just two pairs stacked together, then learning to read text is all we need. If genuine three-way coordination is real and indivisible, we need a new framework.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Charles Sanders Peirce structured his phenomenological and relational ontology upon three universal categories:</a:t>
            </a:r>
          </a:p>
          <a:p/>
          <a:p>
            <a:r>
              <a:t>* **Firstness** is monadic potentiality and immediate quality—what an entity is "regardless of aught else," formalizable as unary selection or uncoupled entropy.</a:t>
            </a:r>
          </a:p>
          <a:p/>
          <a:p>
            <a:r>
              <a:t>* **Secondness** is dyadic actuality and brute physical reaction—two terms locked in direct reciprocal resistance, where "cause and effect are two".</a:t>
            </a:r>
          </a:p>
          <a:p/>
          <a:p>
            <a:r>
              <a:t>* **Thirdness** is triadic mediation, law, and representation—"the medium or connecting bond between the absolute first and last," instantiated by the irreducible sign-object-interpretant relation.</a:t>
            </a:r>
          </a:p>
          <a:p/>
          <a:p>
            <a:r>
              <a:t>**Layman's Explanation**</a:t>
            </a:r>
          </a:p>
          <a:p>
            <a:r>
              <a:t>Peirce argued that everything in reality falls into three buckets. Firstness is a pure, isolated quality, like seeing the color red in a dream. Secondness is direct, physical collision, like your bumper hitting a brick wall—two things pushing on each other. Thirdness is a traffic rule: the legal requirement that connects the red light to your foot pressing the brake. A law or a meaning cannot be described by raw collisions alone; the connecting rule is real.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In 1870, Peirce formulated the Peircean Reduction Thesis (PRT): a genuine triad binds its members "in a way that does not consist in any complexus of dyadic relations". The thesis asserts two asymmetric claims:</a:t>
            </a:r>
          </a:p>
          <a:p/>
          <a:p>
            <a:r>
              <a:t>1. No genuine triadic relation can be synthesized solely from monadic and dyadic relations.</a:t>
            </a:r>
          </a:p>
          <a:p/>
          <a:p>
            <a:r>
              <a:t>2. Every polyadic relation of arity $n \ge 3$ can be generated by compositions of triads.</a:t>
            </a:r>
          </a:p>
          <a:p>
            <a:r>
              <a:t>Triadicity is generative, universal, and join-complete; relations of arity $n \ge 4$ require no primitive higher-order operations beyond triadic branching.</a:t>
            </a:r>
          </a:p>
          <a:p/>
          <a:p>
            <a:r>
              <a:t>**Layman's Explanation**</a:t>
            </a:r>
          </a:p>
          <a:p>
            <a:r>
              <a:t>Peirce claimed that "three" is the magic number of the universe. You can never build a genuine three-way relationship out of simple two-way connections. But once you have true three-way connectors, you can assemble networks of any size or complexity—four-way, ten-way, or a million-way. Three is the fundamental building block; anything less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Peirce illustrates the irreducibility of Thirdness using the ternary proposition $\text{gives}(A, B, C)$. He demonstrates that an intentional transaction cannot be decomposed into sequential dyadic physical events, such as $A$ throwing object $B$ and $B$ subsequently colliding with recipient $C$. That physical sequence constitutes "merely one dyadic relation followed by another". Genuine giving transfers legal rights and intentional status, binding giver, gift, and recipient into a single non-factorizable fact.</a:t>
            </a:r>
          </a:p>
          <a:p/>
          <a:p>
            <a:r>
              <a:t>**Layman's Explanation**</a:t>
            </a:r>
          </a:p>
          <a:p>
            <a:r>
              <a:t>Imagine I hand you a gift. That is a legal and social transfer of ownership. Now imagine I toss an apple out of a window, and it accidentally bounces off your head. In both cases, an apple left my hand and touched you. But the second scenario is just two physical accidents chained together. Genuine gift-giving requires all three parties—giver, gift, and receiver—to be united under a single mutual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Peirce formalized his topological valency calculus using graphical representations of relations. A monadic property possesses one external bond, a dyad possesses two, and a triad possesses three. Splicing two relations via relative product consumes two free bonds—one from each factor:</a:t>
            </a:r>
          </a:p>
          <a:p/>
          <a:p>
            <a:r>
              <a:t>$$2 + 2 - 2 = 2$$</a:t>
            </a:r>
          </a:p>
          <a:p/>
          <a:p>
            <a:r>
              <a:t>Chaining arbitrary even-valency relations ("artiads") strictly conserves even valency, permanently restricting compositions to linear paths or isolated cycles. Triadic composition, however, yields:</a:t>
            </a:r>
          </a:p>
          <a:p/>
          <a:p>
            <a:r>
              <a:t>$$3 + 3 - 2 = 4$$</a:t>
            </a:r>
          </a:p>
          <a:p/>
          <a:p>
            <a:r>
              <a:t>This allows the construction of arbitrary relational topologies.</a:t>
            </a:r>
          </a:p>
          <a:p/>
          <a:p>
            <a:r>
              <a:t>A classical mechanical counterargument suggests that allowing three dyadic bonds to intersect at a shared point generates a triad from binary lines. Peirce refuted this by showing that the intersection node is itself an active relation: "every node of bonds is equivalent to a relative". Alfred Kempe attempted to eliminate triads in 1886 by replacing them with configurations of binary links. Peirce demonstrated that Kempe had merely relocated the triad into the graphic attachment points—the primitive teridentity operator that synchronizes three distinct coordinates.</a:t>
            </a:r>
          </a:p>
          <a:p/>
          <a:p>
            <a:r>
              <a:t>**Layman's Explanation**</a:t>
            </a:r>
          </a:p>
          <a:p>
            <a:r>
              <a:t>Think of plumbing pipes. If you take straight pipes that each have two open ends, no matter how many you glue together, the finished line still only has two open ends. You can make long lines or closed loops, but you can never make a branch. To split a water line into a new direction, you need a T-junction pipe with three openings. Two-ended parts only produce two-ended systems.</a:t>
            </a:r>
          </a:p>
          <a:p/>
          <a:p>
            <a:r>
              <a:t>A skeptic might argue: "Look at a three-way road intersection; it is just three separate roads meeting in the middle!" Peirce responded that the middle of the intersection is not empty space—it is a roundabout or traffic light that coordinates all three roads simultaneously. You did not eliminate the triad; you just swept it into the middle of the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That junction has an algebraic name, the **teridentity relation**:</a:t>
            </a:r>
          </a:p>
          <a:p/>
          <a:p>
            <a:r>
              <a:t>$$=_3 \; \equiv \{(x, x, x) \mid x \in A\}$$</a:t>
            </a:r>
          </a:p>
          <a:p/>
          <a:p>
            <a:r>
              <a:t>Robert Burch (1991) formalized Peircean Algebraic Logic (PAL), demonstrating algebraically that over a closed, fixed universe without domain expansion, dyadic relations cannot generate ternary relations under primitive positive logic.</a:t>
            </a:r>
          </a:p>
          <a:p/>
          <a:p>
            <a:r>
              <a:t>Over fixed domains, the three-way junction is join-irreducible.</a:t>
            </a:r>
          </a:p>
          <a:p/>
          <a:p>
            <a:r>
              <a:t>**Layman's Explanation**</a:t>
            </a:r>
          </a:p>
          <a:p>
            <a:r>
              <a:t>Modern algebra proved the exact mechanism. To coordinate three things, you need a "three-way identity switch"—a rule saying three different points must hold the exact same value simultaneously. Standard math formulas cheat by writing the variable letter $x$ three times in one equation and pretending that is not a three-way relation. It is. The moment you forbid that hidden trick, two-way wires can never build a three-way junction.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In 1954, Willard Van Orman Quine published a mathematical proof demonstrating that any formal theory expressible in first-order logic can be rewritten using only a single dyadic predicate, denoted $J$. Quine accomplished this by:</a:t>
            </a:r>
          </a:p>
          <a:p/>
          <a:p>
            <a:r>
              <a:t>* Compressing arguments into nested ordered pairs via Wiener-Kuratowski definitions.</a:t>
            </a:r>
          </a:p>
          <a:p/>
          <a:p>
            <a:r>
              <a:t>* Reifying polyadic relations as abstract individuals.</a:t>
            </a:r>
          </a:p>
          <a:p/>
          <a:p>
            <a:r>
              <a:t>* Expanding the universe of discourse to include an infinite hierarchy of sets of pairs, paralleling Leopold Löwenheim’s 1915 construction.</a:t>
            </a:r>
          </a:p>
          <a:p/>
          <a:p>
            <a:r>
              <a:t>The mechanics of Quine's translation are transparent. A ternary proposition like $\text{gives}(A, B, C)$ is packed as:</a:t>
            </a:r>
          </a:p>
          <a:p/>
          <a:p>
            <a:r>
              <a:t>$$\langle\text{tag}, A, \langle B, C\rangle\rangle \in J$$</a:t>
            </a:r>
          </a:p>
          <a:p/>
          <a:p>
            <a:r>
              <a:t>The original triadic fact is converted into an assertion of dyadic membership over an inflated domain. By recursively applying this procedure across all relations, every polyadic structure dissolves into an individual tuple embedded within an expanded universe of sets.</a:t>
            </a:r>
          </a:p>
          <a:p/>
          <a:p>
            <a:r>
              <a:t>**Layman's Explanation**</a:t>
            </a:r>
          </a:p>
          <a:p>
            <a:r>
              <a:t>In 1954, the famous philosopher Willard Van Orman Quine delivered what looked like a fatal blow to Peirce's theory. He showed a clever mathematical trick: if you bundle multiple pieces of information into pairs of nested envelopes, you can re-write any complex relationship in the world using just a single two-place relationship: "Does Envelope X contain Envelope Y?" It appeared that three-way relationships had been eliminated.</a:t>
            </a:r>
          </a:p>
          <a:p/>
          <a:p>
            <a:r>
              <a:t>Here is how Quine pulled it off: take "Alice gives a book to Bob". First, he packs "the book" and "Bob" into an envelope labeled "Target". Then he packs "Alice" and the "Target" envelope into a bigger envelope labeled "Giving Event". Now, you only ever ask two-item questions: "Is Alice inside the Giving envelope?" Quine replaced genuine three-way coordination with nested Russian nesting dolls.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Quine's proof led twentieth-century logicians to conclude that Peirce's Reduction Thesis was mistaken. If any triadic relation can be represented as dyadic membership over a universe of pairs, Thirdness is not an autonomous category of being, but a syntactic convenience eliminated by set-theoretic packaging. If that conclusion holds, triadic interaction is an illusion: coordinating through an algorithm is just two chained dyadic steps, collapsing algorithmacy into conventional literacy.</a:t>
            </a:r>
          </a:p>
          <a:p/>
          <a:p>
            <a:r>
              <a:t>Universal algebra resolves this conflict by demonstrating that the outcome depends strictly on the constructive operations permitted:</a:t>
            </a:r>
          </a:p>
          <a:p/>
          <a:p>
            <a:r>
              <a:t>* Hans Herzberger (1981) proved that Peirce’s thesis holds as an exact theorem for valency-regular constructions under relative products, while confirming that under standard extensional definability over inflated domains, the thesis collapses.</a:t>
            </a:r>
          </a:p>
          <a:p/>
          <a:p>
            <a:r>
              <a:t>* Dau and Hereth Correia (2006) showed that standard relational algebra generates $=_3$ only by covertly smuggling it into variable identification operations ($\Delta$).</a:t>
            </a:r>
          </a:p>
          <a:p/>
          <a:p>
            <a:r>
              <a:t>**Layman's Explanation**</a:t>
            </a:r>
          </a:p>
          <a:p>
            <a:r>
              <a:t>If Quine is right, "three-way coordination" does not exist in nature—it is just lazy grammar that computer code can dismantle into pairs. And if that is true, you don't need any special skill to deal with algorithms; interacting with an AI or a platform is no different from reading two text messages one after the other.</a:t>
            </a:r>
          </a:p>
          <a:p/>
          <a:p>
            <a:r>
              <a:t>Logicians eventually realized both thinkers were right, but under different rules. If you are building a real machine out of a fixed set of physical parts, Peirce is completely right: you cannot build a three-way switch out of two-way switches. Quine only "won" on paper by assuming you have access to an infinite warehouse of magic envelopes to stuff things into.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Relational clone theory formalizes the precise mathematical barrier. Hereth Correia and Pöschel (2006) proved that for any base domain $\vert{}A\vert{} \ge 2$, the clone generated by monadic and dyadic relations strictly excludes the **teridentity relation**:</a:t>
            </a:r>
          </a:p>
          <a:p/>
          <a:p>
            <a:r>
              <a:t>$$=_3 \; \equiv \{(x, x, x) \mid x \in A\}$$</a:t>
            </a:r>
          </a:p>
          <a:p/>
          <a:p>
            <a:r>
              <a:t>Koshkin (2024) proved that on infinite domains, non-degenerate relations have a strict lower bound of ternarity ($\text{ter}(R) \ge n - 2$).</a:t>
            </a:r>
          </a:p>
          <a:p/>
          <a:p>
            <a:r>
              <a:t>Robert Burch concluded in the *Stanford Encyclopedia of Philosophy* that both Peirce and Quine are correct relative to their premises: the outcome depends on the allowable constructive resources. Sergiy Koshkin showed that once the ternary junction is acknowledged as an explicit relation, Peirce’s claim is mathematically validated. However, static algebraic logic evaluates relations extensionally as frozen sets of tuples. It cannot evaluate real-time coordination within dynamic, running systems. To differentiate genuine triadic coordination from disguised dyadic transmission, we must employ causal information theory.</a:t>
            </a:r>
          </a:p>
          <a:p/>
          <a:p>
            <a:r>
              <a:t>**Layman's Explanation**</a:t>
            </a:r>
          </a:p>
          <a:p>
            <a:r>
              <a:t>On paper, if you allow infinite math tricks, Quine works; in physical geometry, Peirce works. But algorithms and humans do not live on paper as frozen database tables. We interact in real time with running software. We don't need another chalkboard proof; we need a physical test to determine whether a running computer system is genuinely triadic or just pretending to be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Partial Information Decomposition, due to Williams and Beer (2010), splits the information two sources carry about a target into four parts: what both carry (redundancy), what each carries alone (two unique terms), and what only the pair carries together (synergy). Exclusive-or is the canonical case. With $Y = X_1 \oplus X_2$, neither input alone tells you anything about $Y$, yet the two together fix it, and all of the information is synergy: one bit.</a:t>
            </a:r>
          </a:p>
          <a:p/>
          <a:p>
            <a:r>
              <a:t>**Layman's Explanation**</a:t>
            </a:r>
          </a:p>
          <a:p>
            <a:r>
              <a:t>Take two light switches wired so the lamp is on when exactly one of them is up. Look at either switch alone and you learn nothing about the lamp. Look at both and you know it for certain. That kind of information lives only in the pair, never in either part.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Integrated Information Theory (IIT 4.0) provides an operational test for dynamic irreducibility. IIT evaluates a system’s Transition Probability Matrix (TPM) across all bipartitions to determine the Minimum Information Partition (MIP):</a:t>
            </a:r>
          </a:p>
          <a:p/>
          <a:p>
            <a:r>
              <a:t>$$\Phi = \text{ID}\left(p \parallel p^{P_{\text{MIP}}}\right)$$</a:t>
            </a:r>
          </a:p>
          <a:p/>
          <a:p>
            <a:r>
              <a:t>If $\Phi = 0$, the system factorizes cleanly into independent components. If $\Phi &gt; 0$, causal interactions are irreducible.</a:t>
            </a:r>
          </a:p>
          <a:p/>
          <a:p>
            <a:r>
              <a:t>**Layman's Explanation**</a:t>
            </a:r>
          </a:p>
          <a:p>
            <a:r>
              <a:t>We found our test in neuroscience: Integrated Information Theory. It asks a simple question: "If you take a pair of scissors and cut this system along its weakest seam, how much information is lost?" If cutting it loses nothing ($\Phi = 0$), it was just independent wires. If cutting it destroys the system's behavior ($\Phi &gt; 0$), it is an indivisible whole.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An **irreducible triad** is a mechanism jointly determined by two other elements, with all three belonging to an integrated complex ($\Phi &gt; 0$). In our minimal control circuit ($M' = A \land B$; $A' = M$; $B' = M$), IIT 4.0 yields $\Phi = 2.0$, with all three nodes in the core complex. Under Partial Information Decomposition (PID), this configuration exhibits pure causal synergy ($\text{Syn} &gt; 0$).</a:t>
            </a:r>
          </a:p>
          <a:p/>
          <a:p>
            <a:r>
              <a:t>Applying this causal test across dynamical architectures resolves the structural taxonomy:</a:t>
            </a:r>
          </a:p>
          <a:p/>
          <a:p>
            <a:r>
              <a:t>1. **Dyadic Wirings Conserve Dyads:** Testing 89 discrete single-input copy architectures confirms Peirce's valency rule: pairwise connections produce only pairwise distinctions, generating zero triadic mechanisms.</a:t>
            </a:r>
          </a:p>
          <a:p/>
          <a:p>
            <a:r>
              <a:t>2. **Wholeness and Triadicity Are Orthogonal:** Testing 30 four-element networks driven by two-input mechanisms proves that system-level integration and local triadic irreducibility do not always coincide:</a:t>
            </a:r>
          </a:p>
          <a:p/>
          <a:p>
            <a:r>
              <a:t>* *A whole without a triad:* A cyclic ring of pairwise copy elements achieves $\Phi = 2.0$ purely via feedback return, containing zero triadic mechanisms.</a:t>
            </a:r>
          </a:p>
          <a:p/>
          <a:p>
            <a:r>
              <a:t>* *A triad without a whole:* In 11 of the 30 networks, an element is jointly determined by two others, yet the system factorizes globally across its MIP ($\Phi = 0$).</a:t>
            </a:r>
          </a:p>
          <a:p/>
          <a:p>
            <a:r>
              <a:t>* *A triad integrated within a whole:* In 5 of the 30 networks—matching our control circuit and Peirce's model of genuine giving—the triadic mechanism resides inside an irreducible complex ($\Phi &gt; 0$).</a:t>
            </a:r>
          </a:p>
          <a:p/>
          <a:p>
            <a:r>
              <a:t>**Layman's Explanation**</a:t>
            </a:r>
          </a:p>
          <a:p>
            <a:r>
              <a:t>In our circuit—where a mediator $M$ only triggers when both $A$ and $B$ act together, and both $A$ and $B$ listen to $M$—cutting the system destroys its function completely ($\Phi = 2.0$). It is a true, irreducible triad.</a:t>
            </a:r>
          </a:p>
          <a:p/>
          <a:p>
            <a:r>
              <a:t>We tested this across dozens of computational network designs and discovered two critical facts:</a:t>
            </a:r>
          </a:p>
          <a:p>
            <a:r>
              <a:t>First, connecting single-input wires end-to-end never creates a three-way decision—pairs only make pairs.</a:t>
            </a:r>
          </a:p>
          <a:p>
            <a:r>
              <a:t>Second, being a "unified system" is not the same as being a "triad". A circle of people whispering a rumor around a ring is a unified loop ($\Phi = 2.0$), but every step is still just a two-person exchange! Genuine triadicity requires an active coordinator that combines two inputs simultaneously inside that loop—which occurred in only 5 of our 30 test networks.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Triads do not universally reduce to dyads. A genuine triadic system is one where an active third party is jointly determined by two participants and dynamically couples them within an integrated cause-effect structure ($\Phi &gt; 0$). These non-factorizable systems are the specific operational targets of algorithmacy.</a:t>
            </a:r>
          </a:p>
          <a:p/>
          <a:p>
            <a:r>
              <a:t>While literacy parses feedforward, passive symbolic inscriptions, algorithmacy provides the cognitive capacity to model, interrogate, and negotiate the active, synergistic intent of an algorithmic third party. This structural form is not unique to artificial intelligence—it exists historically in legal arbitration and shared physical tallies. What is unprecedented is its automated deployment at societal scale through machine-learning platforms.</a:t>
            </a:r>
          </a:p>
          <a:p/>
          <a:p>
            <a:r>
              <a:t>Our current models are grounded in discrete Boolean state spaces, leaving continuous human behavior and the empirical identification of observational unit boundaries as our next investigative phase.</a:t>
            </a:r>
          </a:p>
          <a:p/>
          <a:p>
            <a:r>
              <a:t>**Layman's Explanation**</a:t>
            </a:r>
          </a:p>
          <a:p>
            <a:r>
              <a:t>The verdict is in: triads are real, physical, and cannot be broken down. When you read a book or an email, you use literacy to interpret static text that does not react to you. But when you drive for an app, manage an AI assistant, or interact through a platform, you are locked into an irreducible triad. The algorithm is an active player with its own incentives, measuring both sides at once. Basic literacy cannot protect you from being manipulated in this environment. Only algorithmacy—the ability to understand, question, and steer the active third party—allows humans to maintain agency in an automated world.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Same three members, two circuits: giver's act, thing, receiver's possession. In the gift, possession is set by giver and thing together; in the imitation, each member answers to one other. Both are wholes at Φ = 2.0.</a:t>
            </a:r>
          </a:p>
          <a:p/>
          <a:p>
            <a:r>
              <a:t>**Layman's Explanation**</a:t>
            </a:r>
          </a:p>
          <a:p>
            <a:r>
              <a:t>Back to the gift and the apple. Ask "is this one whole?" and both say yes. Ask "is anyone set by two others at once?" and only the gift says yes.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Each member following the majority: Φ = 0.0, the system factors. We had pre-registered the opposite. Unanimity instead: Φ = 6.0, all three in the core. On a related quorum form, IIT 3.0 says binds where IIT 4.0 says factors.</a:t>
            </a:r>
          </a:p>
          <a:p/>
          <a:p>
            <a:r>
              <a:t>**Layman's Explanation**</a:t>
            </a:r>
          </a:p>
          <a:p>
            <a:r>
              <a:t>A committee that goes with any two: any one of you can be outvoted, so cutting one away changes nothing. Make it all three or nothing, and cutting anyone stops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The dealer only relays: let the maker sell direct and Φ falls from 2.0 to 0.0. The clearinghouse keeps 2.0 under the same bypass. The brokerage types sort the same way, on constructed forms, not fitted markets.</a:t>
            </a:r>
          </a:p>
          <a:p/>
          <a:p>
            <a:r>
              <a:t>**Layman's Explanation**</a:t>
            </a:r>
          </a:p>
          <a:p>
            <a:r>
              <a:t>A toll booth on the only bridge matters until a second bridge goes up. A translator between two people with no common language matters whatever you build. Our test builds the second bridge and asks who is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Validate on two controls before you trust a verdict. A new question scaffolds from a template, and CI re-derives every registered number on each pull request.</a:t>
            </a:r>
          </a:p>
          <a:p/>
          <a:p>
            <a:r>
              <a:t>**Layman's Explanation**</a:t>
            </a:r>
          </a:p>
          <a:p>
            <a:r>
              <a:t>A kitchen with the recipes written down. Check the oven on a dish you know, then cook your own. Write down what you expect before you taste. A dish that comes out wrong still goes in the book.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Presentation**</a:t>
            </a:r>
          </a:p>
          <a:p>
            <a:r>
              <a:t>We have pointed the instrument at real people once: two people's gaze, one step at a time. Coded per person, the streams factor; coded as a shared region, they integrate. The registered result: the verdict depends on the coder.</a:t>
            </a:r>
          </a:p>
          <a:p/>
          <a:p>
            <a:r>
              <a:t>**Layman's Explanation**</a:t>
            </a:r>
          </a:p>
          <a:p>
            <a:r>
              <a:t>Every line is a door. Bring a dataset, a workplace, a bigger committee.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Type the audience's sentence into Claude Code with talk/LIVE_SESSION.md loaded. Read three lines aloud: whole or factors, the core, who is set by two others. If the laptop or the network fails, show slide 22.]</a:t>
            </a:r>
          </a:p>
          <a:p/>
          <a:p>
            <a:r>
              <a:t>An arrangement from your own work: three or four parties, who acts on whom. What questions are you interested 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unless the live session fails. Read the row that matches the question asked.]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spoken. Leave this up during questions, or skip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63040"/>
            <a:ext cx="10545775" cy="365760"/>
          </a:xfrm>
          <a:prstGeom prst="rect">
            <a:avLst/>
          </a:prstGeom>
          <a:noFill/>
        </p:spPr>
        <p:txBody>
          <a:bodyPr wrap="square" anchor="b" lIns="0" rIns="0" tIns="0" bIns="0">
            <a:spAutoFit/>
          </a:bodyPr>
          <a:lstStyle/>
          <a:p>
            <a:pPr algn="l">
              <a:spcBef>
                <a:spcPts val="0"/>
              </a:spcBef>
            </a:pPr>
            <a:r>
              <a:rPr sz="1400" b="0" i="0">
                <a:solidFill>
                  <a:srgbClr val="000000"/>
                </a:solidFill>
                <a:latin typeface="Arial"/>
              </a:rPr>
              <a:t>RELATIONAL ALGEBRA • IIT 4.0 • PID</a:t>
            </a:r>
          </a:p>
        </p:txBody>
      </p:sp>
      <p:sp>
        <p:nvSpPr>
          <p:cNvPr id="3" name="TextBox 2"/>
          <p:cNvSpPr txBox="1"/>
          <p:nvPr/>
        </p:nvSpPr>
        <p:spPr>
          <a:xfrm>
            <a:off x="822960" y="1920240"/>
            <a:ext cx="10545775" cy="1097280"/>
          </a:xfrm>
          <a:prstGeom prst="rect">
            <a:avLst/>
          </a:prstGeom>
          <a:noFill/>
        </p:spPr>
        <p:txBody>
          <a:bodyPr wrap="square" anchor="b" lIns="0" rIns="0" tIns="0" bIns="0">
            <a:spAutoFit/>
          </a:bodyPr>
          <a:lstStyle/>
          <a:p>
            <a:pPr algn="l">
              <a:spcBef>
                <a:spcPts val="0"/>
              </a:spcBef>
            </a:pPr>
            <a:r>
              <a:rPr sz="4400" b="1" i="0">
                <a:solidFill>
                  <a:srgbClr val="000000"/>
                </a:solidFill>
                <a:latin typeface="Arial"/>
              </a:rPr>
              <a:t>Do Triads Reduce to Dyads?</a:t>
            </a:r>
          </a:p>
        </p:txBody>
      </p:sp>
      <p:sp>
        <p:nvSpPr>
          <p:cNvPr id="4" name="TextBox 3"/>
          <p:cNvSpPr txBox="1"/>
          <p:nvPr/>
        </p:nvSpPr>
        <p:spPr>
          <a:xfrm>
            <a:off x="822960" y="3291840"/>
            <a:ext cx="10545775" cy="274320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The Peircean Reduction Thesis, Quine’s Fallacy, and the Mathematical Foundations of Algorithmacy.</a:t>
            </a:r>
          </a:p>
          <a:p>
            <a:pPr algn="l">
              <a:spcBef>
                <a:spcPts val="1600"/>
              </a:spcBef>
            </a:pPr>
            <a:r>
              <a:rPr sz="2200" b="0" i="0">
                <a:solidFill>
                  <a:srgbClr val="000000"/>
                </a:solidFill>
                <a:latin typeface="Arial"/>
              </a:rPr>
              <a:t>ALGOCON • Port of Spain • October 2026</a:t>
            </a:r>
          </a:p>
          <a:p>
            <a:pPr algn="l">
              <a:spcBef>
                <a:spcPts val="400"/>
              </a:spcBef>
            </a:pPr>
            <a:r>
              <a:rPr sz="2200" b="0" i="0">
                <a:solidFill>
                  <a:srgbClr val="000000"/>
                </a:solidFill>
                <a:latin typeface="Arial"/>
              </a:rPr>
              <a:t>Theoretical Computing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EPISTEMIC EVOLUTION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The Four Relational Sensibilities</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Oracy</a:t>
            </a:r>
            <a:r>
              <a:rPr sz="2200" b="0" i="0">
                <a:solidFill>
                  <a:srgbClr val="000000"/>
                </a:solidFill>
                <a:latin typeface="Arial"/>
              </a:rPr>
              <a:t> — ARITY: 1 • MONADIC</a:t>
            </a:r>
          </a:p>
          <a:p>
            <a:pPr algn="l">
              <a:spcBef>
                <a:spcPts val="400"/>
              </a:spcBef>
            </a:pPr>
            <a:r>
              <a:rPr sz="2200" b="0" i="0">
                <a:solidFill>
                  <a:srgbClr val="000000"/>
                </a:solidFill>
                <a:latin typeface="Arial"/>
              </a:rPr>
              <a:t>Synchronous acoustic presence.</a:t>
            </a:r>
          </a:p>
          <a:p>
            <a:pPr algn="l">
              <a:spcBef>
                <a:spcPts val="1600"/>
              </a:spcBef>
            </a:pPr>
            <a:r>
              <a:rPr sz="2200" b="1" i="0">
                <a:solidFill>
                  <a:srgbClr val="000000"/>
                </a:solidFill>
                <a:latin typeface="Arial"/>
              </a:rPr>
              <a:t>Literacy</a:t>
            </a:r>
            <a:r>
              <a:rPr sz="2200" b="0" i="0">
                <a:solidFill>
                  <a:srgbClr val="000000"/>
                </a:solidFill>
                <a:latin typeface="Arial"/>
              </a:rPr>
              <a:t> — ARITY: 2 • DYADIC</a:t>
            </a:r>
          </a:p>
          <a:p>
            <a:pPr algn="l">
              <a:spcBef>
                <a:spcPts val="400"/>
              </a:spcBef>
            </a:pPr>
            <a:r>
              <a:rPr sz="2200" b="0" i="0">
                <a:solidFill>
                  <a:srgbClr val="000000"/>
                </a:solidFill>
                <a:latin typeface="Arial"/>
              </a:rPr>
              <a:t>Asynchronous document transmission.</a:t>
            </a:r>
          </a:p>
          <a:p>
            <a:pPr algn="l">
              <a:spcBef>
                <a:spcPts val="1600"/>
              </a:spcBef>
            </a:pPr>
            <a:r>
              <a:rPr sz="2200" b="1" i="0">
                <a:solidFill>
                  <a:srgbClr val="000000"/>
                </a:solidFill>
                <a:latin typeface="Arial"/>
              </a:rPr>
              <a:t>Numeracy</a:t>
            </a:r>
            <a:r>
              <a:rPr sz="2200" b="0" i="0">
                <a:solidFill>
                  <a:srgbClr val="000000"/>
                </a:solidFill>
                <a:latin typeface="Arial"/>
              </a:rPr>
              <a:t> — ARITY: 2 • FORMAL</a:t>
            </a:r>
          </a:p>
          <a:p>
            <a:pPr algn="l">
              <a:spcBef>
                <a:spcPts val="400"/>
              </a:spcBef>
            </a:pPr>
            <a:r>
              <a:rPr sz="2200" b="0" i="0">
                <a:solidFill>
                  <a:srgbClr val="000000"/>
                </a:solidFill>
                <a:latin typeface="Arial"/>
              </a:rPr>
              <a:t>Symbolic quantitative mapping.</a:t>
            </a:r>
          </a:p>
          <a:p>
            <a:pPr algn="l">
              <a:spcBef>
                <a:spcPts val="1600"/>
              </a:spcBef>
            </a:pPr>
            <a:r>
              <a:rPr sz="2200" b="1" i="0">
                <a:solidFill>
                  <a:srgbClr val="000000"/>
                </a:solidFill>
                <a:latin typeface="Arial"/>
              </a:rPr>
              <a:t>Algorithmacy</a:t>
            </a:r>
            <a:r>
              <a:rPr sz="2200" b="0" i="0">
                <a:solidFill>
                  <a:srgbClr val="000000"/>
                </a:solidFill>
                <a:latin typeface="Arial"/>
              </a:rPr>
              <a:t> — ARITY: 3 • TRIADIC</a:t>
            </a:r>
          </a:p>
          <a:p>
            <a:pPr algn="l">
              <a:spcBef>
                <a:spcPts val="400"/>
              </a:spcBef>
            </a:pPr>
            <a:r>
              <a:rPr sz="2200" b="0" i="0">
                <a:solidFill>
                  <a:srgbClr val="000000"/>
                </a:solidFill>
                <a:latin typeface="Arial"/>
              </a:rPr>
              <a:t>Autonomous synthetic mediation.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FOUNDATIONAL PROBLEM</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The Ontological Reducibility Dilemma</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Clone Question:</a:t>
            </a:r>
            <a:r>
              <a:rPr sz="2200" b="0" i="0">
                <a:solidFill>
                  <a:srgbClr val="000000"/>
                </a:solidFill>
                <a:latin typeface="Arial"/>
              </a:rPr>
              <a:t> Does the dyadic clone generate all ternary relations: [R(2)] = R(3)?</a:t>
            </a:r>
          </a:p>
          <a:p>
            <a:pPr algn="l">
              <a:spcBef>
                <a:spcPts val="1600"/>
              </a:spcBef>
            </a:pPr>
            <a:r>
              <a:rPr sz="2200" b="1" i="0">
                <a:solidFill>
                  <a:srgbClr val="000000"/>
                </a:solidFill>
                <a:latin typeface="Arial"/>
              </a:rPr>
              <a:t>Hypothesis A: Total Reducibility</a:t>
            </a:r>
          </a:p>
          <a:p>
            <a:pPr algn="l">
              <a:spcBef>
                <a:spcPts val="400"/>
              </a:spcBef>
            </a:pPr>
            <a:r>
              <a:rPr sz="2200" b="0" i="0">
                <a:solidFill>
                  <a:srgbClr val="000000"/>
                </a:solidFill>
                <a:latin typeface="Arial"/>
              </a:rPr>
              <a:t>Dyadic Collapse: All systems reduce to pairs.</a:t>
            </a:r>
          </a:p>
          <a:p>
            <a:pPr algn="l">
              <a:spcBef>
                <a:spcPts val="400"/>
              </a:spcBef>
            </a:pPr>
            <a:r>
              <a:rPr sz="2200" b="0" i="0">
                <a:solidFill>
                  <a:srgbClr val="000000"/>
                </a:solidFill>
                <a:latin typeface="Arial"/>
              </a:rPr>
              <a:t>Zero Synergy: Multi-party interaction is nominal.</a:t>
            </a:r>
          </a:p>
          <a:p>
            <a:pPr algn="l">
              <a:spcBef>
                <a:spcPts val="400"/>
              </a:spcBef>
            </a:pPr>
            <a:r>
              <a:rPr sz="2200" b="0" i="0">
                <a:solidFill>
                  <a:srgbClr val="000000"/>
                </a:solidFill>
                <a:latin typeface="Arial"/>
              </a:rPr>
              <a:t>Null Target: Algorithmacy lacks distinctive ontology.</a:t>
            </a:r>
          </a:p>
          <a:p>
            <a:pPr algn="l">
              <a:spcBef>
                <a:spcPts val="1600"/>
              </a:spcBef>
            </a:pPr>
            <a:r>
              <a:rPr sz="2200" b="1" i="0">
                <a:solidFill>
                  <a:srgbClr val="000000"/>
                </a:solidFill>
                <a:latin typeface="Arial"/>
              </a:rPr>
              <a:t>Hypothesis B: Genuine Irreducibility</a:t>
            </a:r>
          </a:p>
          <a:p>
            <a:pPr algn="l">
              <a:spcBef>
                <a:spcPts val="400"/>
              </a:spcBef>
            </a:pPr>
            <a:r>
              <a:rPr sz="2200" b="0" i="0">
                <a:solidFill>
                  <a:srgbClr val="000000"/>
                </a:solidFill>
                <a:latin typeface="Arial"/>
              </a:rPr>
              <a:t>Strict Thirdness: Triads resist pairwise factorization.</a:t>
            </a:r>
          </a:p>
          <a:p>
            <a:pPr algn="l">
              <a:spcBef>
                <a:spcPts val="400"/>
              </a:spcBef>
            </a:pPr>
            <a:r>
              <a:rPr sz="2200" b="0" i="0">
                <a:solidFill>
                  <a:srgbClr val="000000"/>
                </a:solidFill>
                <a:latin typeface="Arial"/>
              </a:rPr>
              <a:t>Positive Φ: Causal systems exhibit integration.</a:t>
            </a:r>
          </a:p>
          <a:p>
            <a:pPr algn="l">
              <a:spcBef>
                <a:spcPts val="400"/>
              </a:spcBef>
            </a:pPr>
            <a:r>
              <a:rPr sz="2200" b="0" i="0">
                <a:solidFill>
                  <a:srgbClr val="000000"/>
                </a:solidFill>
                <a:latin typeface="Arial"/>
              </a:rPr>
              <a:t>Real Target: Algorithmacy governs irreducible mediation.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PHANEROSCOPY &amp; LOGIC</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Peirce: The Three Irreducible Categories</a:t>
            </a:r>
          </a:p>
        </p:txBody>
      </p:sp>
      <p:pic>
        <p:nvPicPr>
          <p:cNvPr id="4" name="Picture 3" descr="peirce.png"/>
          <p:cNvPicPr>
            <a:picLocks noChangeAspect="1"/>
          </p:cNvPicPr>
          <p:nvPr/>
        </p:nvPicPr>
        <p:blipFill>
          <a:blip r:embed="rId2"/>
          <a:stretch>
            <a:fillRect/>
          </a:stretch>
        </p:blipFill>
        <p:spPr>
          <a:xfrm>
            <a:off x="822960" y="2011680"/>
            <a:ext cx="2771029" cy="3749040"/>
          </a:xfrm>
          <a:prstGeom prst="rect">
            <a:avLst/>
          </a:prstGeom>
        </p:spPr>
      </p:pic>
      <p:sp>
        <p:nvSpPr>
          <p:cNvPr id="5" name="TextBox 4"/>
          <p:cNvSpPr txBox="1"/>
          <p:nvPr/>
        </p:nvSpPr>
        <p:spPr>
          <a:xfrm>
            <a:off x="4389120" y="2011680"/>
            <a:ext cx="697961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Firstness (Monadic)</a:t>
            </a:r>
          </a:p>
          <a:p>
            <a:pPr algn="l">
              <a:spcBef>
                <a:spcPts val="400"/>
              </a:spcBef>
            </a:pPr>
            <a:r>
              <a:rPr sz="2200" b="0" i="0">
                <a:solidFill>
                  <a:srgbClr val="000000"/>
                </a:solidFill>
                <a:latin typeface="Arial"/>
              </a:rPr>
              <a:t>Immediate monadic potentiality without external relation.</a:t>
            </a:r>
          </a:p>
          <a:p>
            <a:pPr algn="l">
              <a:spcBef>
                <a:spcPts val="1600"/>
              </a:spcBef>
            </a:pPr>
            <a:r>
              <a:rPr sz="2200" b="1" i="0">
                <a:solidFill>
                  <a:srgbClr val="000000"/>
                </a:solidFill>
                <a:latin typeface="Arial"/>
              </a:rPr>
              <a:t>Secondness (Dyadic)</a:t>
            </a:r>
          </a:p>
          <a:p>
            <a:pPr algn="l">
              <a:spcBef>
                <a:spcPts val="400"/>
              </a:spcBef>
            </a:pPr>
            <a:r>
              <a:rPr sz="2200" b="0" i="0">
                <a:solidFill>
                  <a:srgbClr val="000000"/>
                </a:solidFill>
                <a:latin typeface="Arial"/>
              </a:rPr>
              <a:t>Direct dyadic action-reaction across points.</a:t>
            </a:r>
          </a:p>
          <a:p>
            <a:pPr algn="l">
              <a:spcBef>
                <a:spcPts val="1600"/>
              </a:spcBef>
            </a:pPr>
            <a:r>
              <a:rPr sz="2200" b="1" i="0">
                <a:solidFill>
                  <a:srgbClr val="000000"/>
                </a:solidFill>
                <a:latin typeface="Arial"/>
              </a:rPr>
              <a:t>Thirdness (Triadic)</a:t>
            </a:r>
          </a:p>
          <a:p>
            <a:pPr algn="l">
              <a:spcBef>
                <a:spcPts val="400"/>
              </a:spcBef>
            </a:pPr>
            <a:r>
              <a:rPr sz="2200" b="0" i="0">
                <a:solidFill>
                  <a:srgbClr val="000000"/>
                </a:solidFill>
                <a:latin typeface="Arial"/>
              </a:rPr>
              <a:t>Genuine synthetic mediation uniting distinct terms.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THEOREM FORMULATION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Peircean Reduction Thesis (PRT)</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Thesis:</a:t>
            </a:r>
            <a:r>
              <a:rPr sz="2200" b="0" i="0">
                <a:solidFill>
                  <a:srgbClr val="000000"/>
                </a:solidFill>
                <a:latin typeface="Arial"/>
              </a:rPr>
              <a:t> Triads do not reduce; polyads (n ≥ 4) reduce to triads.</a:t>
            </a:r>
          </a:p>
          <a:p>
            <a:pPr algn="l">
              <a:spcBef>
                <a:spcPts val="1600"/>
              </a:spcBef>
            </a:pPr>
            <a:r>
              <a:rPr sz="2200" b="1" i="0">
                <a:solidFill>
                  <a:srgbClr val="000000"/>
                </a:solidFill>
                <a:latin typeface="Arial"/>
              </a:rPr>
              <a:t>PART 1 • NEGATIVE CLAIM — Negative Thesis</a:t>
            </a:r>
          </a:p>
          <a:p>
            <a:pPr algn="l">
              <a:spcBef>
                <a:spcPts val="400"/>
              </a:spcBef>
            </a:pPr>
            <a:r>
              <a:rPr sz="2200" b="0" i="0">
                <a:solidFill>
                  <a:srgbClr val="000000"/>
                </a:solidFill>
                <a:latin typeface="Arial"/>
              </a:rPr>
              <a:t>Closure Property: Dyads cannot synthesize triads.</a:t>
            </a:r>
          </a:p>
          <a:p>
            <a:pPr algn="l">
              <a:spcBef>
                <a:spcPts val="400"/>
              </a:spcBef>
            </a:pPr>
            <a:r>
              <a:rPr sz="2200" b="0" i="0">
                <a:solidFill>
                  <a:srgbClr val="000000"/>
                </a:solidFill>
                <a:latin typeface="Arial"/>
              </a:rPr>
              <a:t>Relational Gap: Pairwise projections lose join-irreducibility.</a:t>
            </a:r>
          </a:p>
          <a:p>
            <a:pPr algn="l">
              <a:spcBef>
                <a:spcPts val="400"/>
              </a:spcBef>
            </a:pPr>
            <a:r>
              <a:rPr sz="2200" b="0" i="0">
                <a:solidFill>
                  <a:srgbClr val="000000"/>
                </a:solidFill>
                <a:latin typeface="Arial"/>
              </a:rPr>
              <a:t>Universal Algebra: Strict non-generation over closed domains.</a:t>
            </a:r>
          </a:p>
          <a:p>
            <a:pPr algn="l">
              <a:spcBef>
                <a:spcPts val="1600"/>
              </a:spcBef>
            </a:pPr>
            <a:r>
              <a:rPr sz="2200" b="1" i="0">
                <a:solidFill>
                  <a:srgbClr val="000000"/>
                </a:solidFill>
                <a:latin typeface="Arial"/>
              </a:rPr>
              <a:t>PART 2 • POSITIVE CLAIM — Positive Thesis</a:t>
            </a:r>
          </a:p>
          <a:p>
            <a:pPr algn="l">
              <a:spcBef>
                <a:spcPts val="400"/>
              </a:spcBef>
            </a:pPr>
            <a:r>
              <a:rPr sz="2200" b="0" i="0">
                <a:solidFill>
                  <a:srgbClr val="000000"/>
                </a:solidFill>
                <a:latin typeface="Arial"/>
              </a:rPr>
              <a:t>Subcubic Networks: All polyads form via triads.</a:t>
            </a:r>
          </a:p>
          <a:p>
            <a:pPr algn="l">
              <a:spcBef>
                <a:spcPts val="400"/>
              </a:spcBef>
            </a:pPr>
            <a:r>
              <a:rPr sz="2200" b="0" i="0">
                <a:solidFill>
                  <a:srgbClr val="000000"/>
                </a:solidFill>
                <a:latin typeface="Arial"/>
              </a:rPr>
              <a:t>Universal Basis: Degree-three hypergraphs span all arities.</a:t>
            </a:r>
          </a:p>
          <a:p>
            <a:pPr algn="l">
              <a:spcBef>
                <a:spcPts val="400"/>
              </a:spcBef>
            </a:pPr>
            <a:r>
              <a:rPr sz="2200" b="0" i="0">
                <a:solidFill>
                  <a:srgbClr val="000000"/>
                </a:solidFill>
                <a:latin typeface="Arial"/>
              </a:rPr>
              <a:t>Ternary Bound: Zero primitives required beyond triads.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SEMIOTIC ANALYSIS</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Autonomous Mediation vs. Dyadic Cascades</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FACTORIZABLE — Chained Dyadic Pipeline</a:t>
            </a:r>
          </a:p>
          <a:p>
            <a:pPr algn="l">
              <a:spcBef>
                <a:spcPts val="400"/>
              </a:spcBef>
            </a:pPr>
            <a:r>
              <a:rPr sz="2200" b="0" i="0">
                <a:solidFill>
                  <a:srgbClr val="000000"/>
                </a:solidFill>
                <a:latin typeface="Arial"/>
              </a:rPr>
              <a:t>R(A, B) • R(B, C) → Dyadic Sequence</a:t>
            </a:r>
          </a:p>
          <a:p>
            <a:pPr algn="l">
              <a:spcBef>
                <a:spcPts val="400"/>
              </a:spcBef>
            </a:pPr>
            <a:r>
              <a:rPr sz="2200" b="0" i="0">
                <a:solidFill>
                  <a:srgbClr val="000000"/>
                </a:solidFill>
                <a:latin typeface="Arial"/>
              </a:rPr>
              <a:t>Independent Stages: First relation completes before second.</a:t>
            </a:r>
          </a:p>
          <a:p>
            <a:pPr algn="l">
              <a:spcBef>
                <a:spcPts val="400"/>
              </a:spcBef>
            </a:pPr>
            <a:r>
              <a:rPr sz="2200" b="0" i="0">
                <a:solidFill>
                  <a:srgbClr val="000000"/>
                </a:solidFill>
                <a:latin typeface="Arial"/>
              </a:rPr>
              <a:t>Markov Property: Intermediate node screens off origin.</a:t>
            </a:r>
          </a:p>
          <a:p>
            <a:pPr algn="l">
              <a:spcBef>
                <a:spcPts val="400"/>
              </a:spcBef>
            </a:pPr>
            <a:r>
              <a:rPr sz="2200" b="0" i="0">
                <a:solidFill>
                  <a:srgbClr val="000000"/>
                </a:solidFill>
                <a:latin typeface="Arial"/>
              </a:rPr>
              <a:t>Zero Integration: Total relation factors into projections.</a:t>
            </a:r>
          </a:p>
          <a:p>
            <a:pPr algn="l">
              <a:spcBef>
                <a:spcPts val="1600"/>
              </a:spcBef>
            </a:pPr>
            <a:r>
              <a:rPr sz="2200" b="1" i="0">
                <a:solidFill>
                  <a:srgbClr val="000000"/>
                </a:solidFill>
                <a:latin typeface="Arial"/>
              </a:rPr>
              <a:t>NON-FACTORIZABLE — Genuine Triadic Transaction</a:t>
            </a:r>
          </a:p>
          <a:p>
            <a:pPr algn="l">
              <a:spcBef>
                <a:spcPts val="400"/>
              </a:spcBef>
            </a:pPr>
            <a:r>
              <a:rPr sz="2200" b="0" i="0">
                <a:solidFill>
                  <a:srgbClr val="000000"/>
                </a:solidFill>
                <a:latin typeface="Arial"/>
              </a:rPr>
              <a:t>G(A, B, C) ≠ R1(A, B) × R2(B, C)</a:t>
            </a:r>
          </a:p>
          <a:p>
            <a:pPr algn="l">
              <a:spcBef>
                <a:spcPts val="400"/>
              </a:spcBef>
            </a:pPr>
            <a:r>
              <a:rPr sz="2200" b="0" i="0">
                <a:solidFill>
                  <a:srgbClr val="000000"/>
                </a:solidFill>
                <a:latin typeface="Arial"/>
              </a:rPr>
              <a:t>Simultaneous Binding: Third party mutually constitutes event.</a:t>
            </a:r>
          </a:p>
          <a:p>
            <a:pPr algn="l">
              <a:spcBef>
                <a:spcPts val="400"/>
              </a:spcBef>
            </a:pPr>
            <a:r>
              <a:rPr sz="2200" b="0" i="0">
                <a:solidFill>
                  <a:srgbClr val="000000"/>
                </a:solidFill>
                <a:latin typeface="Arial"/>
              </a:rPr>
              <a:t>Irreducible Mediant: Lawful bond precedes pairwise parts.</a:t>
            </a:r>
          </a:p>
          <a:p>
            <a:pPr algn="l">
              <a:spcBef>
                <a:spcPts val="400"/>
              </a:spcBef>
            </a:pPr>
            <a:r>
              <a:rPr sz="2200" b="0" i="0">
                <a:solidFill>
                  <a:srgbClr val="000000"/>
                </a:solidFill>
                <a:latin typeface="Arial"/>
              </a:rPr>
              <a:t>Triadic Wholeness: Interaction collapses upon decomposition.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TOPOLOGICAL PROOF</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Topological Obstructions to Dyadic Synthesis</a:t>
            </a:r>
          </a:p>
        </p:txBody>
      </p:sp>
      <p:pic>
        <p:nvPicPr>
          <p:cNvPr id="4" name="Picture 3" descr="valency.png"/>
          <p:cNvPicPr>
            <a:picLocks noChangeAspect="1"/>
          </p:cNvPicPr>
          <p:nvPr/>
        </p:nvPicPr>
        <p:blipFill>
          <a:blip r:embed="rId2"/>
          <a:stretch>
            <a:fillRect/>
          </a:stretch>
        </p:blipFill>
        <p:spPr>
          <a:xfrm>
            <a:off x="822960" y="2011680"/>
            <a:ext cx="3108960" cy="1650210"/>
          </a:xfrm>
          <a:prstGeom prst="rect">
            <a:avLst/>
          </a:prstGeom>
        </p:spPr>
      </p:pic>
      <p:sp>
        <p:nvSpPr>
          <p:cNvPr id="5" name="TextBox 4"/>
          <p:cNvSpPr txBox="1"/>
          <p:nvPr/>
        </p:nvSpPr>
        <p:spPr>
          <a:xfrm>
            <a:off x="822960" y="3799050"/>
            <a:ext cx="3108960" cy="548640"/>
          </a:xfrm>
          <a:prstGeom prst="rect">
            <a:avLst/>
          </a:prstGeom>
          <a:noFill/>
        </p:spPr>
        <p:txBody>
          <a:bodyPr wrap="square" anchor="t" lIns="0" rIns="0" tIns="0" bIns="0">
            <a:spAutoFit/>
          </a:bodyPr>
          <a:lstStyle/>
          <a:p>
            <a:pPr algn="l">
              <a:spcBef>
                <a:spcPts val="0"/>
              </a:spcBef>
            </a:pPr>
            <a:r>
              <a:rPr sz="1600" b="0" i="0">
                <a:solidFill>
                  <a:srgbClr val="000000"/>
                </a:solidFill>
                <a:latin typeface="Arial"/>
              </a:rPr>
              <a:t>Bonding Rule: 2 + 2 - 2 = 2</a:t>
            </a:r>
          </a:p>
        </p:txBody>
      </p:sp>
      <p:sp>
        <p:nvSpPr>
          <p:cNvPr id="6" name="TextBox 5"/>
          <p:cNvSpPr txBox="1"/>
          <p:nvPr/>
        </p:nvSpPr>
        <p:spPr>
          <a:xfrm>
            <a:off x="4389120" y="2011680"/>
            <a:ext cx="697961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Valency Conservation</a:t>
            </a:r>
          </a:p>
          <a:p>
            <a:pPr algn="l">
              <a:spcBef>
                <a:spcPts val="400"/>
              </a:spcBef>
            </a:pPr>
            <a:r>
              <a:rPr sz="2200" b="0" i="0">
                <a:solidFill>
                  <a:srgbClr val="000000"/>
                </a:solidFill>
                <a:latin typeface="Arial"/>
              </a:rPr>
              <a:t>Connecting dyadic relations yields purely linear paths.</a:t>
            </a:r>
          </a:p>
          <a:p>
            <a:pPr algn="l">
              <a:spcBef>
                <a:spcPts val="1600"/>
              </a:spcBef>
            </a:pPr>
            <a:r>
              <a:rPr sz="2200" b="1" i="0">
                <a:solidFill>
                  <a:srgbClr val="000000"/>
                </a:solidFill>
                <a:latin typeface="Arial"/>
              </a:rPr>
              <a:t>Topological Barrier</a:t>
            </a:r>
          </a:p>
          <a:p>
            <a:pPr algn="l">
              <a:spcBef>
                <a:spcPts val="400"/>
              </a:spcBef>
            </a:pPr>
            <a:r>
              <a:rPr sz="2200" b="0" i="0">
                <a:solidFill>
                  <a:srgbClr val="000000"/>
                </a:solidFill>
                <a:latin typeface="Arial"/>
              </a:rPr>
              <a:t>Degree-two vertices cannot construct a branch.</a:t>
            </a:r>
          </a:p>
          <a:p>
            <a:pPr algn="l">
              <a:spcBef>
                <a:spcPts val="1600"/>
              </a:spcBef>
            </a:pPr>
            <a:r>
              <a:rPr sz="2200" b="1" i="0">
                <a:solidFill>
                  <a:srgbClr val="000000"/>
                </a:solidFill>
                <a:latin typeface="Arial"/>
              </a:rPr>
              <a:t>Trivalent Junction</a:t>
            </a:r>
          </a:p>
          <a:p>
            <a:pPr algn="l">
              <a:spcBef>
                <a:spcPts val="400"/>
              </a:spcBef>
            </a:pPr>
            <a:r>
              <a:rPr sz="2200" b="0" i="0">
                <a:solidFill>
                  <a:srgbClr val="000000"/>
                </a:solidFill>
                <a:latin typeface="Arial"/>
              </a:rPr>
              <a:t>Every branching junction is intrinsically triadic.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ALGEBRAIC PRIMITIVE</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The Teridentity Relation: =_3</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=_3 = {(x, x, x) </a:t>
            </a:r>
            <a:r>
              <a:rPr sz="2200" b="0" i="0">
                <a:solidFill>
                  <a:srgbClr val="000000"/>
                </a:solidFill>
                <a:latin typeface="Cambria Math"/>
              </a:rPr>
              <a:t>∈</a:t>
            </a:r>
            <a:r>
              <a:rPr sz="2200" b="0" i="0">
                <a:solidFill>
                  <a:srgbClr val="000000"/>
                </a:solidFill>
                <a:latin typeface="Arial"/>
              </a:rPr>
              <a:t> X³ | x </a:t>
            </a:r>
            <a:r>
              <a:rPr sz="2200" b="0" i="0">
                <a:solidFill>
                  <a:srgbClr val="000000"/>
                </a:solidFill>
                <a:latin typeface="Cambria Math"/>
              </a:rPr>
              <a:t>∈</a:t>
            </a:r>
            <a:r>
              <a:rPr sz="2200" b="0" i="0">
                <a:solidFill>
                  <a:srgbClr val="000000"/>
                </a:solidFill>
                <a:latin typeface="Arial"/>
              </a:rPr>
              <a:t> X}</a:t>
            </a:r>
          </a:p>
          <a:p>
            <a:pPr algn="l">
              <a:spcBef>
                <a:spcPts val="1600"/>
              </a:spcBef>
            </a:pPr>
            <a:r>
              <a:rPr sz="2200" b="1" i="0">
                <a:solidFill>
                  <a:srgbClr val="000000"/>
                </a:solidFill>
                <a:latin typeface="Arial"/>
              </a:rPr>
              <a:t>Branching Identity</a:t>
            </a:r>
          </a:p>
          <a:p>
            <a:pPr algn="l">
              <a:spcBef>
                <a:spcPts val="400"/>
              </a:spcBef>
            </a:pPr>
            <a:r>
              <a:rPr sz="2200" b="0" i="0">
                <a:solidFill>
                  <a:srgbClr val="000000"/>
                </a:solidFill>
                <a:latin typeface="Arial"/>
              </a:rPr>
              <a:t>Variable duplication across lines.</a:t>
            </a:r>
          </a:p>
          <a:p>
            <a:pPr algn="l">
              <a:spcBef>
                <a:spcPts val="1600"/>
              </a:spcBef>
            </a:pPr>
            <a:r>
              <a:rPr sz="2200" b="1" i="0">
                <a:solidFill>
                  <a:srgbClr val="000000"/>
                </a:solidFill>
                <a:latin typeface="Arial"/>
              </a:rPr>
              <a:t>Burch's Proof (1991)</a:t>
            </a:r>
          </a:p>
          <a:p>
            <a:pPr algn="l">
              <a:spcBef>
                <a:spcPts val="400"/>
              </a:spcBef>
            </a:pPr>
            <a:r>
              <a:rPr sz="2200" b="0" i="0">
                <a:solidFill>
                  <a:srgbClr val="000000"/>
                </a:solidFill>
                <a:latin typeface="Arial"/>
              </a:rPr>
              <a:t>Unprovable from binary identity.</a:t>
            </a:r>
          </a:p>
          <a:p>
            <a:pPr algn="l">
              <a:spcBef>
                <a:spcPts val="1600"/>
              </a:spcBef>
            </a:pPr>
            <a:r>
              <a:rPr sz="2200" b="1" i="0">
                <a:solidFill>
                  <a:srgbClr val="000000"/>
                </a:solidFill>
                <a:latin typeface="Arial"/>
              </a:rPr>
              <a:t>Join-Irreducible</a:t>
            </a:r>
          </a:p>
          <a:p>
            <a:pPr algn="l">
              <a:spcBef>
                <a:spcPts val="400"/>
              </a:spcBef>
            </a:pPr>
            <a:r>
              <a:rPr sz="2200" b="0" i="0">
                <a:solidFill>
                  <a:srgbClr val="000000"/>
                </a:solidFill>
                <a:latin typeface="Arial"/>
              </a:rPr>
              <a:t>Minimal algebraic generator.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NOMINALIST CHALLENGE</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Quine’s Dyadic Translation (1954)</a:t>
            </a:r>
          </a:p>
        </p:txBody>
      </p:sp>
      <p:pic>
        <p:nvPicPr>
          <p:cNvPr id="4" name="Picture 3" descr="quine.png"/>
          <p:cNvPicPr>
            <a:picLocks noChangeAspect="1"/>
          </p:cNvPicPr>
          <p:nvPr/>
        </p:nvPicPr>
        <p:blipFill>
          <a:blip r:embed="rId2"/>
          <a:stretch>
            <a:fillRect/>
          </a:stretch>
        </p:blipFill>
        <p:spPr>
          <a:xfrm>
            <a:off x="822960" y="2011680"/>
            <a:ext cx="2771029" cy="3749040"/>
          </a:xfrm>
          <a:prstGeom prst="rect">
            <a:avLst/>
          </a:prstGeom>
        </p:spPr>
      </p:pic>
      <p:sp>
        <p:nvSpPr>
          <p:cNvPr id="5" name="TextBox 4"/>
          <p:cNvSpPr txBox="1"/>
          <p:nvPr/>
        </p:nvSpPr>
        <p:spPr>
          <a:xfrm>
            <a:off x="4389120" y="2011680"/>
            <a:ext cx="6979615" cy="429768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Quine: “There is only one predicate letter, and it a dyadic one.”</a:t>
            </a:r>
          </a:p>
          <a:p>
            <a:pPr algn="l">
              <a:spcBef>
                <a:spcPts val="1600"/>
              </a:spcBef>
            </a:pPr>
            <a:r>
              <a:rPr sz="2200" b="1" i="0">
                <a:solidFill>
                  <a:srgbClr val="000000"/>
                </a:solidFill>
                <a:latin typeface="Arial"/>
              </a:rPr>
              <a:t>Extensional Translation</a:t>
            </a:r>
          </a:p>
          <a:p>
            <a:pPr algn="l">
              <a:spcBef>
                <a:spcPts val="400"/>
              </a:spcBef>
            </a:pPr>
            <a:r>
              <a:rPr sz="2200" b="0" i="0">
                <a:solidFill>
                  <a:srgbClr val="000000"/>
                </a:solidFill>
                <a:latin typeface="Arial"/>
              </a:rPr>
              <a:t>Encodes ternary predicates into binary membership over tuples.</a:t>
            </a:r>
          </a:p>
          <a:p>
            <a:pPr algn="l">
              <a:spcBef>
                <a:spcPts val="1600"/>
              </a:spcBef>
            </a:pPr>
            <a:r>
              <a:rPr sz="2200" b="1" i="0">
                <a:solidFill>
                  <a:srgbClr val="000000"/>
                </a:solidFill>
                <a:latin typeface="Arial"/>
              </a:rPr>
              <a:t>Tuple Stratification</a:t>
            </a:r>
          </a:p>
          <a:p>
            <a:pPr algn="l">
              <a:spcBef>
                <a:spcPts val="400"/>
              </a:spcBef>
            </a:pPr>
            <a:r>
              <a:rPr sz="2200" b="0" i="0">
                <a:solidFill>
                  <a:srgbClr val="000000"/>
                </a:solidFill>
                <a:latin typeface="Arial"/>
              </a:rPr>
              <a:t>R(x, y, z) maps to dyadic predicate </a:t>
            </a:r>
            <a:r>
              <a:rPr sz="2200" b="0" i="0">
                <a:solidFill>
                  <a:srgbClr val="000000"/>
                </a:solidFill>
                <a:latin typeface="Cambria Math"/>
              </a:rPr>
              <a:t>∈</a:t>
            </a:r>
            <a:r>
              <a:rPr sz="2200" b="0" i="0">
                <a:solidFill>
                  <a:srgbClr val="000000"/>
                </a:solidFill>
                <a:latin typeface="Arial"/>
              </a:rPr>
              <a:t> over pairs.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CRITICAL EXPOSURE</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Deconstructing Quine’s Fallacy</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Domain Escalation</a:t>
            </a:r>
          </a:p>
          <a:p>
            <a:pPr algn="l">
              <a:spcBef>
                <a:spcPts val="400"/>
              </a:spcBef>
            </a:pPr>
            <a:r>
              <a:rPr sz="2200" b="0" i="0">
                <a:solidFill>
                  <a:srgbClr val="000000"/>
                </a:solidFill>
                <a:latin typeface="Arial"/>
              </a:rPr>
              <a:t>Infinite set-theoretic universes required.</a:t>
            </a:r>
          </a:p>
          <a:p>
            <a:pPr algn="l">
              <a:spcBef>
                <a:spcPts val="1600"/>
              </a:spcBef>
            </a:pPr>
            <a:r>
              <a:rPr sz="2200" b="1" i="0">
                <a:solidFill>
                  <a:srgbClr val="000000"/>
                </a:solidFill>
                <a:latin typeface="Arial"/>
              </a:rPr>
              <a:t>Smuggled Teridentity</a:t>
            </a:r>
          </a:p>
          <a:p>
            <a:pPr algn="l">
              <a:spcBef>
                <a:spcPts val="400"/>
              </a:spcBef>
            </a:pPr>
            <a:r>
              <a:rPr sz="2200" b="0" i="0">
                <a:solidFill>
                  <a:srgbClr val="000000"/>
                </a:solidFill>
                <a:latin typeface="Arial"/>
              </a:rPr>
              <a:t>Pairing functions hide teridentity.</a:t>
            </a:r>
          </a:p>
          <a:p>
            <a:pPr algn="l">
              <a:spcBef>
                <a:spcPts val="1600"/>
              </a:spcBef>
            </a:pPr>
            <a:r>
              <a:rPr sz="2200" b="1" i="0">
                <a:solidFill>
                  <a:srgbClr val="000000"/>
                </a:solidFill>
                <a:latin typeface="Arial"/>
              </a:rPr>
              <a:t>Fixed-Domain Failure</a:t>
            </a:r>
          </a:p>
          <a:p>
            <a:pPr algn="l">
              <a:spcBef>
                <a:spcPts val="400"/>
              </a:spcBef>
            </a:pPr>
            <a:r>
              <a:rPr sz="2200" b="0" i="0">
                <a:solidFill>
                  <a:srgbClr val="000000"/>
                </a:solidFill>
                <a:latin typeface="Arial"/>
              </a:rPr>
              <a:t>Reduction fails on domains.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MATHEMATICAL RESOLUTION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Relational Co-Clones and Expressive Power</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BURCH (1991) — Peircean Algebra</a:t>
            </a:r>
          </a:p>
          <a:p>
            <a:pPr algn="l">
              <a:spcBef>
                <a:spcPts val="400"/>
              </a:spcBef>
            </a:pPr>
            <a:r>
              <a:rPr sz="2200" b="0" i="0">
                <a:solidFill>
                  <a:srgbClr val="000000"/>
                </a:solidFill>
                <a:latin typeface="Arial"/>
              </a:rPr>
              <a:t>Irreducible under project-join operations.</a:t>
            </a:r>
          </a:p>
          <a:p>
            <a:pPr algn="l">
              <a:spcBef>
                <a:spcPts val="1600"/>
              </a:spcBef>
            </a:pPr>
            <a:r>
              <a:rPr sz="2200" b="1" i="0">
                <a:solidFill>
                  <a:srgbClr val="000000"/>
                </a:solidFill>
                <a:latin typeface="Arial"/>
              </a:rPr>
              <a:t>HERETH &amp; PÖSCHEL (2006) — Clone Independence</a:t>
            </a:r>
          </a:p>
          <a:p>
            <a:pPr algn="l">
              <a:spcBef>
                <a:spcPts val="400"/>
              </a:spcBef>
            </a:pPr>
            <a:r>
              <a:rPr sz="2200" b="0" i="0">
                <a:solidFill>
                  <a:srgbClr val="000000"/>
                </a:solidFill>
                <a:latin typeface="Arial"/>
              </a:rPr>
              <a:t>Teridentity cannot be generated.</a:t>
            </a:r>
          </a:p>
          <a:p>
            <a:pPr algn="l">
              <a:spcBef>
                <a:spcPts val="1600"/>
              </a:spcBef>
            </a:pPr>
            <a:r>
              <a:rPr sz="2200" b="1" i="0">
                <a:solidFill>
                  <a:srgbClr val="000000"/>
                </a:solidFill>
                <a:latin typeface="Arial"/>
              </a:rPr>
              <a:t>KOSHKIN (2024) — Domain Thresholds</a:t>
            </a:r>
          </a:p>
          <a:p>
            <a:pPr algn="l">
              <a:spcBef>
                <a:spcPts val="400"/>
              </a:spcBef>
            </a:pPr>
            <a:r>
              <a:rPr sz="2200" b="0" i="0">
                <a:solidFill>
                  <a:srgbClr val="000000"/>
                </a:solidFill>
                <a:latin typeface="Arial"/>
              </a:rPr>
              <a:t>Full predicate calculus analysis.</a:t>
            </a:r>
          </a:p>
          <a:p>
            <a:pPr algn="l">
              <a:spcBef>
                <a:spcPts val="1600"/>
              </a:spcBef>
            </a:pPr>
            <a:r>
              <a:rPr sz="2200" b="1" i="0">
                <a:solidFill>
                  <a:srgbClr val="000000"/>
                </a:solidFill>
                <a:latin typeface="Arial"/>
              </a:rPr>
              <a:t>BOOLEAN HORIZON — Two-Valued Space</a:t>
            </a:r>
          </a:p>
          <a:p>
            <a:pPr algn="l">
              <a:spcBef>
                <a:spcPts val="400"/>
              </a:spcBef>
            </a:pPr>
            <a:r>
              <a:rPr sz="2200" b="0" i="0">
                <a:solidFill>
                  <a:srgbClr val="000000"/>
                </a:solidFill>
                <a:latin typeface="Arial"/>
              </a:rPr>
              <a:t>Non-factorizable gates stay irreducible.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INFORMATION DECOMPOSITION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The Synergistic Teridentity Correspondence</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WILLIAMS &amp; BEER (2010) PID</a:t>
            </a:r>
          </a:p>
          <a:p>
            <a:pPr algn="l">
              <a:spcBef>
                <a:spcPts val="400"/>
              </a:spcBef>
            </a:pPr>
            <a:r>
              <a:rPr sz="2200" b="0" i="0">
                <a:solidFill>
                  <a:srgbClr val="000000"/>
                </a:solidFill>
                <a:latin typeface="Arial"/>
              </a:rPr>
              <a:t>I(X1, X2; Y) = Red + Un1 + Un2 + Syn</a:t>
            </a:r>
          </a:p>
          <a:p>
            <a:pPr algn="l">
              <a:spcBef>
                <a:spcPts val="400"/>
              </a:spcBef>
            </a:pPr>
            <a:r>
              <a:rPr sz="2200" b="0" i="0">
                <a:solidFill>
                  <a:srgbClr val="000000"/>
                </a:solidFill>
                <a:latin typeface="Arial"/>
              </a:rPr>
              <a:t>Synergy is the dynamic, measure-theoretic manifestation of teridentity =_3.</a:t>
            </a:r>
          </a:p>
          <a:p>
            <a:pPr algn="l">
              <a:spcBef>
                <a:spcPts val="1600"/>
              </a:spcBef>
            </a:pPr>
            <a:r>
              <a:rPr sz="2200" b="1" i="0">
                <a:solidFill>
                  <a:srgbClr val="000000"/>
                </a:solidFill>
                <a:latin typeface="Arial"/>
              </a:rPr>
              <a:t>Canonical Case: 2-Input XOR</a:t>
            </a:r>
          </a:p>
          <a:p>
            <a:pPr algn="l">
              <a:spcBef>
                <a:spcPts val="400"/>
              </a:spcBef>
            </a:pPr>
            <a:r>
              <a:rPr sz="2200" b="0" i="0">
                <a:solidFill>
                  <a:srgbClr val="000000"/>
                </a:solidFill>
                <a:latin typeface="Arial"/>
              </a:rPr>
              <a:t>Y = X1 </a:t>
            </a:r>
            <a:r>
              <a:rPr sz="2200" b="0" i="0">
                <a:solidFill>
                  <a:srgbClr val="000000"/>
                </a:solidFill>
                <a:latin typeface="Cambria Math"/>
              </a:rPr>
              <a:t>⊕</a:t>
            </a:r>
            <a:r>
              <a:rPr sz="2200" b="0" i="0">
                <a:solidFill>
                  <a:srgbClr val="000000"/>
                </a:solidFill>
                <a:latin typeface="Arial"/>
              </a:rPr>
              <a:t> X2 • Syn(X1, X2; Y) = 1.0 bit</a:t>
            </a:r>
          </a:p>
          <a:p>
            <a:pPr algn="l">
              <a:spcBef>
                <a:spcPts val="400"/>
              </a:spcBef>
            </a:pPr>
            <a:r>
              <a:rPr sz="2200" b="0" i="0">
                <a:solidFill>
                  <a:srgbClr val="000000"/>
                </a:solidFill>
                <a:latin typeface="Arial"/>
              </a:rPr>
              <a:t>Marginal Vanishing: Individual mutual informations I(Xi; Y) = 0.</a:t>
            </a:r>
          </a:p>
          <a:p>
            <a:pPr algn="l">
              <a:spcBef>
                <a:spcPts val="400"/>
              </a:spcBef>
            </a:pPr>
            <a:r>
              <a:rPr sz="2200" b="0" i="0">
                <a:solidFill>
                  <a:srgbClr val="000000"/>
                </a:solidFill>
                <a:latin typeface="Arial"/>
              </a:rPr>
              <a:t>Joint Determination: Knowledge of both sources uniquely determines output.</a:t>
            </a:r>
          </a:p>
          <a:p>
            <a:pPr algn="l">
              <a:spcBef>
                <a:spcPts val="400"/>
              </a:spcBef>
            </a:pPr>
            <a:r>
              <a:rPr sz="2200" b="0" i="0">
                <a:solidFill>
                  <a:srgbClr val="000000"/>
                </a:solidFill>
                <a:latin typeface="Arial"/>
              </a:rPr>
              <a:t>Join-Irreducible Support: Parity forms non-factorizable relational subset.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CAUSAL INTEGRATION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Causal Collapse Theorem (IIT 4.0)</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Φ = 0</a:t>
            </a:r>
          </a:p>
          <a:p>
            <a:pPr algn="l">
              <a:spcBef>
                <a:spcPts val="1600"/>
              </a:spcBef>
            </a:pPr>
            <a:r>
              <a:rPr sz="2200" b="1" i="0">
                <a:solidFill>
                  <a:srgbClr val="000000"/>
                </a:solidFill>
                <a:latin typeface="Arial"/>
              </a:rPr>
              <a:t>Extensional Dyadic Decomposition Erases System Synergy</a:t>
            </a:r>
          </a:p>
          <a:p>
            <a:pPr algn="l">
              <a:spcBef>
                <a:spcPts val="400"/>
              </a:spcBef>
            </a:pPr>
            <a:r>
              <a:rPr sz="2200" b="0" i="0">
                <a:solidFill>
                  <a:srgbClr val="000000"/>
                </a:solidFill>
                <a:latin typeface="Arial"/>
              </a:rPr>
              <a:t>Forcing multi-input causal mechanisms into dyadic channels matches the partitioned repertoire with the whole.</a:t>
            </a:r>
          </a:p>
          <a:p>
            <a:pPr algn="l">
              <a:spcBef>
                <a:spcPts val="400"/>
              </a:spcBef>
            </a:pPr>
            <a:r>
              <a:rPr sz="2200" b="0" i="0">
                <a:solidFill>
                  <a:srgbClr val="000000"/>
                </a:solidFill>
                <a:latin typeface="Arial"/>
              </a:rPr>
              <a:t>Integrated information vanishes under the Minimum Information Partition (MIP).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EMPIRICAL VERIFICATION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IIT 4.0 Topological Architecture Sort</a:t>
            </a:r>
          </a:p>
        </p:txBody>
      </p:sp>
      <p:graphicFrame>
        <p:nvGraphicFramePr>
          <p:cNvPr id="4" name="Table 3"/>
          <p:cNvGraphicFramePr>
            <a:graphicFrameLocks noGrp="1"/>
          </p:cNvGraphicFramePr>
          <p:nvPr/>
        </p:nvGraphicFramePr>
        <p:xfrm>
          <a:off x="822960" y="2286000"/>
          <a:ext cx="10545775" cy="2514600"/>
        </p:xfrm>
        <a:graphic>
          <a:graphicData uri="http://schemas.openxmlformats.org/drawingml/2006/table">
            <a:tbl>
              <a:tblPr firstRow="0" bandRow="0">
                <a:tableStyleId>{5940675A-B579-460E-94D1-54222C63F5DA}</a:tableStyleId>
              </a:tblPr>
              <a:tblGrid>
                <a:gridCol w="2109155"/>
                <a:gridCol w="2109155"/>
                <a:gridCol w="2109155"/>
                <a:gridCol w="2109155"/>
                <a:gridCol w="2109155"/>
              </a:tblGrid>
              <a:tr h="502920">
                <a:tc>
                  <a:txBody>
                    <a:bodyPr wrap="square"/>
                    <a:lstStyle/>
                    <a:p>
                      <a:r>
                        <a:rPr sz="1600" b="1" i="0">
                          <a:solidFill>
                            <a:srgbClr val="000000"/>
                          </a:solidFill>
                          <a:latin typeface="Arial"/>
                        </a:rPr>
                        <a:t>Topology Class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Wiring Count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Mechanism Support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System Φ</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Causal Status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Dyadic Cascade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89 Wirings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Point-to-point lines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Φ = 0.0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No Complex</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Dyadic Ring</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Feedback Loop</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Recurrent pairs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Φ = 2.0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Whole Without Synergy</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Uncoupled Triad</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11 / 30 Systems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Synergistic gate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Φ = 0.0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Synergy Without Whole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Integrated Triad</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5 / 30 Systems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Teridentity in loop</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Φ = 2.0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Genuine Triadic Complex</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SYNTHESIS &amp; CONCLUSION</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The Ontological Reality of Algorithmacy</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Algorithmacy is the epistemic and systemic facility required to model, audit, and navigate irreducible triadic causal systems that cannot be decomposed into dyadic communication channels.</a:t>
            </a:r>
          </a:p>
          <a:p>
            <a:pPr algn="l">
              <a:spcBef>
                <a:spcPts val="1600"/>
              </a:spcBef>
            </a:pPr>
            <a:r>
              <a:rPr sz="2200" b="0" i="0">
                <a:solidFill>
                  <a:srgbClr val="000000"/>
                </a:solidFill>
                <a:latin typeface="Arial"/>
              </a:rPr>
              <a:t>Join-Irreducible Thirdness</a:t>
            </a:r>
          </a:p>
          <a:p>
            <a:pPr algn="l">
              <a:spcBef>
                <a:spcPts val="400"/>
              </a:spcBef>
            </a:pPr>
            <a:r>
              <a:rPr sz="2200" b="0" i="0">
                <a:solidFill>
                  <a:srgbClr val="000000"/>
                </a:solidFill>
                <a:latin typeface="Arial"/>
              </a:rPr>
              <a:t>Measure-Theoretic Synergy</a:t>
            </a:r>
          </a:p>
          <a:p>
            <a:pPr algn="l">
              <a:spcBef>
                <a:spcPts val="400"/>
              </a:spcBef>
            </a:pPr>
            <a:r>
              <a:rPr sz="2200" b="0" i="0">
                <a:solidFill>
                  <a:srgbClr val="000000"/>
                </a:solidFill>
                <a:latin typeface="Arial"/>
              </a:rPr>
              <a:t>Positive Causal Integration (Φ &gt; 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FROM THE LAB</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Genuine Giving and Its Imitation</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Same Members, Same Φ</a:t>
            </a:r>
          </a:p>
          <a:p>
            <a:pPr algn="l">
              <a:spcBef>
                <a:spcPts val="400"/>
              </a:spcBef>
            </a:pPr>
            <a:r>
              <a:rPr sz="2200" b="0" i="0">
                <a:solidFill>
                  <a:srgbClr val="000000"/>
                </a:solidFill>
                <a:latin typeface="Arial"/>
              </a:rPr>
              <a:t>Giver, thing, receiver. Both circuits hold together as wholes: Φ = 2.0.</a:t>
            </a:r>
          </a:p>
          <a:p>
            <a:pPr algn="l">
              <a:spcBef>
                <a:spcPts val="1600"/>
              </a:spcBef>
            </a:pPr>
            <a:r>
              <a:rPr sz="2200" b="1" i="0">
                <a:solidFill>
                  <a:srgbClr val="000000"/>
                </a:solidFill>
                <a:latin typeface="Arial"/>
              </a:rPr>
              <a:t>Genuine Giving</a:t>
            </a:r>
          </a:p>
          <a:p>
            <a:pPr algn="l">
              <a:spcBef>
                <a:spcPts val="400"/>
              </a:spcBef>
            </a:pPr>
            <a:r>
              <a:rPr sz="2200" b="0" i="0">
                <a:solidFill>
                  <a:srgbClr val="000000"/>
                </a:solidFill>
                <a:latin typeface="Arial"/>
              </a:rPr>
              <a:t>The receiver's possession is set by the giver and the thing together.</a:t>
            </a:r>
          </a:p>
          <a:p>
            <a:pPr algn="l">
              <a:spcBef>
                <a:spcPts val="1600"/>
              </a:spcBef>
            </a:pPr>
            <a:r>
              <a:rPr sz="2200" b="1" i="0">
                <a:solidFill>
                  <a:srgbClr val="000000"/>
                </a:solidFill>
                <a:latin typeface="Arial"/>
              </a:rPr>
              <a:t>The Imitation</a:t>
            </a:r>
          </a:p>
          <a:p>
            <a:pPr algn="l">
              <a:spcBef>
                <a:spcPts val="400"/>
              </a:spcBef>
            </a:pPr>
            <a:r>
              <a:rPr sz="2200" b="0" i="0">
                <a:solidFill>
                  <a:srgbClr val="000000"/>
                </a:solidFill>
                <a:latin typeface="Arial"/>
              </a:rPr>
              <a:t>Each member answers to one other. Φ cannot tell it from the real thing.</a:t>
            </a:r>
          </a:p>
          <a:p>
            <a:pPr algn="l">
              <a:spcBef>
                <a:spcPts val="1600"/>
              </a:spcBef>
            </a:pPr>
            <a:r>
              <a:rPr sz="2200" b="1" i="0">
                <a:solidFill>
                  <a:srgbClr val="000000"/>
                </a:solidFill>
                <a:latin typeface="Arial"/>
              </a:rPr>
              <a:t>The Difference</a:t>
            </a:r>
          </a:p>
          <a:p>
            <a:pPr algn="l">
              <a:spcBef>
                <a:spcPts val="400"/>
              </a:spcBef>
            </a:pPr>
            <a:r>
              <a:rPr sz="2200" b="0" i="0">
                <a:solidFill>
                  <a:srgbClr val="000000"/>
                </a:solidFill>
                <a:latin typeface="Arial"/>
              </a:rPr>
              <a:t>One member set by the other two, inside the whole. Only the gift has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FROM THE LAB</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A Vote Is Not Always a Whole</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Majority Rule</a:t>
            </a:r>
          </a:p>
          <a:p>
            <a:pPr algn="l">
              <a:spcBef>
                <a:spcPts val="400"/>
              </a:spcBef>
            </a:pPr>
            <a:r>
              <a:rPr sz="2200" b="0" i="0">
                <a:solidFill>
                  <a:srgbClr val="000000"/>
                </a:solidFill>
                <a:latin typeface="Arial"/>
              </a:rPr>
              <a:t>Three members, each following the majority of the three: Φ = 0.0. The system factors.</a:t>
            </a:r>
          </a:p>
          <a:p>
            <a:pPr algn="l">
              <a:spcBef>
                <a:spcPts val="1600"/>
              </a:spcBef>
            </a:pPr>
            <a:r>
              <a:rPr sz="2200" b="1" i="0">
                <a:solidFill>
                  <a:srgbClr val="000000"/>
                </a:solidFill>
                <a:latin typeface="Arial"/>
              </a:rPr>
              <a:t>Unanimity Rule</a:t>
            </a:r>
          </a:p>
          <a:p>
            <a:pPr algn="l">
              <a:spcBef>
                <a:spcPts val="400"/>
              </a:spcBef>
            </a:pPr>
            <a:r>
              <a:rPr sz="2200" b="0" i="0">
                <a:solidFill>
                  <a:srgbClr val="000000"/>
                </a:solidFill>
                <a:latin typeface="Arial"/>
              </a:rPr>
              <a:t>Each member goes only when all three say yes: Φ = 6.0. No cut leaves it whole.</a:t>
            </a:r>
          </a:p>
          <a:p>
            <a:pPr algn="l">
              <a:spcBef>
                <a:spcPts val="1600"/>
              </a:spcBef>
            </a:pPr>
            <a:r>
              <a:rPr sz="2200" b="1" i="0">
                <a:solidFill>
                  <a:srgbClr val="000000"/>
                </a:solidFill>
                <a:latin typeface="Arial"/>
              </a:rPr>
              <a:t>A Caveat</a:t>
            </a:r>
          </a:p>
          <a:p>
            <a:pPr algn="l">
              <a:spcBef>
                <a:spcPts val="400"/>
              </a:spcBef>
            </a:pPr>
            <a:r>
              <a:rPr sz="2200" b="0" i="0">
                <a:solidFill>
                  <a:srgbClr val="000000"/>
                </a:solidFill>
                <a:latin typeface="Arial"/>
              </a:rPr>
              <a:t>A related quorum form, three parties reading a mediator that moves on any two, factors under IIT 4.0 and binds under IIT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FROM THE LAB</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Irreducible by Law, or by Nature</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The Car Dealer</a:t>
            </a:r>
          </a:p>
          <a:p>
            <a:pPr algn="l">
              <a:spcBef>
                <a:spcPts val="400"/>
              </a:spcBef>
            </a:pPr>
            <a:r>
              <a:rPr sz="2200" b="0" i="0">
                <a:solidFill>
                  <a:srgbClr val="000000"/>
                </a:solidFill>
                <a:latin typeface="Arial"/>
              </a:rPr>
              <a:t>Maker, dealer, buyer, in a ring franchise law closes. The dealer is inside: Φ = 2.0.</a:t>
            </a:r>
          </a:p>
          <a:p>
            <a:pPr algn="l">
              <a:spcBef>
                <a:spcPts val="1600"/>
              </a:spcBef>
            </a:pPr>
            <a:r>
              <a:rPr sz="2200" b="1" i="0">
                <a:solidFill>
                  <a:srgbClr val="000000"/>
                </a:solidFill>
                <a:latin typeface="Arial"/>
              </a:rPr>
              <a:t>Lift the Ban</a:t>
            </a:r>
          </a:p>
          <a:p>
            <a:pPr algn="l">
              <a:spcBef>
                <a:spcPts val="400"/>
              </a:spcBef>
            </a:pPr>
            <a:r>
              <a:rPr sz="2200" b="0" i="0">
                <a:solidFill>
                  <a:srgbClr val="000000"/>
                </a:solidFill>
                <a:latin typeface="Arial"/>
              </a:rPr>
              <a:t>Let the maker sell direct: Φ = 2.0 → 0.0. The dealer drops out.</a:t>
            </a:r>
          </a:p>
          <a:p>
            <a:pPr algn="l">
              <a:spcBef>
                <a:spcPts val="1600"/>
              </a:spcBef>
            </a:pPr>
            <a:r>
              <a:rPr sz="2200" b="1" i="0">
                <a:solidFill>
                  <a:srgbClr val="000000"/>
                </a:solidFill>
                <a:latin typeface="Arial"/>
              </a:rPr>
              <a:t>The Clearinghouse</a:t>
            </a:r>
          </a:p>
          <a:p>
            <a:pPr algn="l">
              <a:spcBef>
                <a:spcPts val="400"/>
              </a:spcBef>
            </a:pPr>
            <a:r>
              <a:rPr sz="2200" b="0" i="0">
                <a:solidFill>
                  <a:srgbClr val="000000"/>
                </a:solidFill>
                <a:latin typeface="Arial"/>
              </a:rPr>
              <a:t>A third that needs both sides to act keeps its place: Φ = 2.0 → 2.0.</a:t>
            </a:r>
          </a:p>
          <a:p>
            <a:pPr algn="l">
              <a:spcBef>
                <a:spcPts val="1600"/>
              </a:spcBef>
            </a:pPr>
            <a:r>
              <a:rPr sz="2200" b="1" i="0">
                <a:solidFill>
                  <a:srgbClr val="000000"/>
                </a:solidFill>
                <a:latin typeface="Arial"/>
              </a:rPr>
              <a:t>The Brokerage Types, Sorted the Same Way</a:t>
            </a:r>
          </a:p>
          <a:p>
            <a:pPr algn="l">
              <a:spcBef>
                <a:spcPts val="400"/>
              </a:spcBef>
            </a:pPr>
            <a:r>
              <a:rPr sz="2200" b="0" i="0">
                <a:solidFill>
                  <a:srgbClr val="000000"/>
                </a:solidFill>
                <a:latin typeface="Arial"/>
              </a:rPr>
              <a:t>Keeps two sides apart: contingent. Needs both sides: necessary. Introduces them, then steps aside: reducible.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JOIN THE LAB</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Fork the Repository</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github.com/rogerSuperBuilderAlpha/algorithmacy-lab — MIT license, Python 3.10+</a:t>
            </a:r>
          </a:p>
          <a:p>
            <a:pPr algn="l">
              <a:spcBef>
                <a:spcPts val="1600"/>
              </a:spcBef>
            </a:pPr>
            <a:r>
              <a:rPr sz="2200" b="1" i="0">
                <a:solidFill>
                  <a:srgbClr val="000000"/>
                </a:solidFill>
                <a:latin typeface="Arial"/>
              </a:rPr>
              <a:t>Validate, Then Run One</a:t>
            </a:r>
          </a:p>
          <a:p>
            <a:pPr algn="l">
              <a:spcBef>
                <a:spcPts val="400"/>
              </a:spcBef>
            </a:pPr>
            <a:r>
              <a:rPr sz="2200" b="0" i="0">
                <a:solidFill>
                  <a:srgbClr val="000000"/>
                </a:solidFill>
                <a:latin typeface="Arial"/>
              </a:rPr>
              <a:t>python -m org_frontier.classifier.validate</a:t>
            </a:r>
          </a:p>
          <a:p>
            <a:pPr algn="l">
              <a:spcBef>
                <a:spcPts val="400"/>
              </a:spcBef>
            </a:pPr>
            <a:r>
              <a:rPr sz="2200" b="0" i="0">
                <a:solidFill>
                  <a:srgbClr val="000000"/>
                </a:solidFill>
                <a:latin typeface="Arial"/>
              </a:rPr>
              <a:t>python -m org_frontier.probes.probe_conjunctive_law</a:t>
            </a:r>
          </a:p>
          <a:p>
            <a:pPr algn="l">
              <a:spcBef>
                <a:spcPts val="1600"/>
              </a:spcBef>
            </a:pPr>
            <a:r>
              <a:rPr sz="2200" b="1" i="0">
                <a:solidFill>
                  <a:srgbClr val="000000"/>
                </a:solidFill>
                <a:latin typeface="Arial"/>
              </a:rPr>
              <a:t>Ask Your Own Question</a:t>
            </a:r>
          </a:p>
          <a:p>
            <a:pPr algn="l">
              <a:spcBef>
                <a:spcPts val="400"/>
              </a:spcBef>
            </a:pPr>
            <a:r>
              <a:rPr sz="2200" b="0" i="0">
                <a:solidFill>
                  <a:srgbClr val="000000"/>
                </a:solidFill>
                <a:latin typeface="Arial"/>
              </a:rPr>
              <a:t>python -m org_frontier.protocol.new_question, then commit hypotheses.md first.</a:t>
            </a:r>
          </a:p>
          <a:p>
            <a:pPr algn="l">
              <a:spcBef>
                <a:spcPts val="1600"/>
              </a:spcBef>
            </a:pPr>
            <a:r>
              <a:rPr sz="2200" b="1" i="0">
                <a:solidFill>
                  <a:srgbClr val="000000"/>
                </a:solidFill>
                <a:latin typeface="Arial"/>
              </a:rPr>
              <a:t>Publish</a:t>
            </a:r>
          </a:p>
          <a:p>
            <a:pPr algn="l">
              <a:spcBef>
                <a:spcPts val="400"/>
              </a:spcBef>
            </a:pPr>
            <a:r>
              <a:rPr sz="2200" b="0" i="0">
                <a:solidFill>
                  <a:srgbClr val="000000"/>
                </a:solidFill>
                <a:latin typeface="Arial"/>
              </a:rPr>
              <a:t>Register every number in ci/reproduce.json. Pull request into contrib. Nulls count.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JOIN THE LAB</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Questions Waiting for Someone</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1" i="0">
                <a:solidFill>
                  <a:srgbClr val="000000"/>
                </a:solidFill>
                <a:latin typeface="Arial"/>
              </a:rPr>
              <a:t>Real People</a:t>
            </a:r>
          </a:p>
          <a:p>
            <a:pPr algn="l">
              <a:spcBef>
                <a:spcPts val="400"/>
              </a:spcBef>
            </a:pPr>
            <a:r>
              <a:rPr sz="2200" b="0" i="0">
                <a:solidFill>
                  <a:srgbClr val="000000"/>
                </a:solidFill>
                <a:latin typeface="Arial"/>
              </a:rPr>
              <a:t>Our one verdict on real gaze data changes with the coding. Which coding is right?</a:t>
            </a:r>
          </a:p>
          <a:p>
            <a:pPr algn="l">
              <a:spcBef>
                <a:spcPts val="1600"/>
              </a:spcBef>
            </a:pPr>
            <a:r>
              <a:rPr sz="2200" b="1" i="0">
                <a:solidFill>
                  <a:srgbClr val="000000"/>
                </a:solidFill>
                <a:latin typeface="Arial"/>
              </a:rPr>
              <a:t>Real Rules</a:t>
            </a:r>
          </a:p>
          <a:p>
            <a:pPr algn="l">
              <a:spcBef>
                <a:spcPts val="400"/>
              </a:spcBef>
            </a:pPr>
            <a:r>
              <a:rPr sz="2200" b="0" i="0">
                <a:solidFill>
                  <a:srgbClr val="000000"/>
                </a:solidFill>
                <a:latin typeface="Arial"/>
              </a:rPr>
              <a:t>A field case with two coders agreeing on what sets each action. Nobody has run one.</a:t>
            </a:r>
          </a:p>
          <a:p>
            <a:pPr algn="l">
              <a:spcBef>
                <a:spcPts val="1600"/>
              </a:spcBef>
            </a:pPr>
            <a:r>
              <a:rPr sz="2200" b="1" i="0">
                <a:solidFill>
                  <a:srgbClr val="000000"/>
                </a:solidFill>
                <a:latin typeface="Arial"/>
              </a:rPr>
              <a:t>Bigger Forms</a:t>
            </a:r>
          </a:p>
          <a:p>
            <a:pPr algn="l">
              <a:spcBef>
                <a:spcPts val="400"/>
              </a:spcBef>
            </a:pPr>
            <a:r>
              <a:rPr sz="2200" b="0" i="0">
                <a:solidFill>
                  <a:srgbClr val="000000"/>
                </a:solidFill>
                <a:latin typeface="Arial"/>
              </a:rPr>
              <a:t>Cliques of two to five read Φ = 2, 6, 12, 20. Six and up, and Shapley membership on larger forms: open.</a:t>
            </a:r>
          </a:p>
          <a:p>
            <a:pPr algn="l">
              <a:spcBef>
                <a:spcPts val="1600"/>
              </a:spcBef>
            </a:pPr>
            <a:r>
              <a:rPr sz="2200" b="1" i="0">
                <a:solidFill>
                  <a:srgbClr val="000000"/>
                </a:solidFill>
                <a:latin typeface="Arial"/>
              </a:rPr>
              <a:t>Softer Channels</a:t>
            </a:r>
          </a:p>
          <a:p>
            <a:pPr algn="l">
              <a:spcBef>
                <a:spcPts val="400"/>
              </a:spcBef>
            </a:pPr>
            <a:r>
              <a:rPr sz="2200" b="0" i="0">
                <a:solidFill>
                  <a:srgbClr val="000000"/>
                </a:solidFill>
                <a:latin typeface="Arial"/>
              </a:rPr>
              <a:t>A graded channel. Weighted or noisy quorums. An arrangement that is algorithmacy but not directive algorithmic management.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LIVE</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What Questions Are You Interested In?</a:t>
            </a:r>
          </a:p>
        </p:txBody>
      </p:sp>
      <p:sp>
        <p:nvSpPr>
          <p:cNvPr id="4" name="TextBox 3"/>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2200" b="0" i="0">
                <a:solidFill>
                  <a:srgbClr val="000000"/>
                </a:solidFill>
                <a:latin typeface="Arial"/>
              </a:rPr>
              <a:t>Name three or four parties and say who acts on whom.</a:t>
            </a:r>
          </a:p>
          <a:p>
            <a:pPr algn="l">
              <a:spcBef>
                <a:spcPts val="1600"/>
              </a:spcBef>
            </a:pPr>
            <a:r>
              <a:rPr sz="2200" b="0" i="0">
                <a:solidFill>
                  <a:srgbClr val="000000"/>
                </a:solidFill>
                <a:latin typeface="Arial"/>
              </a:rPr>
              <a:t>A plain sentence is enough: "The dispatcher assigns a job only when a driver and a rider both accept."</a:t>
            </a:r>
          </a:p>
          <a:p>
            <a:pPr algn="l">
              <a:spcBef>
                <a:spcPts val="1600"/>
              </a:spcBef>
            </a:pPr>
            <a:r>
              <a:rPr sz="2200" b="0" i="0">
                <a:solidFill>
                  <a:srgbClr val="000000"/>
                </a:solidFill>
                <a:latin typeface="Arial"/>
              </a:rPr>
              <a:t>We build it as a small circuit, compute Φ and the core, and read who is set by two others.</a:t>
            </a:r>
          </a:p>
          <a:p>
            <a:pPr algn="l">
              <a:spcBef>
                <a:spcPts val="1600"/>
              </a:spcBef>
            </a:pPr>
            <a:r>
              <a:rPr sz="2200" b="0" i="0">
                <a:solidFill>
                  <a:srgbClr val="000000"/>
                </a:solidFill>
                <a:latin typeface="Arial"/>
              </a:rPr>
              <a:t>A few seconds per form. A zero is a result too. Small Boolean models, not people.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02920"/>
            <a:ext cx="10545775" cy="274320"/>
          </a:xfrm>
          <a:prstGeom prst="rect">
            <a:avLst/>
          </a:prstGeom>
          <a:noFill/>
        </p:spPr>
        <p:txBody>
          <a:bodyPr wrap="square" anchor="t" lIns="0" rIns="0" tIns="0" bIns="0">
            <a:spAutoFit/>
          </a:bodyPr>
          <a:lstStyle/>
          <a:p>
            <a:pPr algn="l">
              <a:spcBef>
                <a:spcPts val="0"/>
              </a:spcBef>
            </a:pPr>
            <a:r>
              <a:rPr sz="1400" b="0" i="0">
                <a:solidFill>
                  <a:srgbClr val="000000"/>
                </a:solidFill>
                <a:latin typeface="Arial"/>
              </a:rPr>
              <a:t>LIVE</a:t>
            </a:r>
          </a:p>
        </p:txBody>
      </p:sp>
      <p:sp>
        <p:nvSpPr>
          <p:cNvPr id="3" name="TextBox 2"/>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If the Laptop Fails</a:t>
            </a:r>
          </a:p>
        </p:txBody>
      </p:sp>
      <p:graphicFrame>
        <p:nvGraphicFramePr>
          <p:cNvPr id="4" name="Table 3"/>
          <p:cNvGraphicFramePr>
            <a:graphicFrameLocks noGrp="1"/>
          </p:cNvGraphicFramePr>
          <p:nvPr/>
        </p:nvGraphicFramePr>
        <p:xfrm>
          <a:off x="822960" y="2286000"/>
          <a:ext cx="10545775" cy="2514600"/>
        </p:xfrm>
        <a:graphic>
          <a:graphicData uri="http://schemas.openxmlformats.org/drawingml/2006/table">
            <a:tbl>
              <a:tblPr firstRow="0" bandRow="0">
                <a:tableStyleId>{5940675A-B579-460E-94D1-54222C63F5DA}</a:tableStyleId>
              </a:tblPr>
              <a:tblGrid>
                <a:gridCol w="2636443"/>
                <a:gridCol w="2636443"/>
                <a:gridCol w="2636443"/>
                <a:gridCol w="2636446"/>
              </a:tblGrid>
              <a:tr h="502920">
                <a:tc>
                  <a:txBody>
                    <a:bodyPr wrap="square"/>
                    <a:lstStyle/>
                    <a:p>
                      <a:r>
                        <a:rPr sz="1600" b="1" i="0">
                          <a:solidFill>
                            <a:srgbClr val="000000"/>
                          </a:solidFill>
                          <a:latin typeface="Arial"/>
                        </a:rPr>
                        <a:t>The sentence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Φ</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Verdict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1" i="0">
                          <a:solidFill>
                            <a:srgbClr val="000000"/>
                          </a:solidFill>
                          <a:latin typeface="Arial"/>
                        </a:rPr>
                        <a:t>Core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Dispatcher assigns only when driver and rider both accept; both wait on it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2.0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whole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all three; dispatcher set by driver and rider</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Client and worker now answer each other directly; the manager still hears both, but nobody waits on the manager</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0.0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factors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client and worker</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Committee of three: by majority, then by unanimity</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0.0, then 6.0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factors, then whole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none, then all three</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r h="502920">
                <a:tc>
                  <a:txBody>
                    <a:bodyPr wrap="square"/>
                    <a:lstStyle/>
                    <a:p>
                      <a:r>
                        <a:rPr sz="1600" b="0" i="0">
                          <a:solidFill>
                            <a:srgbClr val="000000"/>
                          </a:solidFill>
                          <a:latin typeface="Arial"/>
                        </a:rPr>
                        <a:t>Dealer between maker and buyer; then the maker may sell direct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2.0, then 0.0</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whole, then factors</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c>
                  <a:txBody>
                    <a:bodyPr wrap="square"/>
                    <a:lstStyle/>
                    <a:p>
                      <a:r>
                        <a:rPr sz="1600" b="0" i="0">
                          <a:solidFill>
                            <a:srgbClr val="000000"/>
                          </a:solidFill>
                          <a:latin typeface="Arial"/>
                        </a:rPr>
                        <a:t>all three; then the dealer drops out</a:t>
                      </a:r>
                    </a:p>
                  </a:txBody>
                  <a:tcPr marL="73152" marR="73152">
                    <a:noFill/>
                    <a:lnL w="9525">
                      <a:solidFill>
                        <a:srgbClr val="000000"/>
                      </a:solidFill>
                    </a:lnL>
                    <a:lnR w="9525">
                      <a:solidFill>
                        <a:srgbClr val="000000"/>
                      </a:solidFill>
                    </a:lnR>
                    <a:lnT w="9525">
                      <a:solidFill>
                        <a:srgbClr val="000000"/>
                      </a:solidFill>
                    </a:lnT>
                    <a:lnB w="9525">
                      <a:solidFill>
                        <a:srgbClr val="000000"/>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822960"/>
            <a:ext cx="10545775" cy="1005840"/>
          </a:xfrm>
          <a:prstGeom prst="rect">
            <a:avLst/>
          </a:prstGeom>
          <a:noFill/>
        </p:spPr>
        <p:txBody>
          <a:bodyPr wrap="square" anchor="t" lIns="0" rIns="0" tIns="0" bIns="0">
            <a:spAutoFit/>
          </a:bodyPr>
          <a:lstStyle/>
          <a:p>
            <a:pPr algn="l">
              <a:spcBef>
                <a:spcPts val="0"/>
              </a:spcBef>
            </a:pPr>
            <a:r>
              <a:rPr sz="3400" b="1" i="0">
                <a:solidFill>
                  <a:srgbClr val="000000"/>
                </a:solidFill>
                <a:latin typeface="Arial"/>
              </a:rPr>
              <a:t>Image Sources</a:t>
            </a:r>
          </a:p>
        </p:txBody>
      </p:sp>
      <p:sp>
        <p:nvSpPr>
          <p:cNvPr id="3" name="TextBox 2"/>
          <p:cNvSpPr txBox="1"/>
          <p:nvPr/>
        </p:nvSpPr>
        <p:spPr>
          <a:xfrm>
            <a:off x="822960" y="2011680"/>
            <a:ext cx="10545775" cy="4297680"/>
          </a:xfrm>
          <a:prstGeom prst="rect">
            <a:avLst/>
          </a:prstGeom>
          <a:noFill/>
        </p:spPr>
        <p:txBody>
          <a:bodyPr wrap="square" anchor="t" lIns="0" rIns="0" tIns="0" bIns="0">
            <a:spAutoFit/>
          </a:bodyPr>
          <a:lstStyle/>
          <a:p>
            <a:pPr algn="l">
              <a:spcBef>
                <a:spcPts val="0"/>
              </a:spcBef>
            </a:pPr>
            <a:r>
              <a:rPr sz="1200" b="0" i="0">
                <a:solidFill>
                  <a:srgbClr val="000000"/>
                </a:solidFill>
                <a:latin typeface="Arial"/>
              </a:rPr>
              <a:t>https://footnotes2plato.com/wp-content/uploads/2024/09/charles_sanders_peirce-colorized_cleanup-enhanced.jpg?w=640</a:t>
            </a:r>
          </a:p>
          <a:p>
            <a:pPr algn="l">
              <a:spcBef>
                <a:spcPts val="400"/>
              </a:spcBef>
            </a:pPr>
            <a:r>
              <a:rPr sz="2200" b="0" i="0">
                <a:solidFill>
                  <a:srgbClr val="000000"/>
                </a:solidFill>
                <a:latin typeface="Arial"/>
              </a:rPr>
              <a:t>Source: footnotes2plato.com</a:t>
            </a:r>
          </a:p>
          <a:p>
            <a:pPr algn="l">
              <a:spcBef>
                <a:spcPts val="1600"/>
              </a:spcBef>
            </a:pPr>
            <a:r>
              <a:rPr sz="1200" b="0" i="0">
                <a:solidFill>
                  <a:srgbClr val="000000"/>
                </a:solidFill>
                <a:latin typeface="Arial"/>
              </a:rPr>
              <a:t>https://cdn.britannica.com/33/171633-050-ED21E678/Willard-Van-Orman-Quine-1958.jpg</a:t>
            </a:r>
          </a:p>
          <a:p>
            <a:pPr algn="l">
              <a:spcBef>
                <a:spcPts val="400"/>
              </a:spcBef>
            </a:pPr>
            <a:r>
              <a:rPr sz="2200" b="0" i="0">
                <a:solidFill>
                  <a:srgbClr val="000000"/>
                </a:solidFill>
                <a:latin typeface="Arial"/>
              </a:rPr>
              <a:t>Source: www.britannica.com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