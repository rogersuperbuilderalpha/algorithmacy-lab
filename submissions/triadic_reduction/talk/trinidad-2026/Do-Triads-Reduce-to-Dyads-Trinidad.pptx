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Override PartName="/ppt/notesSlides/notesSlide27.xml" ContentType="application/vnd.openxmlformats-officedocument.presentationml.notesSlide+xml"/>
  <Override PartName="/ppt/slides/slide2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80" r:id="rId33"/>
    <p:sldId id="260" r:id="rId12"/>
    <p:sldId id="261" r:id="rId13"/>
    <p:sldId id="262" r:id="rId14"/>
    <p:sldId id="263" r:id="rId15"/>
    <p:sldId id="264" r:id="rId16"/>
    <p:sldId id="265" r:id="rId17"/>
    <p:sldId id="266" r:id="rId18"/>
    <p:sldId id="267" r:id="rId19"/>
    <p:sldId id="268" r:id="rId20"/>
    <p:sldId id="269" r:id="rId21"/>
    <p:sldId id="270" r:id="rId22"/>
    <p:sldId id="271" r:id="rId23"/>
    <p:sldId id="281" r:id="rId34"/>
    <p:sldId id="282" r:id="rId35"/>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Cambria Math"/>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62D1E5-19F7-4FD5-A18D-EC55B6832050}">
  <a:tblStyle styleId="{5762D1E5-19F7-4FD5-A18D-EC55B68320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CambriaMath-regular.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12a79a7ec52171c_1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h612a79a7ec52171c_1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This presentation investigates a foundational problem at the intersection of mathematical logic, universal algebra, and causal dynamical systems: whether triadic relations possess ontological autonomy or factorize into compositions of dyadic relations. The resolution of this question determines whether *algorithmacy* constitutes an independent communicative and cognitive competency, or whether it collapses into an extensional variant of conventional literacy.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When you interact with another person through an algorithm—such as hailing a ride, trading on a platform, or scrolling a curated social feed—is that algorithm merely an inert digital wire connecting two people, or is it an active third party in the room? If it is just a wire, you only need standard reading skills to navigate it. But if the three-way interaction cannot be sliced into two separate two-way conversations, we are dealing with a completely new medium that requires a distinct human capability.</a:t>
            </a:r>
            <a:endParaRPr/>
          </a:p>
        </p:txBody>
      </p:sp>
      <p:sp>
        <p:nvSpPr>
          <p:cNvPr id="134" name="Google Shape;134;h612a79a7ec52171c_1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12a79a7ec52171c_1_8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h612a79a7ec52171c_1_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Human communication evolves through discrete phase shifts in coordination media: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**Oracy** emerged to govern synchronous, co-located spoken interaction, structured as an immediate acoustic dyad.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**Literacy** decoupled author from reader across space and time via a passive symbolic conduit, establishing an asynchronous, feedforward dyadic architecture.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**Numeracy** formalized quantitative invariants and abstract mapping.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**Algorithmacy** denotes the cognitive competency required to navigate triadic cooptive coordination: interacting with a counterpart through an active algorithmic mediator—a discourse deputy—that enforces its own objective function and continuously transforms the interaction space.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Oracy is talking face-to-face. Literacy is writing a letter: the paper never edits what you wrote while the recipient reads it. But algorithmacy is dealing with an active middleman. Think of a passenger, an Uber driver, and the dispatch algorithm: the app is not a passive sheet of paper. It sets prices, decides routes, evaluates ratings, and steers both humans simultaneously. Algorithmacy is the skill of handling that active third party.</a:t>
            </a:r>
            <a:endParaRPr/>
          </a:p>
        </p:txBody>
      </p:sp>
      <p:sp>
        <p:nvSpPr>
          <p:cNvPr id="142" name="Google Shape;142;h612a79a7ec52171c_1_8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612a79a7ec52171c_1_9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h612a79a7ec52171c_1_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Every communicative competency presupposes the ontological autonomy of its target medium: literacy is meaningful only because texts are physically and semiotically real. Consequently, algorithmacy is coherent only if genuine triadic relations constitute an irreducible category of being. If all triadic coordination factorizes into compositions of dyadic projections, algorithmic mediation dissolves into pairwise transmission channels, leaving algorithmacy without an autonomous target. We trace this boundary across Charles Sanders Peirce, Willard Van Orman Quine, relational clone theory, and causal information theory.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Does a three-way relationship actually exist on its own, or is it just two pairs glued together? Consider a three-legged stool: you cannot explain why it stands by testing pairs of legs in isolation; the stability exists only when all three work together at once. If three-way coordination is just two pairs stacked together, then learning to read text is all we need. If genuine three-way coordination is real and indivisible, we need a new framework.</a:t>
            </a:r>
            <a:endParaRPr/>
          </a:p>
        </p:txBody>
      </p:sp>
      <p:sp>
        <p:nvSpPr>
          <p:cNvPr id="150" name="Google Shape;150;h612a79a7ec52171c_1_9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612a79a7ec52171c_1_9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h612a79a7ec52171c_1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Charles Sanders Peirce structured his phenomenological and relational ontology upon three universal categories: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**Firstness** is monadic potentiality and immediate quality—what an entity is "regardless of aught else," formalizable as unary selection or uncoupled entropy.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**Secondness** is dyadic actuality and brute physical reaction—two terms locked in direct reciprocal resistance, where "cause and effect are two".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**Thirdness** is triadic mediation, law, and representation—"the medium or connecting bond between the absolute first and last," instantiated by the irreducible sign-object-interpretant relation.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Peirce argued that everything in reality falls into three buckets. Firstness is a pure, isolated quality, like seeing the color red in a dream. Secondness is direct, physical collision, like your bumper hitting a brick wall—two things pushing on each other. Thirdness is a traffic rule: the legal requirement that connects the red light to your foot pressing the brake. A law or a meaning cannot be described by raw collisions alone; the connecting rule is real. With John and Sally: the ball's redness is Firstness, the ball hitting Sally's hand is Secondness, and John giving Sally the ball is Thirdness.</a:t>
            </a:r>
            <a:endParaRPr/>
          </a:p>
        </p:txBody>
      </p:sp>
      <p:sp>
        <p:nvSpPr>
          <p:cNvPr id="158" name="Google Shape;158;h612a79a7ec52171c_1_9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In 1870, Peirce formulated the Peircean Reduction Thesis (PRT): a genuine triad binds its members "in a way that does not consist in any complexus of dyadic relations". The thesis asserts two asymmetric claims: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 No genuine triadic relation can be synthesized solely from monadic and dyadic relations.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Every polyadic relation of arity $n \ge 3$ can be generated by compositions of triads.</a:t>
            </a:r>
            <a:endParaRPr/>
          </a:p>
          <a:p>
            <a:pPr indent="0" lvl="0" marL="0" rtl="0" algn="l">
              <a:spcBef>
                <a:spcPts val="0"/>
              </a:spcBef>
              <a:spcAft>
                <a:spcPts val="0"/>
              </a:spcAft>
              <a:buNone/>
            </a:pPr>
            <a:r>
              <a:rPr lang="en"/>
              <a:t>Triadicity is generative, universal, and join-complete; relations of arity $n \ge 4$ require no primitive higher-order operations beyond triadic branching.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Peirce claimed that "three" is the magic number of the universe. You can never build a genuine three-way relationship out of simple two-way connections. But once you have true three-way connectors, you can assemble networks of any size or complexity—four-way, ten-way, or a million-way. Three is the fundamental building block; anything less is insufficient.</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Peirce illustrates the irreducibility of Thirdness using the ternary proposition gives(John, ball, Sally). He demonstrates that an intentional transaction cannot be decomposed into sequential dyadic physical events, such as John throwing the ball, throw(John, ball), and the ball subsequently landing at Sally, land(ball, Sally). That physical sequence constitutes "merely one dyadic relation followed by another": once the ball is in flight, its state screens off John from Sally, and the whole event factors into its two projections. Genuine giving transfers rights and intentional status, binding giver (John), gift (ball), and recipient (Sally) into a single non-factorizable fact: gives(John, ball, Sally) is not equal to any product R1(John, ball) × R2(ball, Sally).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Suppose John hands Sally the ball as a gift. That is a social transfer of ownership. Now suppose John throws the ball and it happens to land near Sally. In both cases the ball left John's hand and reached Sally. But the throw is just two physical events chained together, a pipeline. The gift needs all three, John, the ball, and Sally, joined in one transaction under a shared understanding.</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612a79a7ec52171c_1_11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h612a79a7ec52171c_1_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Peirce formalized his topological valency calculus using graphical representations of relations. A monadic property possesses one external bond, a dyad possesses two, and a triad possesses three. Splicing two relations via relative product consumes two free bonds—one from each factor: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+ 2 - 2 = 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Chaining arbitrary even-valency relations ("artiads") strictly conserves even valency, permanently restricting compositions to linear paths or isolated cycles. Triadic composition, however, yields: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+ 3 - 2 = 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allows the construction of arbitrary relational topologies.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classical mechanical counterargument suggests that allowing three dyadic bonds to intersect at a shared point generates a triad from binary lines. Peirce refuted this by showing that the intersection node is itself an active relation: "every node of bonds is equivalent to a relative". Alfred Kempe attempted to eliminate triads in 1886 by replacing them with configurations of binary links. Peirce demonstrated that Kempe had merely relocated the triad into the graphic attachment points—the primitive teridentity operator that synchronizes three distinct coordinates.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Think of plumbing pipes. If you take straight pipes that each have two open ends, no matter how many you glue together, the finished line still only has two open ends. You can make long lines or closed loops, but you can never make a branch. To split a water line into a new direction, you need a T-junction pipe with three openings. Two-ended parts only produce two-ended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skeptic might argue: "Look at a three-way road intersection; it is just three separate roads meeting in the middle!" Peirce responded that the middle of the intersection is not empty space—it is a roundabout or traffic light that coordinates all three roads simultaneously. You did not eliminate the triad; you just swept it into the middle of the intersection. With John and Sally: the throw is a straight line from John to the ball to Sally, with no branch; the give is a T-junction where John, the ball, and Sally meet.</a:t>
            </a:r>
            <a:endParaRPr/>
          </a:p>
        </p:txBody>
      </p:sp>
      <p:sp>
        <p:nvSpPr>
          <p:cNvPr id="183" name="Google Shape;183;h612a79a7ec52171c_1_1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612a79a7ec52171c_1_128: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h612a79a7ec52171c_1_1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That junction has an algebraic name, the **teridentity relation**: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$$=_3 \; \equiv \{(x, x, x) \mid x \in 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Robert Burch (1991) formalized Peircean Algebraic Logic (PAL), demonstrating algebraically that over a closed, fixed universe without domain expansion, dyadic relations cannot generate ternary relations under primitive positive logic.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 fixed domains, the three-way junction is join-irreducible.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Modern algebra proved the exact mechanism. To coordinate three things, you need a "three-way identity switch"—a rule saying three different points must hold the exact same value simultaneously. Standard math formulas cheat by writing the variable letter $x$ three times in one equation and pretending that is not a three-way relation. It is. The moment you forbid that hidden trick, two-way wires can never build a three-way junction. With John and Sally: the three-way identity is the same ball in John's hand, in the handing-over, and in Sally's hand.</a:t>
            </a:r>
            <a:endParaRPr/>
          </a:p>
        </p:txBody>
      </p:sp>
      <p:sp>
        <p:nvSpPr>
          <p:cNvPr id="193" name="Google Shape;193;h612a79a7ec52171c_1_1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612a79a7ec52171c_1_13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h612a79a7ec52171c_1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In 1954, Willard Van Orman Quine published a mathematical proof demonstrating that any formal theory expressible in first-order logic can be rewritten using only a single dyadic predicate, denoted $J$. Quine accomplished this by: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Compressing arguments into nested ordered pairs via Wiener-Kuratowski definitions.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Reifying polyadic relations as abstract individuals.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Expanding the universe of discourse to include an infinite hierarchy of sets of pairs, paralleling Leopold Löwenheim’s 1915 construction.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mechanics of Quine's translation are transparent. A ternary proposition like $\text{gives}(\text{John}, \text{ball}, \text{Sally})$ is packed 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$$\langle\text{tag}, \text{John}, \langle \text{ball}, \text{Sally}\rangle\rangle \in J$$</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original triadic fact is converted into an assertion of dyadic membership over an inflated domain. By recursively applying this procedure across all relations, every polyadic structure dissolves into an individual tuple embedded within an expanded universe of sets.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In 1954, the famous philosopher Willard Van Orman Quine delivered what looked like a fatal blow to Peirce's theory. He showed a clever mathematical trick: if you bundle multiple pieces of information into pairs of nested envelopes, you can re-write any complex relationship in the world using just a single two-place relationship: "Does Envelope X contain Envelope Y?" It appeared that three-way relationships had been eliminated.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how Quine pulled it off: take "John gives Sally the ball". First, he packs "the ball" and "Sally" into an envelope labeled "Target". Then he packs "John" and the "Target" envelope into a bigger envelope labeled "Giving Event". Now, you only ever ask two-item questions: "Is John inside the Giving envelope?" Quine replaced genuine three-way coordination with nested Russian nesting dolls. With John and Sally: Quine turns "John gives Sally the ball" into one two-place link between John and a new object, the pair ⟨ball, Sally⟩.</a:t>
            </a:r>
            <a:endParaRPr/>
          </a:p>
        </p:txBody>
      </p:sp>
      <p:sp>
        <p:nvSpPr>
          <p:cNvPr id="201" name="Google Shape;201;h612a79a7ec52171c_1_1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612a79a7ec52171c_1_14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h612a79a7ec52171c_1_1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Quine's proof led twentieth-century logicians to conclude that Peirce's Reduction Thesis was mistaken. If any triadic relation can be represented as dyadic membership over a universe of pairs, Thirdness is not an autonomous category of being, but a syntactic convenience eliminated by set-theoretic packaging. If that conclusion holds, triadic interaction is an illusion: coordinating through an algorithm is just two chained dyadic steps, collapsing algorithmacy into conventional literacy.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Universal algebra resolves this conflict by demonstrating that the outcome depends strictly on the constructive operations permitted: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Hans Herzberger (1981) proved that Peirce’s thesis holds as an exact theorem for valency-regular constructions under relative products, while confirming that under standard extensional definability over inflated domains, the thesis collapses.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Dau and Hereth Correia (2006) showed that standard relational algebra generates $=_3$ only by covertly smuggling it into variable identification operations ($\Delta$).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If Quine is right, "three-way coordination" does not exist in nature—it is just lazy grammar that computer code can dismantle into pairs. And if that is true, you don't need any special skill to deal with algorithms; interacting with an AI or a platform is no different from reading two text messages one after the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Logicians eventually realized both thinkers were right, but under different rules. If you are building a real machine out of a fixed set of physical parts, Peirce is completely right: you cannot build a three-way switch out of two-way switches. Quine only "won" on paper by assuming the universe already contains every pair as a new object: a warehouse that always has another envelope for things to be stuffed into. With John and Sally: the pair ⟨ball, Sally⟩ was never in the room, and pairing the ball with Sally is itself a three-place tie.</a:t>
            </a:r>
            <a:endParaRPr/>
          </a:p>
        </p:txBody>
      </p:sp>
      <p:sp>
        <p:nvSpPr>
          <p:cNvPr id="210" name="Google Shape;210;h612a79a7ec52171c_1_1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612a79a7ec52171c_1_15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h612a79a7ec52171c_1_1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Relational clone theory formalizes the precise mathematical barrier. Hereth Correia and Pöschel (2006) proved that for any base domain $\vert{}A\vert{} \ge 2$, the clone generated by monadic and dyadic relations strictly excludes the **teridentity relation**: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$$=_3 \; \equiv \{(x, x, x) \mid x \in A\}$$</a:t>
            </a:r>
            <a:endParaRPr/>
          </a:p>
          <a:p>
            <a:pPr indent="0" lvl="0" marL="0" rtl="0" algn="l">
              <a:spcBef>
                <a:spcPts val="0"/>
              </a:spcBef>
              <a:spcAft>
                <a:spcPts val="0"/>
              </a:spcAft>
              <a:buNone/>
            </a:pPr>
            <a:r>
              <a:rPr lang="en"/>
              <a:t>Quine's route works only by expanding the domain with the pairs as new objects. On a fixed domain, using joins and projections alone, the teridentity cannot be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Koshkin (2024) proved that on infinite domains, non-degenerate relations have a strict lower bound of ternarity ($\text{ter}(R) \ge n - 2$).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Robert Burch concluded in the *Stanford Encyclopedia of Philosophy* that both Peirce and Quine are correct relative to their premises: the outcome depends on the allowable constructive resources. Sergiy Koshkin showed that once the ternary junction is acknowledged as an explicit relation, Peirce’s claim is mathematically validated. However, static algebraic logic evaluates relations extensionally as frozen sets of tuples. It cannot evaluate real-time coordination within dynamic, running systems. To differentiate genuine triadic coordination from disguised dyadic transmission, we must employ causal information theory.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On paper, Quine works only if you keep adding the pairs to the world as new things; with a fixed set of things and only joins and projections, Peirce works. But algorithms and humans do not live on paper as frozen database tables. We interact in real time with running software. We don't need another chalkboard proof; we need a physical test to determine whether a running computer system is genuinely triadic or just pretending to be one. With John and Sally: with only John, the ball and Sally in the room, no chain of pairs rebuilds the gift.</a:t>
            </a:r>
            <a:endParaRPr/>
          </a:p>
        </p:txBody>
      </p:sp>
      <p:sp>
        <p:nvSpPr>
          <p:cNvPr id="218" name="Google Shape;218;h612a79a7ec52171c_1_1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612a79a7ec52171c_1_15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h612a79a7ec52171c_1_1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Partial Information Decomposition, due to Williams and Beer (2010), splits the information two sources carry about a target into four parts: what both carry (redundancy), what each carries alone (two unique terms), and what only the pair carries together (synergy). Exclusive-or is the canonical case. With $Y = X_1 \oplus X_2$, neither input alone tells you anything about $Y$, yet the two together fix it, and all of the information is synergy: one bit.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Take two light switches wired so the lamp is on when exactly one of them is up. Look at either switch alone and you learn nothing about the lamp. Look at both and you know it for certain. That kind of information lives only in the pair, never in either part. With John and Sally: Sally's having the ball depends on John and the ball together; neither one alone tells you she has it.</a:t>
            </a:r>
            <a:endParaRPr/>
          </a:p>
        </p:txBody>
      </p:sp>
      <p:sp>
        <p:nvSpPr>
          <p:cNvPr id="226" name="Google Shape;226;h612a79a7ec52171c_1_15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12a79a7ec52171c_1_16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h612a79a7ec52171c_1_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Integrated Information Theory (IIT 4.0) provides an operational test for dynamic irreducibility. IIT evaluates a system’s Transition Probability Matrix (TPM) across all bipartitions to determine the Minimum Information Partition (MIP):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$$\Phi = \text{ID}\left(p \parallel p^{P_{\text{MIP}}}\right)$$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$\Phi = 0$, the system factorizes cleanly into independent components. If $\Phi &gt; 0$, causal interactions are irreducible.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We found our test in neuroscience: Integrated Information Theory. It asks a simple question: "If you take a pair of scissors and cut this system along its weakest seam, how much information is lost?" If cutting it loses nothing ($\Phi = 0$), it was just independent wires. If cutting it destroys the system's behavior ($\Phi &gt; 0$), it is an indivisible whole. With John and Sally: the give circuit is a whole ($\Phi &gt; 0$); the gift slide later shows how.</a:t>
            </a:r>
            <a:endParaRPr/>
          </a:p>
        </p:txBody>
      </p:sp>
      <p:sp>
        <p:nvSpPr>
          <p:cNvPr id="234" name="Google Shape;234;h612a79a7ec52171c_1_1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612a79a7ec52171c_1_17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h612a79a7ec52171c_1_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An **irreducible triad** is a mechanism jointly determined by two other elements, with all three belonging to an integrated complex ($\Phi &gt; 0$). In our minimal control circuit ($M' = A \land B$; $A' = M$; $B' = M$), IIT 4.0 yields $\Phi = 2.0$, with all three nodes in the core complex.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Applying this causal test across dynamical architectures resolves the structural taxonomy: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 **Dyadic Wirings Conserve Dyads:** Testing 89 discrete single-input copy architectures, no element is ever determined by two others: pairwise connections produce only pairwise determination. Our pre-registered hypothesis was refuted on the effect side, where one element can drive three; the cause-side reading is post hoc.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 **Wholeness and Triadicity Are Orthogonal:** Testing 30 four-element networks driven by two-input mechanisms proves that system-level integration and local triadic irreducibility do not always coincide: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 whole without a triad:* A cyclic ring of pairwise copy elements achieves $\Phi = 2.0$ purely via feedback return, containing zero triadic mechanisms.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 triad without a whole:* In 11 of the 30 networks, an element is jointly determined by two others, yet the system factorizes globally across its MIP ($\Phi =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 triad integrated within a whole:* In 5 of the 30 networks—matching our control circuit and Peirce's model of genuine giving—the triadic mechanism resides inside an irreducible complex ($\Phi &gt;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In our circuit—where a mediator $M$ only triggers when both $A$ and $B$ act together, and both $A$ and $B$ listen to $M$—cutting the system destroys its function completely ($\Phi = 2.0$). It is a true, irreducible triad.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tested this across dozens of computational network designs and discovered two critical facts:</a:t>
            </a:r>
            <a:endParaRPr/>
          </a:p>
          <a:p>
            <a:pPr indent="0" lvl="0" marL="0" rtl="0" algn="l">
              <a:spcBef>
                <a:spcPts val="0"/>
              </a:spcBef>
              <a:spcAft>
                <a:spcPts val="0"/>
              </a:spcAft>
              <a:buNone/>
            </a:pPr>
            <a:r>
              <a:rPr lang="en"/>
              <a:t>First, connecting single-input wires end-to-end never creates a three-way decision—pairs only make pairs.</a:t>
            </a:r>
            <a:endParaRPr/>
          </a:p>
          <a:p>
            <a:pPr indent="0" lvl="0" marL="0" rtl="0" algn="l">
              <a:spcBef>
                <a:spcPts val="0"/>
              </a:spcBef>
              <a:spcAft>
                <a:spcPts val="0"/>
              </a:spcAft>
              <a:buNone/>
            </a:pPr>
            <a:r>
              <a:rPr lang="en"/>
              <a:t>Second, being a "unified system" is not the same as being a "triad". A circle of people whispering a rumor around a ring is a unified loop ($\Phi = 2.0$), but every step is still just a two-person exchange! Genuine triadicity requires an active coordinator that combines two inputs simultaneously inside that loop—which occurred in only 5 of our 30 test networks.</a:t>
            </a:r>
            <a:endParaRPr/>
          </a:p>
        </p:txBody>
      </p:sp>
      <p:sp>
        <p:nvSpPr>
          <p:cNvPr id="242" name="Google Shape;242;h612a79a7ec52171c_1_1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612a79a7ec52171c_1_178: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h612a79a7ec52171c_1_17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Quine's reduction is real but narrow: Quine (1954) translates any first-order theory into one with a single dyadic predicate, but only once ordered pairs are added to the universe as new objects. Hold the domain fixed and allow only joins and projections, and monadic and dyadic relations do not generate the teridentity (Burch 1991; Hereth &amp; Pöschel 2006): on a fixed domain, triads do not reduce to dyads. A genuine triadic system is one where an active third party is jointly determined by two participants and dynamically couples them within an integrated cause-effect structure ($\Phi &gt; 0$). These non-factorizable systems are the specific operational targets of algorithmacy.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literacy parses feedforward, passive symbolic inscriptions, algorithmacy provides the cognitive capacity to model, interrogate, and negotiate the active, synergistic intent of an algorithmic third party. This structural form is not unique to artificial intelligence—it exists historically in legal arbitration and shared physical tallies. What is unprecedented is its automated deployment at societal scale through machine-learning platforms.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current models are grounded in discrete Boolean state spaces, leaving continuous human behavior and the empirical identification of observational unit boundaries as our next investigative phase.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The final result is plain. Quine can rewrite any three-way fact as two-way facts, but only by adding new bundled objects to the world. Keep the world as it is, and three-way ties do not break into pairs: John's throw reduces to pairs, John's gift to Sally does not. When you read a book or an email, you use literacy to interpret static text that does not react to you. But when you drive for an app, manage an AI assistant, or interact through a platform, you are locked into an irreducible triad. The algorithm is an active player with its own incentives, measuring both sides at once. Basic literacy cannot protect you from being manipulated in this environment. Only algorithmacy—the ability to understand, question, and steer the active third party—allows humans to maintain agency in an automated world.</a:t>
            </a:r>
            <a:endParaRPr/>
          </a:p>
        </p:txBody>
      </p:sp>
      <p:sp>
        <p:nvSpPr>
          <p:cNvPr id="250" name="Google Shape;250;h612a79a7ec52171c_1_17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612a79a7ec52171c_1_18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h612a79a7ec52171c_1_1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Same three members, two circuits: John's act, the ball, Sally's possession. In the gift, Sally's possession is set by John and the ball together; in the imitation, each member answers to one other. Both are wholes at Φ = 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Back to John, Sally and the ball: the gift and its imitation. Ask "is this one whole?" and both say yes. Ask "is anyone set by two others at once?" and only the gift says yes: Sally has the ball because of John and the ball together.</a:t>
            </a:r>
            <a:endParaRPr/>
          </a:p>
        </p:txBody>
      </p:sp>
      <p:sp>
        <p:nvSpPr>
          <p:cNvPr id="258" name="Google Shape;258;h612a79a7ec52171c_1_18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612a79a7ec52171c_1_19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h612a79a7ec52171c_1_1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Each member following the majority: Φ = 0.0, the system factors. We had pre-registered the opposite. Unanimity instead: Φ = 6.0, all three in the core. On a related quorum form, IIT 3.0 says binds where IIT 4.0 says factors.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A committee that goes with any two: any one of you can be outvoted, so cutting one away changes nothing. Make it all three or nothing, and cutting anyone stops it.</a:t>
            </a:r>
            <a:endParaRPr/>
          </a:p>
        </p:txBody>
      </p:sp>
      <p:sp>
        <p:nvSpPr>
          <p:cNvPr id="266" name="Google Shape;266;h612a79a7ec52171c_1_1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612a79a7ec52171c_1_19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h612a79a7ec52171c_1_1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The dealer only relays: let the maker sell direct and Φ falls from 2.0 to 0.0. The clearinghouse keeps 2.0 under the same bypass. The brokerage types sort the same way. These are constructed forms, not markets.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A toll booth on the only bridge matters until a second bridge goes up. A translator between strangers matters whatever you build. Our test builds the second bridge and asks who is still needed.</a:t>
            </a:r>
            <a:endParaRPr/>
          </a:p>
        </p:txBody>
      </p:sp>
      <p:sp>
        <p:nvSpPr>
          <p:cNvPr id="274" name="Google Shape;274;h612a79a7ec52171c_1_1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612a79a7ec52171c_1_20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h612a79a7ec52171c_1_2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Validate on two controls before you trust a verdict. A new question scaffolds from a template, and CI re-derives every registered number on each pull request.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A kitchen with the recipes written down. Check the oven on a dish you know, then cook your own. Write down what you expect before you taste. A failed dish still goes in the book.</a:t>
            </a:r>
            <a:endParaRPr/>
          </a:p>
        </p:txBody>
      </p:sp>
      <p:sp>
        <p:nvSpPr>
          <p:cNvPr id="282" name="Google Shape;282;h612a79a7ec52171c_1_2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612a79a7ec52171c_1_21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h612a79a7ec52171c_1_2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We have pointed the instrument at real people once: two people's gaze, one step at a time. Coded per person, the streams factor; coded as a shared region, they integrate. The registered result: the verdict depends on the coder.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Every line is a door. Bring a dataset, a workplace, a bigger committee.</a:t>
            </a:r>
            <a:endParaRPr/>
          </a:p>
        </p:txBody>
      </p:sp>
      <p:sp>
        <p:nvSpPr>
          <p:cNvPr id="290" name="Google Shape;290;h612a79a7ec52171c_1_2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612a79a7ec52171c_1_22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h612a79a7ec52171c_1_2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[Live. Type the audience's sentence into Claude Code with talk/LIVE_SESSION.md loaded. Read three lines aloud: whole or factors, the core, who is set by two others. If the laptop or the network fails, show slide 22.]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arrangement from your own work: three or four parties, who acts on whom. What questions are you interested in?</a:t>
            </a:r>
            <a:endParaRPr/>
          </a:p>
        </p:txBody>
      </p:sp>
      <p:sp>
        <p:nvSpPr>
          <p:cNvPr id="298" name="Google Shape;298;h612a79a7ec52171c_1_2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612a79a7ec52171c_1_22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h612a79a7ec52171c_1_2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[Not spoken unless the live session fails. Read the row that matches the question asked.]</a:t>
            </a:r>
            <a:endParaRPr/>
          </a:p>
        </p:txBody>
      </p:sp>
      <p:sp>
        <p:nvSpPr>
          <p:cNvPr id="306" name="Google Shape;306;h612a79a7ec52171c_1_2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612a79a7ec52171c_1_23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h612a79a7ec52171c_1_2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[Not spoken. Leave this up during questions, or skip it.]</a:t>
            </a:r>
            <a:endParaRPr/>
          </a:p>
        </p:txBody>
      </p:sp>
      <p:sp>
        <p:nvSpPr>
          <p:cNvPr id="314" name="Google Shape;314;h612a79a7ec52171c_1_2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The running example is told two ways. The throw is a composition of two dyadic relations, throw(John, ball) and land-near(ball, Sally): the first relation is complete before the second begins, and the whole event is their chaining. The give is a single ternary relation, gives(John, ball, Sally), whose truth is not fixed by any pair of its arguments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It is the same ball and the same two people. In one telling it is physics: John throws, the ball lands. In the other it is a gift: John gives Sally the ball. The rest of the talk asks whether the gift can be rebuilt out of pairs.</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Quine (1954) shows that any first-order theory can be reinterpreted with a single dyadic predicate, by enlarging the universe with ordered pairs and encoding n-ary predicates as membership over tuples. That is interpretability between theories.</a:t>
            </a:r>
            <a:endParaRPr/>
          </a:p>
          <a:p>
            <a:pPr indent="0" lvl="0" marL="0" rtl="0" algn="l">
              <a:spcBef>
                <a:spcPts val="0"/>
              </a:spcBef>
              <a:spcAft>
                <a:spcPts val="0"/>
              </a:spcAft>
              <a:buNone/>
            </a:pPr>
            <a:r>
              <a:rPr lang="en"/>
              <a:t>Peirce's thesis concerns the generation of relations on a fixed domain under relational operations. There, Burch (1991) and Hereth &amp; Pöschel (2006) show that the teridentity is not generated by monadic and dyadic relations.</a:t>
            </a:r>
            <a:endParaRPr/>
          </a:p>
          <a:p>
            <a:pPr indent="0" lvl="0" marL="0" rtl="0" algn="l">
              <a:spcBef>
                <a:spcPts val="0"/>
              </a:spcBef>
              <a:spcAft>
                <a:spcPts val="0"/>
              </a:spcAft>
              <a:buNone/>
            </a:pPr>
            <a:r>
              <a:rPr lang="en"/>
              <a:t>The two results answer different questions, and the boundary between them is exactly the three conditions on the slide: the domain grows, pairing is assumed, and the result is a translation rather than a construction.</a:t>
            </a:r>
            <a:endParaRPr/>
          </a:p>
          <a:p>
            <a:pPr indent="0" lvl="0" marL="0" rtl="0" algn="l">
              <a:spcBef>
                <a:spcPts val="0"/>
              </a:spcBef>
              <a:spcAft>
                <a:spcPts val="0"/>
              </a:spcAft>
              <a:buNone/>
            </a:pPr>
            <a:r>
              <a:rPr lang="en"/>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Quine can rewrite every gift as a two-place fact, but only by inventing a new object, the bundle 'ball-for-Sally', and the act of bundling is itself the three-way tie he was trying to remove. Keep the people and things you started with, John, the ball, and Sally, and the gift won't come apart into pairs.</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612a79a7ec52171c_1_11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h612a79a7ec52171c_1_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**Technical Presentation**</a:t>
            </a:r>
            <a:endParaRPr/>
          </a:p>
          <a:p>
            <a:pPr indent="0" lvl="0" marL="0" rtl="0" algn="l">
              <a:spcBef>
                <a:spcPts val="0"/>
              </a:spcBef>
              <a:spcAft>
                <a:spcPts val="0"/>
              </a:spcAft>
              <a:buNone/>
            </a:pPr>
            <a:r>
              <a:rPr lang="en"/>
              <a:t>Peirce's positive thesis: joining two triads through teridentity consumes one bond from each, 3 + 3 − 2 = 4, and repeated joins yield any arity. Every finite relation graph can be built from trivalent junctions. A four-place relation factors through a hidden middle term: R(a, b, c, d) = ∃x [T₁(a, b, x) ∧ T₂(x, c, d)].</a:t>
            </a:r>
            <a:endParaRPr/>
          </a:p>
          <a:p>
            <a:pPr indent="0" lvl="0" marL="0" rtl="0" algn="l">
              <a:spcBef>
                <a:spcPts val="0"/>
              </a:spcBef>
              <a:spcAft>
                <a:spcPts val="0"/>
              </a:spcAft>
              <a:buNone/>
            </a:pPr>
            <a:r>
              <a:rPr lang="en"/>
              <a:t>The caveat: generation of relations is not the same as decomposition of dynamics. n-way parity has synergy only at the full order, and exact Φ on larger cliques in the lab grows (2, 6, 12, 20 for two to five), so whether causal wholes of four reduce to triadic wholes is untested.</a:t>
            </a:r>
            <a:endParaRPr/>
          </a:p>
          <a:p>
            <a:pPr indent="0" lvl="0" marL="0" rtl="0" algn="l">
              <a:spcBef>
                <a:spcPts val="0"/>
              </a:spcBef>
              <a:spcAft>
                <a:spcPts val="0"/>
              </a:spcAft>
              <a:buNone/>
            </a:pPr>
            <a:r>
              <a:rPr lang="en"/>
              <a:t/>
            </a:r>
            <a:endParaRPr/>
          </a:p>
          <a:p>
            <a:pPr indent="0" lvl="0" marL="0" rtl="0" algn="l">
              <a:spcBef>
                <a:spcPts val="0"/>
              </a:spcBef>
              <a:spcAft>
                <a:spcPts val="0"/>
              </a:spcAft>
              <a:buNone/>
            </a:pPr>
            <a:r>
              <a:rPr lang="en"/>
              <a:t>**Layman's Explanation**</a:t>
            </a:r>
            <a:endParaRPr/>
          </a:p>
          <a:p>
            <a:pPr indent="0" lvl="0" marL="0" rtl="0" algn="l">
              <a:spcBef>
                <a:spcPts val="0"/>
              </a:spcBef>
              <a:spcAft>
                <a:spcPts val="0"/>
              </a:spcAft>
              <a:buNone/>
            </a:pPr>
            <a:r>
              <a:rPr lang="en"/>
              <a:t>A sale is two gifts glued together at the moment of exchange: John gives Sally the ball, Sally gives John a dollar. Logic needs nothing bigger than three. Whether the dynamics of four people acting together comes apart that neatly is a question the lab has not answered.</a:t>
            </a:r>
            <a:endParaRPr/>
          </a:p>
        </p:txBody>
      </p:sp>
      <p:sp>
        <p:nvSpPr>
          <p:cNvPr id="183" name="Google Shape;183;h612a79a7ec52171c_1_1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30" name="Google Shape;130;p2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6"/>
          <p:cNvSpPr txBox="1"/>
          <p:nvPr/>
        </p:nvSpPr>
        <p:spPr>
          <a:xfrm>
            <a:off x="617236" y="1097280"/>
            <a:ext cx="7909542" cy="27432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RELATIONAL ALGEBRA • IIT 4.0 • PID</a:t>
            </a:r>
            <a:endParaRPr sz="1100"/>
          </a:p>
        </p:txBody>
      </p:sp>
      <p:sp>
        <p:nvSpPr>
          <p:cNvPr id="137" name="Google Shape;137;p26"/>
          <p:cNvSpPr txBox="1"/>
          <p:nvPr/>
        </p:nvSpPr>
        <p:spPr>
          <a:xfrm>
            <a:off x="617236" y="1440180"/>
            <a:ext cx="7909542" cy="82296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300" u="none" cap="none" strike="noStrike">
                <a:solidFill>
                  <a:srgbClr val="000000"/>
                </a:solidFill>
                <a:latin typeface="Arial"/>
                <a:ea typeface="Arial"/>
                <a:cs typeface="Arial"/>
                <a:sym typeface="Arial"/>
              </a:rPr>
              <a:t>Do Triads Reduce to Dyads?</a:t>
            </a:r>
            <a:endParaRPr sz="1100"/>
          </a:p>
        </p:txBody>
      </p:sp>
      <p:sp>
        <p:nvSpPr>
          <p:cNvPr id="138" name="Google Shape;138;p26"/>
          <p:cNvSpPr txBox="1"/>
          <p:nvPr/>
        </p:nvSpPr>
        <p:spPr>
          <a:xfrm>
            <a:off x="617236" y="2468880"/>
            <a:ext cx="7909500" cy="114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The Peircean Reduction Thesis, Quine’s Fallacy, and the Mathematical Foundations of Algorithmacy.</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Port of Spain • October 2026</a:t>
            </a:r>
            <a:endParaRPr sz="1100"/>
          </a:p>
          <a:p>
            <a:pPr indent="0" lvl="0" marL="0" marR="0" rtl="0" algn="l">
              <a:spcBef>
                <a:spcPts val="300"/>
              </a:spcBef>
              <a:spcAft>
                <a:spcPts val="0"/>
              </a:spcAft>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7"/>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EPISTEMIC EVOLUTION</a:t>
            </a:r>
            <a:endParaRPr sz="1100"/>
          </a:p>
        </p:txBody>
      </p:sp>
      <p:sp>
        <p:nvSpPr>
          <p:cNvPr id="145" name="Google Shape;145;p27"/>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Four Relational Sensibilities</a:t>
            </a:r>
            <a:endParaRPr sz="1100"/>
          </a:p>
        </p:txBody>
      </p:sp>
      <p:sp>
        <p:nvSpPr>
          <p:cNvPr id="146" name="Google Shape;146;p27"/>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Oracy</a:t>
            </a:r>
            <a:r>
              <a:rPr b="0" i="0" lang="en" sz="1700" u="none" cap="none" strike="noStrike">
                <a:solidFill>
                  <a:srgbClr val="000000"/>
                </a:solidFill>
                <a:latin typeface="Arial"/>
                <a:ea typeface="Arial"/>
                <a:cs typeface="Arial"/>
                <a:sym typeface="Arial"/>
              </a:rPr>
              <a:t> — ARITY: 1 • MONADIC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Synchronous acoustic presence.</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Literacy</a:t>
            </a:r>
            <a:r>
              <a:rPr b="0" i="0" lang="en" sz="1700" u="none" cap="none" strike="noStrike">
                <a:solidFill>
                  <a:srgbClr val="000000"/>
                </a:solidFill>
                <a:latin typeface="Arial"/>
                <a:ea typeface="Arial"/>
                <a:cs typeface="Arial"/>
                <a:sym typeface="Arial"/>
              </a:rPr>
              <a:t> — ARITY: 2 • DYADIC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Asynchronous document transmission.</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Numeracy</a:t>
            </a:r>
            <a:r>
              <a:rPr b="0" i="0" lang="en" sz="1700" u="none" cap="none" strike="noStrike">
                <a:solidFill>
                  <a:srgbClr val="000000"/>
                </a:solidFill>
                <a:latin typeface="Arial"/>
                <a:ea typeface="Arial"/>
                <a:cs typeface="Arial"/>
                <a:sym typeface="Arial"/>
              </a:rPr>
              <a:t> — ARITY: 2 • FORMAL</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Symbolic quantitative mapping.</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Algorithmacy</a:t>
            </a:r>
            <a:r>
              <a:rPr b="0" i="0" lang="en" sz="1700" u="none" cap="none" strike="noStrike">
                <a:solidFill>
                  <a:srgbClr val="000000"/>
                </a:solidFill>
                <a:latin typeface="Arial"/>
                <a:ea typeface="Arial"/>
                <a:cs typeface="Arial"/>
                <a:sym typeface="Arial"/>
              </a:rPr>
              <a:t> — ARITY: 3 • TRIADIC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Autonomous synthetic mediation.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28"/>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FOUNDATIONAL PROBLEM</a:t>
            </a:r>
            <a:endParaRPr sz="1100"/>
          </a:p>
        </p:txBody>
      </p:sp>
      <p:sp>
        <p:nvSpPr>
          <p:cNvPr id="153" name="Google Shape;153;p28"/>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Ontological Reducibility Dilemma</a:t>
            </a:r>
            <a:endParaRPr sz="1100"/>
          </a:p>
        </p:txBody>
      </p:sp>
      <p:sp>
        <p:nvSpPr>
          <p:cNvPr id="154" name="Google Shape;154;p28"/>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Clone Question:</a:t>
            </a:r>
            <a:r>
              <a:rPr b="0" i="0" lang="en" sz="1700" u="none" cap="none" strike="noStrike">
                <a:solidFill>
                  <a:srgbClr val="000000"/>
                </a:solidFill>
                <a:latin typeface="Arial"/>
                <a:ea typeface="Arial"/>
                <a:cs typeface="Arial"/>
                <a:sym typeface="Arial"/>
              </a:rPr>
              <a:t> Does the dyadic clone generate all ternary relations: [R(2)] = R(3)?</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Hypothesis A: Total Reducibility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Dyadic Collapse: All systems reduce to pairs.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Zero Synergy: Multi-party interaction is nominal.</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Null Target: Algorithmacy lacks distinctive ontology.</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Hypothesis B: Genuine Irreducibility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Strict Thirdness: Triads resist pairwise factorization.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Positive Φ: Causal systems exhibit integration.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Real Target: Algorithmacy governs irreducible mediation.</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sp>
        <p:nvSpPr>
          <p:cNvPr id="160" name="Google Shape;160;p29"/>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PHANEROSCOPY &amp; LOGIC</a:t>
            </a:r>
            <a:endParaRPr sz="1100"/>
          </a:p>
        </p:txBody>
      </p:sp>
      <p:sp>
        <p:nvSpPr>
          <p:cNvPr id="161" name="Google Shape;161;p29"/>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Peirce: The Three Irreducible Categories</a:t>
            </a:r>
            <a:endParaRPr sz="1100"/>
          </a:p>
        </p:txBody>
      </p:sp>
      <p:pic>
        <p:nvPicPr>
          <p:cNvPr descr="peirce.png" id="162" name="Google Shape;162;p29"/>
          <p:cNvPicPr preferRelativeResize="0"/>
          <p:nvPr/>
        </p:nvPicPr>
        <p:blipFill rotWithShape="1">
          <a:blip r:embed="rId3">
            <a:alphaModFix/>
          </a:blip>
          <a:srcRect b="0" l="0" r="0" t="0"/>
          <a:stretch/>
        </p:blipFill>
        <p:spPr>
          <a:xfrm>
            <a:off x="617236" y="1508760"/>
            <a:ext cx="2078272" cy="2811780"/>
          </a:xfrm>
          <a:prstGeom prst="rect">
            <a:avLst/>
          </a:prstGeom>
          <a:noFill/>
          <a:ln>
            <a:noFill/>
          </a:ln>
        </p:spPr>
      </p:pic>
      <p:sp>
        <p:nvSpPr>
          <p:cNvPr id="163" name="Google Shape;163;p29"/>
          <p:cNvSpPr txBox="1"/>
          <p:nvPr/>
        </p:nvSpPr>
        <p:spPr>
          <a:xfrm>
            <a:off x="3291928" y="1508760"/>
            <a:ext cx="5234851" cy="2651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Firstness (Monadic)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Immediate monadic potentiality without external relation.</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Secondness (Dyadic)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Direct dyadic action-reaction across points.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Thirdness (Triadic)</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Genuine synthetic mediation uniting distinct terms.</a:t>
            </a:r>
            <a:endParaRPr sz="1100"/>
          </a:p>
        </p:txBody>
      </p:sp>
      <p:sp>
        <p:nvSpPr>
          <p:cNvPr id="164" name="Google Shape;164;g1"/>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Firstness is the ball's redness. Secondness is the ball hitting Sally's hand. Thirdness is John giving Sally the ball.</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THEOREM FORMULATION</a:t>
            </a:r>
            <a:endParaRPr sz="1100"/>
          </a:p>
        </p:txBody>
      </p:sp>
      <p:sp>
        <p:nvSpPr>
          <p:cNvPr id="170" name="Google Shape;170;p30"/>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Peircean Reduction Thesis (PRT)</a:t>
            </a:r>
            <a:endParaRPr sz="1100"/>
          </a:p>
        </p:txBody>
      </p:sp>
      <p:sp>
        <p:nvSpPr>
          <p:cNvPr id="171" name="Google Shape;171;p30"/>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Thesis:</a:t>
            </a:r>
            <a:r>
              <a:rPr b="0" i="0" lang="en" sz="1700" u="none" cap="none" strike="noStrike">
                <a:solidFill>
                  <a:srgbClr val="000000"/>
                </a:solidFill>
                <a:latin typeface="Arial"/>
                <a:ea typeface="Arial"/>
                <a:cs typeface="Arial"/>
                <a:sym typeface="Arial"/>
              </a:rPr>
              <a:t> Triads do not reduce; polyads (n ≥ 4) reduce to triads.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PART 1 • NEGATIVE CLAIM — Negative Thesis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Closure Property: Dyads cannot synthesize triads.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Relational Gap: Pairwise projections lose join-irreducibility.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Universal Algebra: Strict non-generation over closed domains.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PART 2 • POSITIVE CLAIM — Positive Thesis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Subcubic Networks: All polyads form via triads.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Universal Basis: Degree-three hypergraphs span all arities.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Ternary Bound: Zero primitives required beyond triads.</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SEMIOTIC ANALYSIS</a:t>
            </a:r>
            <a:endParaRPr sz="1100"/>
          </a:p>
        </p:txBody>
      </p:sp>
      <p:sp>
        <p:nvSpPr>
          <p:cNvPr id="178" name="Google Shape;178;p31"/>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Autonomous Mediation vs. Dyadic Cascades</a:t>
            </a:r>
            <a:endParaRPr sz="1100"/>
          </a:p>
        </p:txBody>
      </p:sp>
      <p:sp>
        <p:nvSpPr>
          <p:cNvPr id="179" name="Google Shape;179;p31"/>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FACTORIZABLE — Chained Dyadic Pipeline</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throw(John, ball) • land(ball, Sally) → dyadic sequence</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Independent Stages: </a:t>
            </a:r>
            <a:r>
              <a:rPr b="0" i="0" lang="en" sz="1600" u="none" cap="none" strike="noStrike">
                <a:solidFill>
                  <a:srgbClr val="000000"/>
                </a:solidFill>
                <a:latin typeface="Arial"/>
                <a:ea typeface="Arial"/>
                <a:cs typeface="Arial"/>
                <a:sym typeface="Arial"/>
              </a:rPr>
              <a:t>The throw ends before the ball lands near Sally.</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Markov Property: </a:t>
            </a:r>
            <a:r>
              <a:rPr b="0" i="0" lang="en" sz="1600" u="none" cap="none" strike="noStrike">
                <a:solidFill>
                  <a:srgbClr val="000000"/>
                </a:solidFill>
                <a:latin typeface="Arial"/>
                <a:ea typeface="Arial"/>
                <a:cs typeface="Arial"/>
                <a:sym typeface="Arial"/>
              </a:rPr>
              <a:t>The ball in flight screens off John from Sally.</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Zero Integration: </a:t>
            </a:r>
            <a:r>
              <a:rPr b="0" i="0" lang="en" sz="1600" u="none" cap="none" strike="noStrike">
                <a:solidFill>
                  <a:srgbClr val="000000"/>
                </a:solidFill>
                <a:latin typeface="Arial"/>
                <a:ea typeface="Arial"/>
                <a:cs typeface="Arial"/>
                <a:sym typeface="Arial"/>
              </a:rPr>
              <a:t>The event is just the throw plus the landing.</a:t>
            </a:r>
            <a:endParaRPr sz="1100"/>
          </a:p>
          <a:p>
            <a:pPr indent="0" lvl="0" marL="0" marR="0" rtl="0" algn="l">
              <a:spcBef>
                <a:spcPts val="1000"/>
              </a:spcBef>
              <a:spcAft>
                <a:spcPts val="0"/>
              </a:spcAft>
              <a:buNone/>
            </a:pPr>
            <a:r>
              <a:rPr b="1" i="0" lang="en" sz="1600" u="none" cap="none" strike="noStrike">
                <a:solidFill>
                  <a:srgbClr val="000000"/>
                </a:solidFill>
                <a:latin typeface="Arial"/>
                <a:ea typeface="Arial"/>
                <a:cs typeface="Arial"/>
                <a:sym typeface="Arial"/>
              </a:rPr>
              <a:t>NON-FACTORIZABLE — Genuine Triadic Transaction</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gives(John, ball, Sally) ≠ R1(John, ball) × R2(ball, Sally)</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Simultaneous Binding: </a:t>
            </a:r>
            <a:r>
              <a:rPr b="0" i="0" lang="en" sz="1600" u="none" cap="none" strike="noStrike">
                <a:solidFill>
                  <a:srgbClr val="000000"/>
                </a:solidFill>
                <a:latin typeface="Arial"/>
                <a:ea typeface="Arial"/>
                <a:cs typeface="Arial"/>
                <a:sym typeface="Arial"/>
              </a:rPr>
              <a:t>John, ball, and Sally are bound in one act.</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Irreducible Mediant: </a:t>
            </a:r>
            <a:r>
              <a:rPr b="0" i="0" lang="en" sz="1600" u="none" cap="none" strike="noStrike">
                <a:solidFill>
                  <a:srgbClr val="000000"/>
                </a:solidFill>
                <a:latin typeface="Arial"/>
                <a:ea typeface="Arial"/>
                <a:cs typeface="Arial"/>
                <a:sym typeface="Arial"/>
              </a:rPr>
              <a:t>The ball is a gift only between John and Sally.</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Triadic Wholeness: </a:t>
            </a:r>
            <a:r>
              <a:rPr b="0" i="0" lang="en" sz="1600" u="none" cap="none" strike="noStrike">
                <a:solidFill>
                  <a:srgbClr val="000000"/>
                </a:solidFill>
                <a:latin typeface="Arial"/>
                <a:ea typeface="Arial"/>
                <a:cs typeface="Arial"/>
                <a:sym typeface="Arial"/>
              </a:rPr>
              <a:t>Split the give into pairs and the gift is gone.</a:t>
            </a:r>
            <a:endParaRPr sz="1100"/>
          </a:p>
        </p:txBody>
      </p:sp>
      <p:sp>
        <p:nvSpPr>
          <p:cNvPr id="180" name="Google Shape;180;g1"/>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the throw is a pipeline; the give is one transaction.</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32"/>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TOPOLOGICAL PROOF</a:t>
            </a:r>
            <a:endParaRPr sz="1100"/>
          </a:p>
        </p:txBody>
      </p:sp>
      <p:sp>
        <p:nvSpPr>
          <p:cNvPr id="186" name="Google Shape;186;p32"/>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Topological Obstructions to Dyadic Synthesis</a:t>
            </a:r>
            <a:endParaRPr sz="1100"/>
          </a:p>
        </p:txBody>
      </p:sp>
      <p:pic>
        <p:nvPicPr>
          <p:cNvPr descr="valency.png" id="187" name="Google Shape;187;p32"/>
          <p:cNvPicPr preferRelativeResize="0"/>
          <p:nvPr/>
        </p:nvPicPr>
        <p:blipFill rotWithShape="1">
          <a:blip r:embed="rId3">
            <a:alphaModFix/>
          </a:blip>
          <a:srcRect b="0" l="0" r="0" t="0"/>
          <a:stretch/>
        </p:blipFill>
        <p:spPr>
          <a:xfrm>
            <a:off x="617236" y="1508760"/>
            <a:ext cx="2331720" cy="1237657"/>
          </a:xfrm>
          <a:prstGeom prst="rect">
            <a:avLst/>
          </a:prstGeom>
          <a:noFill/>
          <a:ln>
            <a:noFill/>
          </a:ln>
        </p:spPr>
      </p:pic>
      <p:sp>
        <p:nvSpPr>
          <p:cNvPr id="188" name="Google Shape;188;p32"/>
          <p:cNvSpPr txBox="1"/>
          <p:nvPr/>
        </p:nvSpPr>
        <p:spPr>
          <a:xfrm>
            <a:off x="617236" y="2849288"/>
            <a:ext cx="2331782"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200" u="none" cap="none" strike="noStrike">
                <a:solidFill>
                  <a:srgbClr val="000000"/>
                </a:solidFill>
                <a:latin typeface="Arial"/>
                <a:ea typeface="Arial"/>
                <a:cs typeface="Arial"/>
                <a:sym typeface="Arial"/>
              </a:rPr>
              <a:t>Bonding Rule: 2 + 2 - 2 = 2</a:t>
            </a:r>
            <a:endParaRPr sz="1100"/>
          </a:p>
        </p:txBody>
      </p:sp>
      <p:sp>
        <p:nvSpPr>
          <p:cNvPr id="189" name="Google Shape;189;p32"/>
          <p:cNvSpPr txBox="1"/>
          <p:nvPr/>
        </p:nvSpPr>
        <p:spPr>
          <a:xfrm>
            <a:off x="3291928" y="1508760"/>
            <a:ext cx="5234851"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Valency Conservation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Connecting dyadic relations yields purely linear paths.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Topological Barrier</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Degree-two vertices cannot construct a branch.</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Trivalent Junction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Every branching junction is intrinsically triadic.</a:t>
            </a:r>
            <a:endParaRPr sz="1100"/>
          </a:p>
        </p:txBody>
      </p:sp>
      <p:sp>
        <p:nvSpPr>
          <p:cNvPr id="1001" name="Google Shape;1001;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the throw is a line with no branch; the give branches where John, the ball and Sally meet.</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33"/>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ALGEBRAIC PRIMITIVE</a:t>
            </a:r>
            <a:endParaRPr sz="1100"/>
          </a:p>
        </p:txBody>
      </p:sp>
      <p:sp>
        <p:nvSpPr>
          <p:cNvPr id="196" name="Google Shape;196;p33"/>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Teridentity Relation: =_3</a:t>
            </a:r>
            <a:endParaRPr sz="1100"/>
          </a:p>
        </p:txBody>
      </p:sp>
      <p:sp>
        <p:nvSpPr>
          <p:cNvPr id="197" name="Google Shape;197;p33"/>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=_3 = {(x, x, x) </a:t>
            </a:r>
            <a:r>
              <a:rPr b="0" i="0" lang="en" sz="1700" u="none" cap="none" strike="noStrike">
                <a:solidFill>
                  <a:srgbClr val="000000"/>
                </a:solidFill>
                <a:latin typeface="Cambria Math"/>
                <a:ea typeface="Cambria Math"/>
                <a:cs typeface="Cambria Math"/>
                <a:sym typeface="Cambria Math"/>
              </a:rPr>
              <a:t>∈</a:t>
            </a:r>
            <a:r>
              <a:rPr b="0" i="0" lang="en" sz="1700" u="none" cap="none" strike="noStrike">
                <a:solidFill>
                  <a:srgbClr val="000000"/>
                </a:solidFill>
                <a:latin typeface="Arial"/>
                <a:ea typeface="Arial"/>
                <a:cs typeface="Arial"/>
                <a:sym typeface="Arial"/>
              </a:rPr>
              <a:t> X³ | x </a:t>
            </a:r>
            <a:r>
              <a:rPr b="0" i="0" lang="en" sz="1700" u="none" cap="none" strike="noStrike">
                <a:solidFill>
                  <a:srgbClr val="000000"/>
                </a:solidFill>
                <a:latin typeface="Cambria Math"/>
                <a:ea typeface="Cambria Math"/>
                <a:cs typeface="Cambria Math"/>
                <a:sym typeface="Cambria Math"/>
              </a:rPr>
              <a:t>∈</a:t>
            </a:r>
            <a:r>
              <a:rPr b="0" i="0" lang="en" sz="1700" u="none" cap="none" strike="noStrike">
                <a:solidFill>
                  <a:srgbClr val="000000"/>
                </a:solidFill>
                <a:latin typeface="Arial"/>
                <a:ea typeface="Arial"/>
                <a:cs typeface="Arial"/>
                <a:sym typeface="Arial"/>
              </a:rPr>
              <a:t> X}</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Branching Identity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Variable duplication across lines.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Burch's Proof (1991)</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Unprovable from binary identity.</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Join-Irreducible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Minimal algebraic generator.</a:t>
            </a:r>
            <a:endParaRPr sz="1100"/>
          </a:p>
        </p:txBody>
      </p:sp>
      <p:sp>
        <p:nvSpPr>
          <p:cNvPr id="1002" name="Google Shape;1002;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teridentity is the same ball in John's hand, in the handing-over, and in Sally's hand.</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34"/>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NOMINALIST CHALLENGE</a:t>
            </a:r>
            <a:endParaRPr sz="1100"/>
          </a:p>
        </p:txBody>
      </p:sp>
      <p:sp>
        <p:nvSpPr>
          <p:cNvPr id="204" name="Google Shape;204;p34"/>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Quine’s Dyadic Translation (1954)</a:t>
            </a:r>
            <a:endParaRPr sz="1100"/>
          </a:p>
        </p:txBody>
      </p:sp>
      <p:pic>
        <p:nvPicPr>
          <p:cNvPr descr="quine.png" id="205" name="Google Shape;205;p34"/>
          <p:cNvPicPr preferRelativeResize="0"/>
          <p:nvPr/>
        </p:nvPicPr>
        <p:blipFill rotWithShape="1">
          <a:blip r:embed="rId3">
            <a:alphaModFix/>
          </a:blip>
          <a:srcRect b="0" l="0" r="0" t="0"/>
          <a:stretch/>
        </p:blipFill>
        <p:spPr>
          <a:xfrm>
            <a:off x="617236" y="1508760"/>
            <a:ext cx="2078272" cy="2811780"/>
          </a:xfrm>
          <a:prstGeom prst="rect">
            <a:avLst/>
          </a:prstGeom>
          <a:noFill/>
          <a:ln>
            <a:noFill/>
          </a:ln>
        </p:spPr>
      </p:pic>
      <p:sp>
        <p:nvSpPr>
          <p:cNvPr id="206" name="Google Shape;206;p34"/>
          <p:cNvSpPr txBox="1"/>
          <p:nvPr/>
        </p:nvSpPr>
        <p:spPr>
          <a:xfrm>
            <a:off x="3291928" y="1508760"/>
            <a:ext cx="5234851"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Quine: “There is only one predicate letter, and it a dyadic one.”</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Extensional Translation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Encodes ternary predicates into binary membership over tuples.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Tuple Stratification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R(x, y, z) maps to dyadic predicate </a:t>
            </a:r>
            <a:r>
              <a:rPr b="0" i="0" lang="en" sz="1700" u="none" cap="none" strike="noStrike">
                <a:solidFill>
                  <a:srgbClr val="000000"/>
                </a:solidFill>
                <a:latin typeface="Cambria Math"/>
                <a:ea typeface="Cambria Math"/>
                <a:cs typeface="Cambria Math"/>
                <a:sym typeface="Cambria Math"/>
              </a:rPr>
              <a:t>∈</a:t>
            </a:r>
            <a:r>
              <a:rPr b="0" i="0" lang="en" sz="1700" u="none" cap="none" strike="noStrike">
                <a:solidFill>
                  <a:srgbClr val="000000"/>
                </a:solidFill>
                <a:latin typeface="Arial"/>
                <a:ea typeface="Arial"/>
                <a:cs typeface="Arial"/>
                <a:sym typeface="Arial"/>
              </a:rPr>
              <a:t> over pairs.</a:t>
            </a:r>
            <a:endParaRPr sz="1100"/>
          </a:p>
        </p:txBody>
      </p:sp>
      <p:sp>
        <p:nvSpPr>
          <p:cNvPr id="1003" name="Google Shape;1003;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Quine rewrites gives(John, ball, Sally) as one two-place predicate between John and a new object, the pair ⟨ball, Sally⟩.</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35"/>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CRITICAL EXPOSURE</a:t>
            </a:r>
            <a:endParaRPr sz="1100"/>
          </a:p>
        </p:txBody>
      </p:sp>
      <p:sp>
        <p:nvSpPr>
          <p:cNvPr id="213" name="Google Shape;213;p35"/>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Deconstructing Quine’s Fallacy</a:t>
            </a:r>
            <a:endParaRPr sz="1100"/>
          </a:p>
        </p:txBody>
      </p:sp>
      <p:sp>
        <p:nvSpPr>
          <p:cNvPr id="214" name="Google Shape;214;p35"/>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Domain Escalation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The universe must be closed under pairing.</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Smuggled Teridentity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Pairing functions hide teridentity.</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Fixed-Domain Failure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Reduction fails when the domain is held fixed.</a:t>
            </a:r>
            <a:endParaRPr sz="1100"/>
          </a:p>
        </p:txBody>
      </p:sp>
      <p:sp>
        <p:nvSpPr>
          <p:cNvPr id="1004" name="Google Shape;1004;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the pair ⟨ball, Sally⟩ was never in the room, and pairing is itself a three-place tie.</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36"/>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MATHEMATICAL RESOLUTION</a:t>
            </a:r>
            <a:endParaRPr sz="1100"/>
          </a:p>
        </p:txBody>
      </p:sp>
      <p:sp>
        <p:nvSpPr>
          <p:cNvPr id="221" name="Google Shape;221;p36"/>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Relational Co-Clones and Expressive Power</a:t>
            </a:r>
            <a:endParaRPr sz="1100"/>
          </a:p>
        </p:txBody>
      </p:sp>
      <p:sp>
        <p:nvSpPr>
          <p:cNvPr id="222" name="Google Shape;222;p36"/>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BURCH (1991) — Peircean Algebra</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Irreducible under project-join operations.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HERETH &amp; PÖSCHEL (2006) — Clone Independence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Teridentity cannot be generated.</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KOSHKIN (2024) — Domain Thresholds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Full predicate calculus analysis.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BOOLEAN HORIZON — Two-Valued Space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Non-factorizable gates stay irreducible.</a:t>
            </a:r>
            <a:endParaRPr sz="1100"/>
          </a:p>
        </p:txBody>
      </p:sp>
      <p:sp>
        <p:nvSpPr>
          <p:cNvPr id="1005" name="Google Shape;1005;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with only John, the ball and Sally in the room, no chain of pairs rebuilds the gift.</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37"/>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INFORMATION DECOMPOSITION</a:t>
            </a:r>
            <a:endParaRPr sz="1100"/>
          </a:p>
        </p:txBody>
      </p:sp>
      <p:sp>
        <p:nvSpPr>
          <p:cNvPr id="229" name="Google Shape;229;p37"/>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Synergistic Teridentity Correspondence</a:t>
            </a:r>
            <a:endParaRPr sz="1100"/>
          </a:p>
        </p:txBody>
      </p:sp>
      <p:sp>
        <p:nvSpPr>
          <p:cNvPr id="230" name="Google Shape;230;p37"/>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WILLIAMS &amp; BEER (2010) PID</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I(X1, X2; Y) = Red + Un1 + Un2 + Syn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Synergy is the dynamic, measure-theoretic manifestation of teridentity =_3.</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Canonical Case: 2-Input XOR</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Y = X1 </a:t>
            </a:r>
            <a:r>
              <a:rPr b="0" i="0" lang="en" sz="1700" u="none" cap="none" strike="noStrike">
                <a:solidFill>
                  <a:srgbClr val="000000"/>
                </a:solidFill>
                <a:latin typeface="Cambria Math"/>
                <a:ea typeface="Cambria Math"/>
                <a:cs typeface="Cambria Math"/>
                <a:sym typeface="Cambria Math"/>
              </a:rPr>
              <a:t>⊕</a:t>
            </a:r>
            <a:r>
              <a:rPr b="0" i="0" lang="en" sz="1700" u="none" cap="none" strike="noStrike">
                <a:solidFill>
                  <a:srgbClr val="000000"/>
                </a:solidFill>
                <a:latin typeface="Arial"/>
                <a:ea typeface="Arial"/>
                <a:cs typeface="Arial"/>
                <a:sym typeface="Arial"/>
              </a:rPr>
              <a:t> X2 • Syn(X1, X2; Y) = 1.0 bit</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Marginal Vanishing: Individual mutual informations I(Xi; Y) = 0.</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Joint Determination: Knowledge of both sources uniquely determines output.</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Join-Irreducible Support: Parity forms non-factorizable relational subset.</a:t>
            </a:r>
            <a:endParaRPr sz="1100"/>
          </a:p>
        </p:txBody>
      </p:sp>
      <p:sp>
        <p:nvSpPr>
          <p:cNvPr id="1006" name="Google Shape;1006;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Sally's having the ball depends on John and the ball jointly; neither alone tells you she has it.</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8"/>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CAUSAL INTEGRATION</a:t>
            </a:r>
            <a:endParaRPr sz="1100"/>
          </a:p>
        </p:txBody>
      </p:sp>
      <p:sp>
        <p:nvSpPr>
          <p:cNvPr id="237" name="Google Shape;237;p38"/>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Causal Test (IIT 4.0)</a:t>
            </a:r>
            <a:endParaRPr sz="1100"/>
          </a:p>
        </p:txBody>
      </p:sp>
      <p:sp>
        <p:nvSpPr>
          <p:cNvPr id="238" name="Google Shape;238;p38"/>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Φ = 0</a:t>
            </a:r>
            <a:r>
              <a:rPr b="0" i="0" lang="en" sz="1700" u="none" cap="none" strike="noStrike">
                <a:solidFill>
                  <a:srgbClr val="000000"/>
                </a:solidFill>
                <a:latin typeface="Arial"/>
                <a:ea typeface="Arial"/>
                <a:cs typeface="Arial"/>
                <a:sym typeface="Arial"/>
              </a:rPr>
              <a:t> — the system factors: cutting its weakest seam loses nothing.</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Φ &gt; 0</a:t>
            </a:r>
            <a:r>
              <a:rPr b="0" i="0" lang="en" sz="1700" u="none" cap="none" strike="noStrike">
                <a:solidFill>
                  <a:srgbClr val="000000"/>
                </a:solidFill>
                <a:latin typeface="Arial"/>
                <a:ea typeface="Arial"/>
                <a:cs typeface="Arial"/>
                <a:sym typeface="Arial"/>
              </a:rPr>
              <a:t> — the system is a whole: no cut leaves it as it was.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Wholeness Is Not Yet a Triad</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Φ says whether the system factors, not whether any member is set by two others. A ring of one-input copies is a whole at Φ = 2.0.</a:t>
            </a:r>
            <a:endParaRPr sz="1100"/>
          </a:p>
        </p:txBody>
      </p:sp>
      <p:sp>
        <p:nvSpPr>
          <p:cNvPr id="1007" name="Google Shape;1007;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the give circuit is a whole (Φ &gt; 0); the gift slide later shows how.</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39"/>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EMPIRICAL VERIFICATION</a:t>
            </a:r>
            <a:endParaRPr sz="1100"/>
          </a:p>
        </p:txBody>
      </p:sp>
      <p:sp>
        <p:nvSpPr>
          <p:cNvPr id="245" name="Google Shape;245;p39"/>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IIT 4.0 Topological Architecture Sort</a:t>
            </a:r>
            <a:endParaRPr sz="1100"/>
          </a:p>
        </p:txBody>
      </p:sp>
      <p:graphicFrame>
        <p:nvGraphicFramePr>
          <p:cNvPr id="246" name="Google Shape;246;p39"/>
          <p:cNvGraphicFramePr/>
          <p:nvPr/>
        </p:nvGraphicFramePr>
        <p:xfrm>
          <a:off x="617236" y="1714500"/>
          <a:ext cx="3000000" cy="3000000"/>
        </p:xfrm>
        <a:graphic>
          <a:graphicData uri="http://schemas.openxmlformats.org/drawingml/2006/table">
            <a:tbl>
              <a:tblPr>
                <a:noFill/>
                <a:tableStyleId>{5762D1E5-19F7-4FD5-A18D-EC55B6832050}</a:tableStyleId>
              </a:tblPr>
              <a:tblGrid>
                <a:gridCol w="1581900"/>
                <a:gridCol w="1581900"/>
                <a:gridCol w="1581900"/>
                <a:gridCol w="1581900"/>
                <a:gridCol w="1581900"/>
              </a:tblGrid>
              <a:tr h="377175">
                <a:tc>
                  <a:txBody>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Topology Class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Wiring Count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Mechanism Support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System Φ</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Causal Status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Dyadic Cascade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89 Wirings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Point-to-point lines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&gt; 0 in 8</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No Member Set by Two Others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Dyadic Ring</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One of the 89</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Recurrent pairs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 2.0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Whole Without a Triad</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Uncoupled Triad</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11 / 30 Systems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Two-input gate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 0.0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Triad Without a Whole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Integrated Triad</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5 / 30 Systems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Two-input gate in the loop</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Φ &gt; 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Genuine Triadic Complex</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40"/>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SYNTHESIS &amp; CONCLUSION</a:t>
            </a:r>
            <a:endParaRPr sz="1100"/>
          </a:p>
        </p:txBody>
      </p:sp>
      <p:sp>
        <p:nvSpPr>
          <p:cNvPr id="253" name="Google Shape;253;p40"/>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The Ontological Reality of Algorithmacy</a:t>
            </a:r>
            <a:endParaRPr sz="1100"/>
          </a:p>
        </p:txBody>
      </p:sp>
      <p:sp>
        <p:nvSpPr>
          <p:cNvPr id="254" name="Google Shape;254;p40"/>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Quine's reduction is real but narrow: it translates first-order theories once pairs are added to the world. Hold the world fixed, and triads do not reduce to dyads. Algorithmacy is the facility for navigating those irreducible triadic systems.</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Join-Irreducible Thirdness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Measure-Theoretic Synergy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Positive Causal Integration (Φ &gt; 0)</a:t>
            </a:r>
            <a:endParaRPr sz="1100"/>
          </a:p>
        </p:txBody>
      </p:sp>
      <p:sp>
        <p:nvSpPr>
          <p:cNvPr id="1008" name="Google Shape;1008;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the throw reduces to pairs; the gift does not.</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41"/>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FROM THE LAB</a:t>
            </a:r>
            <a:endParaRPr sz="1100"/>
          </a:p>
        </p:txBody>
      </p:sp>
      <p:sp>
        <p:nvSpPr>
          <p:cNvPr id="261" name="Google Shape;261;p41"/>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Genuine Giving and Its Imitation</a:t>
            </a:r>
            <a:endParaRPr sz="1100"/>
          </a:p>
        </p:txBody>
      </p:sp>
      <p:sp>
        <p:nvSpPr>
          <p:cNvPr id="262" name="Google Shape;262;p41"/>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Same Members, Same Φ</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John, the ball, Sally. Both circuits hold together as wholes: Φ = 2.0.</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Genuine Giving</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Sally's possession is set by John and the ball together.</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The Imitation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Each member answers to one other. Φ cannot tell it from the real thing.</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The Difference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One member set by the other two, inside the whole. Only the gift has it.</a:t>
            </a:r>
            <a:endParaRPr sz="1100"/>
          </a:p>
        </p:txBody>
      </p:sp>
      <p:sp>
        <p:nvSpPr>
          <p:cNvPr id="1011" name="Google Shape;1011;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Φ sees two wholes; only the gift has Sally set by John and the ball.</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42"/>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FROM THE LAB</a:t>
            </a:r>
            <a:endParaRPr sz="1100"/>
          </a:p>
        </p:txBody>
      </p:sp>
      <p:sp>
        <p:nvSpPr>
          <p:cNvPr id="269" name="Google Shape;269;p42"/>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A Vote Is Not Always a Whole</a:t>
            </a:r>
            <a:endParaRPr sz="1100"/>
          </a:p>
        </p:txBody>
      </p:sp>
      <p:sp>
        <p:nvSpPr>
          <p:cNvPr id="270" name="Google Shape;270;p42"/>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Majority Rule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Three members, each following the majority of the three: Φ = 0.0. The system factors.</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Unanimity Rule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Each member goes only when all three say yes: Φ = 6.0. No cut leaves it whole.</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A Caveat</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 related quorum form, three parties reading a mediator that moves on any two, factors under IIT 4.0 and binds under IIT 3.0.</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43"/>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FROM THE LAB</a:t>
            </a:r>
            <a:endParaRPr sz="1100"/>
          </a:p>
        </p:txBody>
      </p:sp>
      <p:sp>
        <p:nvSpPr>
          <p:cNvPr id="277" name="Google Shape;277;p43"/>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Irreducible by Law, or by Nature</a:t>
            </a:r>
            <a:endParaRPr sz="1100"/>
          </a:p>
        </p:txBody>
      </p:sp>
      <p:sp>
        <p:nvSpPr>
          <p:cNvPr id="278" name="Google Shape;278;p43"/>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The Car Dealer</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Maker, dealer, buyer, in a ring franchise law closes. The dealer is inside: Φ = 2.0.</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Lift the Ban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Let the maker sell direct: Φ = 2.0 → 0.0. The dealer drops out.</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The Clearinghouse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 third that needs both sides to act keeps its place: Φ = 2.0 → 2.0.</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The Brokerage Types, Sorted the Same Way</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Keeps two sides apart: contingent. Needs both sides: necessary. Introduces them, then steps aside: reducible.</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44"/>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JOIN THE LAB</a:t>
            </a:r>
            <a:endParaRPr sz="1100"/>
          </a:p>
        </p:txBody>
      </p:sp>
      <p:sp>
        <p:nvSpPr>
          <p:cNvPr id="285" name="Google Shape;285;p44"/>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Fork the Repository</a:t>
            </a:r>
            <a:endParaRPr sz="1100"/>
          </a:p>
        </p:txBody>
      </p:sp>
      <p:sp>
        <p:nvSpPr>
          <p:cNvPr id="286" name="Google Shape;286;p44"/>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github.com/rogerSuperBuilderAlpha/algorithmacy-lab — MIT license, Python 3.10+</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Validate, Then Run One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python -m org_frontier.classifier.validate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python -m org_frontier.probes.probe_conjunctive_law</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Ask Your Own Question</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python -m org_frontier.protocol.new_question, then commit hypotheses.md first.</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Publish</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Register every number in ci/reproduce.json. Pull request into contrib. Nulls count.</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45"/>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JOIN THE LAB</a:t>
            </a:r>
            <a:endParaRPr sz="1100"/>
          </a:p>
        </p:txBody>
      </p:sp>
      <p:sp>
        <p:nvSpPr>
          <p:cNvPr id="293" name="Google Shape;293;p45"/>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Questions Waiting for Someone</a:t>
            </a:r>
            <a:endParaRPr sz="1100"/>
          </a:p>
        </p:txBody>
      </p:sp>
      <p:sp>
        <p:nvSpPr>
          <p:cNvPr id="294" name="Google Shape;294;p45"/>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700" u="none" cap="none" strike="noStrike">
                <a:solidFill>
                  <a:srgbClr val="000000"/>
                </a:solidFill>
                <a:latin typeface="Arial"/>
                <a:ea typeface="Arial"/>
                <a:cs typeface="Arial"/>
                <a:sym typeface="Arial"/>
              </a:rPr>
              <a:t>Real People</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Our one verdict on real gaze data changes with the coding. Which coding is right?</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Real Rules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 field case with two coders agreeing on what sets each action. Nobody has run one.</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Bigger Forms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Cliques of two to five read Φ = 2, 6, 12, 20. Six and up, and Shapley membership on larger forms: open.</a:t>
            </a:r>
            <a:endParaRPr sz="1100"/>
          </a:p>
          <a:p>
            <a:pPr indent="0" lvl="0" marL="0" marR="0" rtl="0" algn="l">
              <a:spcBef>
                <a:spcPts val="1200"/>
              </a:spcBef>
              <a:spcAft>
                <a:spcPts val="0"/>
              </a:spcAft>
              <a:buNone/>
            </a:pPr>
            <a:r>
              <a:rPr b="1" i="0" lang="en" sz="1700" u="none" cap="none" strike="noStrike">
                <a:solidFill>
                  <a:srgbClr val="000000"/>
                </a:solidFill>
                <a:latin typeface="Arial"/>
                <a:ea typeface="Arial"/>
                <a:cs typeface="Arial"/>
                <a:sym typeface="Arial"/>
              </a:rPr>
              <a:t>Softer Channels</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A graded channel. Weighted or noisy quorums. An arrangement that is algorithmacy but not directive algorithmic management.</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46"/>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LIVE</a:t>
            </a:r>
            <a:endParaRPr sz="1100"/>
          </a:p>
        </p:txBody>
      </p:sp>
      <p:sp>
        <p:nvSpPr>
          <p:cNvPr id="301" name="Google Shape;301;p46"/>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What Questions Are You Interested In?</a:t>
            </a:r>
            <a:endParaRPr sz="1100"/>
          </a:p>
        </p:txBody>
      </p:sp>
      <p:sp>
        <p:nvSpPr>
          <p:cNvPr id="302" name="Google Shape;302;p46"/>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Name three or four parties and say who acts on whom.</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A plain sentence is enough: "The dispatcher assigns a job only when a driver and a rider both accept."</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We build it as a small circuit, compute Φ and the core, and read who is set by two others.</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A few seconds per form. A zero is a result too. Small Boolean models, not people.</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47"/>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LIVE</a:t>
            </a:r>
            <a:endParaRPr sz="1100"/>
          </a:p>
        </p:txBody>
      </p:sp>
      <p:sp>
        <p:nvSpPr>
          <p:cNvPr id="309" name="Google Shape;309;p47"/>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If the Laptop Fails</a:t>
            </a:r>
            <a:endParaRPr sz="1100"/>
          </a:p>
        </p:txBody>
      </p:sp>
      <p:graphicFrame>
        <p:nvGraphicFramePr>
          <p:cNvPr id="310" name="Google Shape;310;p47"/>
          <p:cNvGraphicFramePr/>
          <p:nvPr/>
        </p:nvGraphicFramePr>
        <p:xfrm>
          <a:off x="617236" y="1714500"/>
          <a:ext cx="3000000" cy="3000000"/>
        </p:xfrm>
        <a:graphic>
          <a:graphicData uri="http://schemas.openxmlformats.org/drawingml/2006/table">
            <a:tbl>
              <a:tblPr>
                <a:noFill/>
                <a:tableStyleId>{5762D1E5-19F7-4FD5-A18D-EC55B6832050}</a:tableStyleId>
              </a:tblPr>
              <a:tblGrid>
                <a:gridCol w="1977375"/>
                <a:gridCol w="1977375"/>
                <a:gridCol w="1977375"/>
                <a:gridCol w="1977375"/>
              </a:tblGrid>
              <a:tr h="377175">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The sentence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Φ</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Verdict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200">
                          <a:solidFill>
                            <a:srgbClr val="000000"/>
                          </a:solidFill>
                          <a:latin typeface="Arial"/>
                          <a:ea typeface="Arial"/>
                          <a:cs typeface="Arial"/>
                          <a:sym typeface="Arial"/>
                        </a:rPr>
                        <a:t>Core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Dispatcher assigns only when driver and rider both accept; both wait on it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2.0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whole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all three; dispatcher set by driver and rider</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Client and worker now answer each other directly; the manager still hears both, but nobody waits on the manager</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0.0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factors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client and worker</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Committee of three: by majority, then by unanimity</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0.0, then 6.0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factors, then whole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none, then all three</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Dealer between maker and buyer; then the maker may sell direct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2.0, then 0.0</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whole, then factors</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200">
                          <a:solidFill>
                            <a:srgbClr val="000000"/>
                          </a:solidFill>
                          <a:latin typeface="Arial"/>
                          <a:ea typeface="Arial"/>
                          <a:cs typeface="Arial"/>
                          <a:sym typeface="Arial"/>
                        </a:rPr>
                        <a:t>all three; then the dealer drops out</a:t>
                      </a:r>
                      <a:endParaRPr sz="11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48"/>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Image Sources</a:t>
            </a:r>
            <a:endParaRPr sz="1100"/>
          </a:p>
        </p:txBody>
      </p:sp>
      <p:sp>
        <p:nvSpPr>
          <p:cNvPr id="317" name="Google Shape;317;p48"/>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900" u="none" cap="none" strike="noStrike">
                <a:solidFill>
                  <a:srgbClr val="000000"/>
                </a:solidFill>
                <a:latin typeface="Arial"/>
                <a:ea typeface="Arial"/>
                <a:cs typeface="Arial"/>
                <a:sym typeface="Arial"/>
              </a:rPr>
              <a:t>https://footnotes2plato.com/wp-content/uploads/2024/09/charles_sanders_peirce-colorized_cleanup-enhanced.jpg?w=640</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Source: footnotes2plato.com</a:t>
            </a:r>
            <a:endParaRPr sz="1100"/>
          </a:p>
          <a:p>
            <a:pPr indent="0" lvl="0" marL="0" marR="0" rtl="0" algn="l">
              <a:spcBef>
                <a:spcPts val="1200"/>
              </a:spcBef>
              <a:spcAft>
                <a:spcPts val="0"/>
              </a:spcAft>
              <a:buNone/>
            </a:pPr>
            <a:r>
              <a:rPr b="0" i="0" lang="en" sz="900" u="none" cap="none" strike="noStrike">
                <a:solidFill>
                  <a:srgbClr val="000000"/>
                </a:solidFill>
                <a:latin typeface="Arial"/>
                <a:ea typeface="Arial"/>
                <a:cs typeface="Arial"/>
                <a:sym typeface="Arial"/>
              </a:rPr>
              <a:t>https://cdn.britannica.com/33/171633-050-ED21E678/Willard-Van-Orman-Quine-1958.jpg</a:t>
            </a:r>
            <a:endParaRPr sz="1100"/>
          </a:p>
          <a:p>
            <a:pPr indent="0" lvl="0" marL="0" marR="0" rtl="0" algn="l">
              <a:spcBef>
                <a:spcPts val="300"/>
              </a:spcBef>
              <a:spcAft>
                <a:spcPts val="0"/>
              </a:spcAft>
              <a:buNone/>
            </a:pPr>
            <a:r>
              <a:rPr b="0" i="0" lang="en" sz="1700" u="none" cap="none" strike="noStrike">
                <a:solidFill>
                  <a:srgbClr val="000000"/>
                </a:solidFill>
                <a:latin typeface="Arial"/>
                <a:ea typeface="Arial"/>
                <a:cs typeface="Arial"/>
                <a:sym typeface="Arial"/>
              </a:rPr>
              <a:t>Source: www.britannica.com</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RUNNING EXAMPLE</a:t>
            </a:r>
            <a:endParaRPr sz="1100"/>
          </a:p>
        </p:txBody>
      </p:sp>
      <p:sp>
        <p:nvSpPr>
          <p:cNvPr id="178" name="Google Shape;178;p31"/>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John, Sally, and a Ball</a:t>
            </a:r>
            <a:endParaRPr sz="1100"/>
          </a:p>
        </p:txBody>
      </p:sp>
      <p:sp>
        <p:nvSpPr>
          <p:cNvPr id="179" name="Google Shape;179;p31"/>
          <p:cNvSpPr txBox="1"/>
          <p:nvPr/>
        </p:nvSpPr>
        <p:spPr>
          <a:xfrm>
            <a:off x="617236" y="150876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THROW — a chain of pairs</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John throws; the ball lands near Sally.</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Two steps: John→ball, then ball→Sally.</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Each step ends before the next starts.</a:t>
            </a:r>
            <a:endParaRPr sz="1100"/>
          </a:p>
        </p:txBody>
      </p:sp>
      <p:sp>
        <p:nvSpPr>
          <p:cNvPr id="180" name="Google Shape;180;g1"/>
          <p:cNvSpPr txBox="1"/>
          <p:nvPr/>
        </p:nvSpPr>
        <p:spPr>
          <a:xfrm>
            <a:off x="4777740" y="150876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GIVE — a triad</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John gives Sally the ball.</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Sally's having the ball is set by John and the ball together.</a:t>
            </a:r>
            <a:endParaRPr sz="1100"/>
          </a:p>
          <a:p>
            <a:pPr indent="0" lvl="0" marL="0" marR="0" rtl="0" algn="l">
              <a:spcBef>
                <a:spcPts val="900"/>
              </a:spcBef>
              <a:spcAft>
                <a:spcPts val="0"/>
              </a:spcAft>
              <a:buNone/>
            </a:pPr>
            <a:r>
              <a:rPr b="0" i="0" lang="en" sz="1600" u="none" cap="none" strike="noStrike">
                <a:solidFill>
                  <a:srgbClr val="000000"/>
                </a:solidFill>
                <a:latin typeface="Arial"/>
                <a:ea typeface="Arial"/>
                <a:cs typeface="Arial"/>
                <a:sym typeface="Arial"/>
              </a:rPr>
              <a:t>Neither step alone is a gift.</a:t>
            </a:r>
            <a:endParaRPr sz="1100"/>
          </a:p>
        </p:txBody>
      </p:sp>
      <p:sp>
        <p:nvSpPr>
          <p:cNvPr id="181" name="Google Shape;181;g1"/>
          <p:cNvSpPr txBox="1"/>
          <p:nvPr/>
        </p:nvSpPr>
        <p:spPr>
          <a:xfrm>
            <a:off x="617220" y="3794760"/>
            <a:ext cx="790956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We follow this one example through every slide.</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FINAL RESULT</a:t>
            </a:r>
            <a:endParaRPr sz="1100"/>
          </a:p>
        </p:txBody>
      </p:sp>
      <p:sp>
        <p:nvSpPr>
          <p:cNvPr id="170" name="Google Shape;170;p30"/>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Where Quine's Reduction Holds</a:t>
            </a:r>
            <a:endParaRPr sz="1100"/>
          </a:p>
        </p:txBody>
      </p:sp>
      <p:sp>
        <p:nvSpPr>
          <p:cNvPr id="171" name="Google Shape;171;p30"/>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Thesis: </a:t>
            </a:r>
            <a:r>
              <a:rPr b="0" i="0" lang="en" sz="1500" u="none" cap="none" strike="noStrike">
                <a:solidFill>
                  <a:srgbClr val="000000"/>
                </a:solidFill>
                <a:latin typeface="Arial"/>
                <a:ea typeface="Arial"/>
                <a:cs typeface="Arial"/>
                <a:sym typeface="Arial"/>
              </a:rPr>
              <a:t>Quine is right only when all three conditions hold.</a:t>
            </a:r>
            <a:endParaRPr sz="1100"/>
          </a:p>
          <a:p>
            <a:pPr indent="0" lvl="0" marL="0" marR="0" rtl="0" algn="l">
              <a:spcBef>
                <a:spcPts val="900"/>
              </a:spcBef>
              <a:spcAft>
                <a:spcPts val="0"/>
              </a:spcAft>
              <a:buNone/>
            </a:pPr>
            <a:r>
              <a:rPr b="1" i="0" lang="en" sz="1500" u="none" cap="none" strike="noStrike">
                <a:solidFill>
                  <a:srgbClr val="000000"/>
                </a:solidFill>
                <a:latin typeface="Arial"/>
                <a:ea typeface="Arial"/>
                <a:cs typeface="Arial"/>
                <a:sym typeface="Arial"/>
              </a:rPr>
              <a:t>WHEN IT HOLDS</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1. The Domain Grows: </a:t>
            </a:r>
            <a:r>
              <a:rPr b="0" i="0" lang="en" sz="1500" u="none" cap="none" strike="noStrike">
                <a:solidFill>
                  <a:srgbClr val="000000"/>
                </a:solidFill>
                <a:latin typeface="Arial"/>
                <a:ea typeface="Arial"/>
                <a:cs typeface="Arial"/>
                <a:sym typeface="Arial"/>
              </a:rPr>
              <a:t>pairs, and pairs of pairs, are added as new objects.</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2. Pairing Is Assumed: </a:t>
            </a:r>
            <a:r>
              <a:rPr b="0" i="0" lang="en" sz="1500" u="none" cap="none" strike="noStrike">
                <a:solidFill>
                  <a:srgbClr val="000000"/>
                </a:solidFill>
                <a:latin typeface="Arial"/>
                <a:ea typeface="Arial"/>
                <a:cs typeface="Arial"/>
                <a:sym typeface="Arial"/>
              </a:rPr>
              <a:t>pairing does the work, and is a hidden three-place tie.</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3. Translation, Not Construction: </a:t>
            </a:r>
            <a:r>
              <a:rPr b="0" i="0" lang="en" sz="1500" u="none" cap="none" strike="noStrike">
                <a:solidFill>
                  <a:srgbClr val="000000"/>
                </a:solidFill>
                <a:latin typeface="Arial"/>
                <a:ea typeface="Arial"/>
                <a:cs typeface="Arial"/>
                <a:sym typeface="Arial"/>
              </a:rPr>
              <a:t>same theorems; the triad is never built from pairs.</a:t>
            </a:r>
            <a:endParaRPr sz="1100"/>
          </a:p>
          <a:p>
            <a:pPr indent="0" lvl="0" marL="0" marR="0" rtl="0" algn="l">
              <a:spcBef>
                <a:spcPts val="900"/>
              </a:spcBef>
              <a:spcAft>
                <a:spcPts val="0"/>
              </a:spcAft>
              <a:buNone/>
            </a:pPr>
            <a:r>
              <a:rPr b="1" i="0" lang="en" sz="1500" u="none" cap="none" strike="noStrike">
                <a:solidFill>
                  <a:srgbClr val="000000"/>
                </a:solidFill>
                <a:latin typeface="Arial"/>
                <a:ea typeface="Arial"/>
                <a:cs typeface="Arial"/>
                <a:sym typeface="Arial"/>
              </a:rPr>
              <a:t>WHEN IT FAILS </a:t>
            </a:r>
            <a:r>
              <a:rPr b="0" i="0" lang="en" sz="1500" u="none" cap="none" strike="noStrike">
                <a:solidFill>
                  <a:srgbClr val="000000"/>
                </a:solidFill>
                <a:latin typeface="Arial"/>
                <a:ea typeface="Arial"/>
                <a:cs typeface="Arial"/>
                <a:sym typeface="Arial"/>
              </a:rPr>
              <a:t>(Burch 1991; Hereth &amp; Pöschel 2006)</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Fixed Domain: </a:t>
            </a:r>
            <a:r>
              <a:rPr b="0" i="0" lang="en" sz="1500" u="none" cap="none" strike="noStrike">
                <a:solidFill>
                  <a:srgbClr val="000000"/>
                </a:solidFill>
                <a:latin typeface="Arial"/>
                <a:ea typeface="Arial"/>
                <a:cs typeface="Arial"/>
                <a:sym typeface="Arial"/>
              </a:rPr>
              <a:t>no new objects allowed.</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Joins and Projections Only: </a:t>
            </a:r>
            <a:r>
              <a:rPr b="0" i="0" lang="en" sz="1500" u="none" cap="none" strike="noStrike">
                <a:solidFill>
                  <a:srgbClr val="000000"/>
                </a:solidFill>
                <a:latin typeface="Arial"/>
                <a:ea typeface="Arial"/>
                <a:cs typeface="Arial"/>
                <a:sym typeface="Arial"/>
              </a:rPr>
              <a:t>teridentity is not generated.</a:t>
            </a:r>
            <a:endParaRPr sz="1100"/>
          </a:p>
          <a:p>
            <a:pPr indent="0" lvl="0" marL="0" marR="0" rtl="0" algn="l">
              <a:spcBef>
                <a:spcPts val="900"/>
              </a:spcBef>
              <a:spcAft>
                <a:spcPts val="0"/>
              </a:spcAft>
              <a:buNone/>
            </a:pPr>
            <a:r>
              <a:rPr b="1" i="0" lang="en" sz="1500" u="none" cap="none" strike="noStrike">
                <a:solidFill>
                  <a:srgbClr val="000000"/>
                </a:solidFill>
                <a:latin typeface="Arial"/>
                <a:ea typeface="Arial"/>
                <a:cs typeface="Arial"/>
                <a:sym typeface="Arial"/>
              </a:rPr>
              <a:t>A limited case: first-order theories over an expandable, pair-closed universe.</a:t>
            </a:r>
            <a:endParaRPr sz="1100"/>
          </a:p>
        </p:txBody>
      </p:sp>
      <p:sp>
        <p:nvSpPr>
          <p:cNvPr id="1009" name="Google Shape;1009;g2"/>
          <p:cNvSpPr txBox="1"/>
          <p:nvPr/>
        </p:nvSpPr>
        <p:spPr>
          <a:xfrm>
            <a:off x="617220" y="4526280"/>
            <a:ext cx="790956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000000"/>
                </a:solidFill>
                <a:latin typeface="Arial"/>
                <a:ea typeface="Arial"/>
                <a:cs typeface="Arial"/>
                <a:sym typeface="Arial"/>
              </a:rPr>
              <a:t>John &amp; Sally: </a:t>
            </a:r>
            <a:r>
              <a:rPr b="0" i="0" lang="en" sz="1200" u="none" cap="none" strike="noStrike">
                <a:solidFill>
                  <a:srgbClr val="000000"/>
                </a:solidFill>
                <a:latin typeface="Arial"/>
                <a:ea typeface="Arial"/>
                <a:cs typeface="Arial"/>
                <a:sym typeface="Arial"/>
              </a:rPr>
              <a:t>Quine needs the pair ⟨ball, Sally⟩ to exist; in the room there are only John, the ball, and Sally.</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32"/>
          <p:cNvSpPr txBox="1"/>
          <p:nvPr/>
        </p:nvSpPr>
        <p:spPr>
          <a:xfrm>
            <a:off x="617236" y="377190"/>
            <a:ext cx="7909542"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OTHER SIDE</a:t>
            </a:r>
            <a:endParaRPr sz="1100"/>
          </a:p>
        </p:txBody>
      </p:sp>
      <p:sp>
        <p:nvSpPr>
          <p:cNvPr id="186" name="Google Shape;186;p32"/>
          <p:cNvSpPr txBox="1"/>
          <p:nvPr/>
        </p:nvSpPr>
        <p:spPr>
          <a:xfrm>
            <a:off x="617236" y="617220"/>
            <a:ext cx="7909542"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Why Quartets Reduce to Triads</a:t>
            </a:r>
            <a:endParaRPr sz="1100"/>
          </a:p>
        </p:txBody>
      </p:sp>
      <p:sp>
        <p:nvSpPr>
          <p:cNvPr id="188" name="Google Shape;188;p32"/>
          <p:cNvSpPr txBox="1"/>
          <p:nvPr/>
        </p:nvSpPr>
        <p:spPr>
          <a:xfrm>
            <a:off x="617236" y="1508760"/>
            <a:ext cx="2331782"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200" u="none" cap="none" strike="noStrike">
                <a:solidFill>
                  <a:srgbClr val="000000"/>
                </a:solidFill>
                <a:latin typeface="Arial"/>
                <a:ea typeface="Arial"/>
                <a:cs typeface="Arial"/>
                <a:sym typeface="Arial"/>
              </a:rPr>
              <a:t>Bonding Rule</a:t>
            </a:r>
            <a:endParaRPr sz="1100"/>
          </a:p>
          <a:p>
            <a:pPr indent="0" lvl="0" marL="0" marR="0" rtl="0" algn="l">
              <a:spcBef>
                <a:spcPts val="300"/>
              </a:spcBef>
              <a:spcAft>
                <a:spcPts val="0"/>
              </a:spcAft>
              <a:buNone/>
            </a:pPr>
            <a:r>
              <a:rPr b="1" i="0" lang="en" sz="2800" u="none" cap="none" strike="noStrike">
                <a:solidFill>
                  <a:srgbClr val="000000"/>
                </a:solidFill>
                <a:latin typeface="Arial"/>
                <a:ea typeface="Arial"/>
                <a:cs typeface="Arial"/>
                <a:sym typeface="Arial"/>
              </a:rPr>
              <a:t>3 + 3 − 2 = 4</a:t>
            </a:r>
            <a:endParaRPr sz="1100"/>
          </a:p>
          <a:p>
            <a:pPr indent="0" lvl="0" marL="0" marR="0" rtl="0" algn="l">
              <a:spcBef>
                <a:spcPts val="300"/>
              </a:spcBef>
              <a:spcAft>
                <a:spcPts val="0"/>
              </a:spcAft>
              <a:buNone/>
            </a:pPr>
            <a:r>
              <a:rPr b="0" i="0" lang="en" sz="1200" u="none" cap="none" strike="noStrike">
                <a:solidFill>
                  <a:srgbClr val="000000"/>
                </a:solidFill>
                <a:latin typeface="Arial"/>
                <a:ea typeface="Arial"/>
                <a:cs typeface="Arial"/>
                <a:sym typeface="Arial"/>
              </a:rPr>
              <a:t>Two triads joined at one bond leave four free ends.</a:t>
            </a:r>
            <a:endParaRPr sz="1100"/>
          </a:p>
        </p:txBody>
      </p:sp>
      <p:sp>
        <p:nvSpPr>
          <p:cNvPr id="189" name="Google Shape;189;p32"/>
          <p:cNvSpPr txBox="1"/>
          <p:nvPr/>
        </p:nvSpPr>
        <p:spPr>
          <a:xfrm>
            <a:off x="3291928" y="1508760"/>
            <a:ext cx="5234851"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Two Triads, One Hidden Middle</a:t>
            </a:r>
            <a:endParaRPr sz="1100"/>
          </a:p>
          <a:p>
            <a:pPr indent="0" lvl="0" marL="0" marR="0" rtl="0" algn="l">
              <a:spcBef>
                <a:spcPts val="300"/>
              </a:spcBef>
              <a:spcAft>
                <a:spcPts val="0"/>
              </a:spcAft>
              <a:buNone/>
            </a:pPr>
            <a:r>
              <a:rPr b="0" i="0" lang="en" sz="1500" u="none" cap="none" strike="noStrike">
                <a:solidFill>
                  <a:srgbClr val="000000"/>
                </a:solidFill>
                <a:latin typeface="Cambria Math"/>
                <a:ea typeface="Cambria Math"/>
                <a:cs typeface="Cambria Math"/>
                <a:sym typeface="Cambria Math"/>
              </a:rPr>
              <a:t>R(a, b, c, d) = ∃x [T₁(a, b, x) ∧ T₂(x, c, d)]</a:t>
            </a:r>
            <a:endParaRPr sz="1100"/>
          </a:p>
          <a:p>
            <a:pPr indent="0" lvl="0" marL="0" marR="0" rtl="0" algn="l">
              <a:spcBef>
                <a:spcPts val="600"/>
              </a:spcBef>
              <a:spcAft>
                <a:spcPts val="0"/>
              </a:spcAft>
              <a:buNone/>
            </a:pPr>
            <a:r>
              <a:rPr b="1" i="0" lang="en" sz="1500" u="none" cap="none" strike="noStrike">
                <a:solidFill>
                  <a:srgbClr val="000000"/>
                </a:solidFill>
                <a:latin typeface="Arial"/>
                <a:ea typeface="Arial"/>
                <a:cs typeface="Arial"/>
                <a:sym typeface="Arial"/>
              </a:rPr>
              <a:t>Branching Is Enough</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The triad is the smallest piece that branches, so nothing new is needed above three.</a:t>
            </a:r>
            <a:endParaRPr sz="1100"/>
          </a:p>
          <a:p>
            <a:pPr indent="0" lvl="0" marL="0" marR="0" rtl="0" algn="l">
              <a:spcBef>
                <a:spcPts val="600"/>
              </a:spcBef>
              <a:spcAft>
                <a:spcPts val="0"/>
              </a:spcAft>
              <a:buNone/>
            </a:pPr>
            <a:r>
              <a:rPr b="1" i="0" lang="en" sz="1500" u="none" cap="none" strike="noStrike">
                <a:solidFill>
                  <a:srgbClr val="000000"/>
                </a:solidFill>
                <a:latin typeface="Arial"/>
                <a:ea typeface="Arial"/>
                <a:cs typeface="Arial"/>
                <a:sym typeface="Arial"/>
              </a:rPr>
              <a:t>John &amp; Sally</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'John sells Sally the ball for a dollar' is two gives, ball to Sally and dollar to John, tied at the sale.</a:t>
            </a:r>
            <a:endParaRPr sz="1100"/>
          </a:p>
        </p:txBody>
      </p:sp>
      <p:sp>
        <p:nvSpPr>
          <p:cNvPr id="1010" name="Google Shape;1010;g4 caveat"/>
          <p:cNvSpPr txBox="1"/>
          <p:nvPr/>
        </p:nvSpPr>
        <p:spPr>
          <a:xfrm>
            <a:off x="617220" y="3977639"/>
            <a:ext cx="7909560" cy="777240"/>
          </a:xfrm>
          <a:prstGeom prst="rect">
            <a:avLst/>
          </a:prstGeom>
          <a:solidFill>
            <a:srgbClr val="F1F1F1"/>
          </a:solidFill>
          <a:ln>
            <a:noFill/>
          </a:ln>
        </p:spPr>
        <p:txBody>
          <a:bodyPr anchorCtr="0" anchor="t" bIns="91440" lIns="137160" spcFirstLastPara="1" rIns="137160" wrap="square" tIns="91440">
            <a:spAutoFit/>
          </a:bodyPr>
          <a:lstStyle/>
          <a:p>
            <a:pPr indent="0" lvl="0" marL="0" marR="0" rtl="0" algn="l">
              <a:spcBef>
                <a:spcPts val="0"/>
              </a:spcBef>
              <a:spcAft>
                <a:spcPts val="0"/>
              </a:spcAft>
              <a:buNone/>
            </a:pPr>
            <a:r>
              <a:rPr b="1" i="0" lang="en" sz="1100" u="none" cap="none" strike="noStrike">
                <a:solidFill>
                  <a:srgbClr val="000000"/>
                </a:solidFill>
                <a:latin typeface="Arial"/>
                <a:ea typeface="Arial"/>
                <a:cs typeface="Arial"/>
                <a:sym typeface="Arial"/>
              </a:rPr>
              <a:t>OPEN QUESTION</a:t>
            </a:r>
            <a:endParaRPr sz="1100"/>
          </a:p>
          <a:p>
            <a:pPr indent="0" lvl="0" marL="0" marR="0" rtl="0" algn="l">
              <a:spcBef>
                <a:spcPts val="300"/>
              </a:spcBef>
              <a:spcAft>
                <a:spcPts val="0"/>
              </a:spcAft>
              <a:buNone/>
            </a:pPr>
            <a:r>
              <a:rPr b="0" i="0" lang="en" sz="1200" u="none" cap="none" strike="noStrike">
                <a:solidFill>
                  <a:srgbClr val="000000"/>
                </a:solidFill>
                <a:latin typeface="Arial"/>
                <a:ea typeface="Arial"/>
                <a:cs typeface="Arial"/>
                <a:sym typeface="Arial"/>
              </a:rPr>
              <a:t>Logically, n ≥ 4 reduces to triads. Causally and informationally it is open: four-way parity carries synergy that no set of three-way pieces holds, and the lab's cliques of four and five read Φ = 12 and 20.</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